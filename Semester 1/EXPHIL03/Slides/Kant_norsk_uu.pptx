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739" r:id="rId1"/>
  </p:sldMasterIdLst>
  <p:notesMasterIdLst>
    <p:notesMasterId r:id="rId18"/>
  </p:notesMasterIdLst>
  <p:handoutMasterIdLst>
    <p:handoutMasterId r:id="rId19"/>
  </p:handoutMasterIdLst>
  <p:sldIdLst>
    <p:sldId id="338" r:id="rId2"/>
    <p:sldId id="339" r:id="rId3"/>
    <p:sldId id="327" r:id="rId4"/>
    <p:sldId id="328" r:id="rId5"/>
    <p:sldId id="313" r:id="rId6"/>
    <p:sldId id="337" r:id="rId7"/>
    <p:sldId id="330" r:id="rId8"/>
    <p:sldId id="331" r:id="rId9"/>
    <p:sldId id="312" r:id="rId10"/>
    <p:sldId id="305" r:id="rId11"/>
    <p:sldId id="333" r:id="rId12"/>
    <p:sldId id="267" r:id="rId13"/>
    <p:sldId id="271" r:id="rId14"/>
    <p:sldId id="273" r:id="rId15"/>
    <p:sldId id="335" r:id="rId16"/>
    <p:sldId id="336" r:id="rId17"/>
  </p:sldIdLst>
  <p:sldSz cx="12192000" cy="6858000"/>
  <p:notesSz cx="6794500" cy="99314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43244"/>
    <a:srgbClr val="4C678B"/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34608" autoAdjust="0"/>
    <p:restoredTop sz="86420" autoAdjust="0"/>
  </p:normalViewPr>
  <p:slideViewPr>
    <p:cSldViewPr>
      <p:cViewPr varScale="1">
        <p:scale>
          <a:sx n="80" d="100"/>
          <a:sy n="80" d="100"/>
        </p:scale>
        <p:origin x="96" y="810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-10026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33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45024" cy="49657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4233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47890" y="0"/>
            <a:ext cx="2945024" cy="49657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4234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433234"/>
            <a:ext cx="2945024" cy="49657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4234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47890" y="9433234"/>
            <a:ext cx="2945024" cy="49657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DC9896D9-8050-44D7-A40D-6920AE2D1A2E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1756108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45024" cy="49657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505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47890" y="0"/>
            <a:ext cx="2945024" cy="49657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741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0488" y="746125"/>
            <a:ext cx="6615112" cy="3722688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506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79133" y="4718214"/>
            <a:ext cx="5436235" cy="44691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</a:p>
        </p:txBody>
      </p:sp>
      <p:sp>
        <p:nvSpPr>
          <p:cNvPr id="4506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433234"/>
            <a:ext cx="2945024" cy="49657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506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47890" y="9433234"/>
            <a:ext cx="2945024" cy="49657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093A95D4-52CF-4036-984D-AF42B1BE1AF3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36790552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NO" dirty="0"/>
              <a:t>å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93A95D4-52CF-4036-984D-AF42B1BE1AF3}" type="slidenum">
              <a:rPr lang="en-GB" smtClean="0"/>
              <a:pPr>
                <a:defRPr/>
              </a:pPr>
              <a:t>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5090478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Med talking hea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6597229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6597229" cy="861420"/>
          </a:xfrm>
        </p:spPr>
        <p:txBody>
          <a:bodyPr anchor="t"/>
          <a:lstStyle>
            <a:lvl1pPr marL="0" indent="0" algn="l">
              <a:buNone/>
              <a:defRPr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 dirty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10/1/2024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913985" y="5985181"/>
            <a:ext cx="838199" cy="767687"/>
          </a:xfrm>
        </p:spPr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121177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Uten talking hea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6111" y="673186"/>
            <a:ext cx="9410285" cy="1243646"/>
          </a:xfrm>
        </p:spPr>
        <p:txBody>
          <a:bodyPr/>
          <a:lstStyle/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03312" y="2052918"/>
            <a:ext cx="8953085" cy="4195481"/>
          </a:xfrm>
        </p:spPr>
        <p:txBody>
          <a:bodyPr/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10/1/2024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452420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10/1/2024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534215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45DE52-C7FB-FF4E-A2AB-F7F160C3DD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E22F326-669A-CB4D-B9CC-63E81F35F076}"/>
              </a:ext>
            </a:extLst>
          </p:cNvPr>
          <p:cNvSpPr>
            <a:spLocks noGrp="1"/>
          </p:cNvSpPr>
          <p:nvPr>
            <p:ph type="body"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8E21147-CC2F-2743-8E9A-C0802BA5D2DF}"/>
              </a:ext>
            </a:extLst>
          </p:cNvPr>
          <p:cNvSpPr>
            <a:spLocks noGrp="1"/>
          </p:cNvSpPr>
          <p:nvPr>
            <p:ph sz="quarter" idx="2"/>
          </p:nvPr>
        </p:nvSpPr>
        <p:spPr>
          <a:xfrm>
            <a:off x="6197600" y="1600200"/>
            <a:ext cx="5384800" cy="21859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41BFF0AF-A233-D747-A06F-D747923058B8}"/>
              </a:ext>
            </a:extLst>
          </p:cNvPr>
          <p:cNvSpPr>
            <a:spLocks noGrp="1"/>
          </p:cNvSpPr>
          <p:nvPr>
            <p:ph sz="quarter" idx="3"/>
          </p:nvPr>
        </p:nvSpPr>
        <p:spPr>
          <a:xfrm>
            <a:off x="6197600" y="3938589"/>
            <a:ext cx="5384800" cy="218757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5EB47AFF-9112-1B44-9B4A-1D71E5B20C3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0E0367C1-F841-1746-B8BD-9861C5C7C899}" type="datetimeFigureOut">
              <a:rPr lang="en-US"/>
              <a:pPr>
                <a:defRPr/>
              </a:pPr>
              <a:t>10/1/2024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4C334B6B-ECBE-0F48-9281-EFBFB69DED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B9C03073-8761-9847-929A-185B1D3BB1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</p:spPr>
        <p:txBody>
          <a:bodyPr/>
          <a:lstStyle>
            <a:lvl1pPr>
              <a:defRPr/>
            </a:lvl1pPr>
          </a:lstStyle>
          <a:p>
            <a:fld id="{B14BB9F5-C0A6-4C4A-A92D-A35DB205C7FD}" type="slidenum">
              <a:rPr lang="en-US" altLang="nb-NO"/>
              <a:pPr/>
              <a:t>‹#›</a:t>
            </a:fld>
            <a:endParaRPr lang="en-US" altLang="nb-NO"/>
          </a:p>
        </p:txBody>
      </p:sp>
    </p:spTree>
    <p:extLst>
      <p:ext uri="{BB962C8B-B14F-4D97-AF65-F5344CB8AC3E}">
        <p14:creationId xmlns:p14="http://schemas.microsoft.com/office/powerpoint/2010/main" val="16022960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3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theme" Target="../theme/theme1.xml"/><Relationship Id="rId10" Type="http://schemas.openxmlformats.org/officeDocument/2006/relationships/image" Target="../media/image6.emf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bg1">
                <a:lumMod val="85000"/>
                <a:lumOff val="15000"/>
              </a:schemeClr>
            </a:gs>
            <a:gs pos="99000">
              <a:srgbClr val="243244"/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668412"/>
            <a:ext cx="9404723" cy="1184835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067162" y="6448069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pPr>
              <a:defRPr/>
            </a:pPr>
            <a:endParaRPr lang="en-US" sz="1100" dirty="0">
              <a:solidFill>
                <a:schemeClr val="tx1">
                  <a:lumMod val="75000"/>
                </a:scheme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03312" y="64388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GB" dirty="0">
              <a:latin typeface="+mj-lt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9218199" y="5961676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3C040C8-6429-7646-927E-CC7F2066F152}" type="slidenum">
              <a:rPr lang="en-GB" smtClean="0"/>
              <a:t>‹#›</a:t>
            </a:fld>
            <a:endParaRPr lang="en-GB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07F08E80-5C34-AF4F-8321-C38D28B83B49}"/>
              </a:ext>
            </a:extLst>
          </p:cNvPr>
          <p:cNvPicPr>
            <a:picLocks noChangeAspect="1"/>
          </p:cNvPicPr>
          <p:nvPr userDrawn="1"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0344" y="71385"/>
            <a:ext cx="6765430" cy="5382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791057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40" r:id="rId1"/>
    <p:sldLayoutId id="2147483741" r:id="rId2"/>
    <p:sldLayoutId id="2147483743" r:id="rId3"/>
    <p:sldLayoutId id="2147483744" r:id="rId4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100000"/>
        <a:buFont typeface="Arial"/>
        <a:buChar char="•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100000"/>
        <a:buFont typeface="Arial"/>
        <a:buChar char="•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100000"/>
        <a:buFont typeface="Arial"/>
        <a:buChar char="•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100000"/>
        <a:buFont typeface="Arial"/>
        <a:buChar char="•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100000"/>
        <a:buFont typeface="Arial"/>
        <a:buChar char="•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EFB530-2E98-2071-D2FA-92A79BAE4B1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54955" y="692697"/>
            <a:ext cx="10557669" cy="1872207"/>
          </a:xfrm>
        </p:spPr>
        <p:txBody>
          <a:bodyPr/>
          <a:lstStyle/>
          <a:p>
            <a:r>
              <a:rPr lang="en-NO" sz="6000" dirty="0"/>
              <a:t>Etiske spørsmål </a:t>
            </a:r>
            <a:br>
              <a:rPr lang="en-NO" sz="6000" dirty="0"/>
            </a:br>
            <a:r>
              <a:rPr lang="en-NO" sz="6000" dirty="0"/>
              <a:t>Moralske spørsmål</a:t>
            </a:r>
            <a:endParaRPr lang="nb-NO" sz="60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8924F64-1E10-18F4-ED89-46F20D415FE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54955" y="2708920"/>
            <a:ext cx="9261525" cy="3744416"/>
          </a:xfrm>
        </p:spPr>
        <p:txBody>
          <a:bodyPr/>
          <a:lstStyle/>
          <a:p>
            <a:pPr marL="0" indent="0">
              <a:buNone/>
            </a:pPr>
            <a:r>
              <a:rPr lang="nb-NO" dirty="0"/>
              <a:t>Er de forskjellige?</a:t>
            </a:r>
          </a:p>
          <a:p>
            <a:pPr marL="0" indent="0">
              <a:buNone/>
            </a:pPr>
            <a:endParaRPr lang="nb-NO" dirty="0"/>
          </a:p>
          <a:p>
            <a:pPr marL="0" indent="0">
              <a:buNone/>
            </a:pPr>
            <a:r>
              <a:rPr lang="nb-NO" dirty="0"/>
              <a:t>“Etisk” fra det greske </a:t>
            </a:r>
            <a:r>
              <a:rPr lang="nb-NO" i="1" dirty="0" err="1">
                <a:effectLst/>
              </a:rPr>
              <a:t>Ἦθος</a:t>
            </a:r>
            <a:r>
              <a:rPr lang="nb-NO" i="0" dirty="0">
                <a:effectLst/>
              </a:rPr>
              <a:t> (</a:t>
            </a:r>
            <a:r>
              <a:rPr lang="nb-NO" i="1" dirty="0" err="1">
                <a:effectLst/>
              </a:rPr>
              <a:t>ethos</a:t>
            </a:r>
            <a:r>
              <a:rPr lang="nb-NO" i="0" dirty="0">
                <a:effectLst/>
              </a:rPr>
              <a:t>), som betyr vane eller skikk</a:t>
            </a:r>
          </a:p>
          <a:p>
            <a:pPr marL="0" indent="0">
              <a:buNone/>
            </a:pPr>
            <a:endParaRPr lang="nb-NO" dirty="0"/>
          </a:p>
          <a:p>
            <a:pPr marL="0" indent="0">
              <a:buNone/>
            </a:pPr>
            <a:r>
              <a:rPr lang="nb-NO" dirty="0"/>
              <a:t>M</a:t>
            </a:r>
            <a:r>
              <a:rPr lang="nb-NO" i="0" dirty="0">
                <a:effectLst/>
              </a:rPr>
              <a:t>oral</a:t>
            </a:r>
            <a:r>
              <a:rPr lang="nb-NO" dirty="0"/>
              <a:t> fra det Latinske </a:t>
            </a:r>
            <a:r>
              <a:rPr lang="nb-NO" i="1" dirty="0"/>
              <a:t>mos, flertall Mores, </a:t>
            </a:r>
            <a:r>
              <a:rPr lang="nb-NO" i="0" dirty="0">
                <a:effectLst/>
              </a:rPr>
              <a:t>som betyr igjen vane eller skikk</a:t>
            </a:r>
            <a:endParaRPr lang="nb-NO" dirty="0"/>
          </a:p>
          <a:p>
            <a:pPr marL="0" indent="0" algn="ctr">
              <a:buNone/>
            </a:pPr>
            <a:r>
              <a:rPr lang="nb-NO" i="1" dirty="0"/>
              <a:t>mos </a:t>
            </a:r>
            <a:r>
              <a:rPr lang="nb-NO" i="1" dirty="0" err="1"/>
              <a:t>maiorum</a:t>
            </a:r>
            <a:r>
              <a:rPr lang="nb-NO" i="1" dirty="0"/>
              <a:t> = </a:t>
            </a:r>
            <a:r>
              <a:rPr lang="nb-NO" dirty="0"/>
              <a:t>forgjengernes skikk</a:t>
            </a:r>
            <a:endParaRPr lang="nb-NO" i="1" dirty="0">
              <a:effectLst/>
            </a:endParaRPr>
          </a:p>
          <a:p>
            <a:endParaRPr lang="nb-NO" dirty="0"/>
          </a:p>
        </p:txBody>
      </p:sp>
    </p:spTree>
    <p:extLst>
      <p:ext uri="{BB962C8B-B14F-4D97-AF65-F5344CB8AC3E}">
        <p14:creationId xmlns:p14="http://schemas.microsoft.com/office/powerpoint/2010/main" val="27283874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3EA6D6-8903-46C7-F662-E387B3491A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NO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Tre måter å reise Etiske Spørsmål på</a:t>
            </a:r>
            <a:endParaRPr lang="nb-NO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25CB4A-55EE-03E7-244F-300083CBED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5360" y="1412776"/>
            <a:ext cx="10873208" cy="5040560"/>
          </a:xfrm>
        </p:spPr>
        <p:txBody>
          <a:bodyPr>
            <a:normAutofit fontScale="85000" lnSpcReduction="20000"/>
          </a:bodyPr>
          <a:lstStyle/>
          <a:p>
            <a:r>
              <a:rPr lang="en-NO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Metaetiske Spørsmål</a:t>
            </a:r>
          </a:p>
          <a:p>
            <a:pPr lvl="1"/>
            <a:r>
              <a:rPr lang="nb-NO" sz="2000" dirty="0"/>
              <a:t>Er moralske påstander slik som «vennskap er noe godt» sanne eller usanne?</a:t>
            </a:r>
          </a:p>
          <a:p>
            <a:r>
              <a:rPr lang="nb-NO" sz="1400" dirty="0"/>
              <a:t>	</a:t>
            </a:r>
            <a:r>
              <a:rPr lang="nb-NO" sz="1800" i="1" dirty="0"/>
              <a:t>Kognitivisme</a:t>
            </a:r>
            <a:r>
              <a:rPr lang="nb-NO" sz="1800" dirty="0"/>
              <a:t>: moralske påstander kan være sanne eller usanne</a:t>
            </a:r>
          </a:p>
          <a:p>
            <a:r>
              <a:rPr lang="nb-NO" sz="1800" dirty="0"/>
              <a:t>	Subjektivisme: moralske påstander er ikke sanne eller usanne: de er subjektive, avhengige av subjektive 	verdier eller holdninger</a:t>
            </a:r>
          </a:p>
          <a:p>
            <a:r>
              <a:rPr lang="nb-NO" sz="1800" dirty="0"/>
              <a:t>	Objektivisme: moralske sannheter er objektive, baserer seg på objektive verdier og 					holdninger</a:t>
            </a:r>
            <a:endParaRPr lang="nb-NO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NO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NO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Normative Spørsmål</a:t>
            </a:r>
          </a:p>
          <a:p>
            <a:pPr lvl="1"/>
            <a:r>
              <a:rPr lang="nb-NO" sz="1800" dirty="0"/>
              <a:t>Hva gjør moralske påstander sanne eller </a:t>
            </a:r>
            <a:r>
              <a:rPr lang="nb-NO" dirty="0"/>
              <a:t>usanne? </a:t>
            </a:r>
            <a:r>
              <a:rPr lang="nb-NO" sz="1800" dirty="0"/>
              <a:t>Tre måte å angripe spørsmåle</a:t>
            </a:r>
            <a:r>
              <a:rPr lang="nb-NO" dirty="0"/>
              <a:t>t på:</a:t>
            </a:r>
            <a:endParaRPr lang="nb-NO" sz="1800" dirty="0"/>
          </a:p>
          <a:p>
            <a:pPr lvl="2"/>
            <a:r>
              <a:rPr lang="nb-NO" sz="1800" dirty="0" err="1"/>
              <a:t>Deontologi</a:t>
            </a:r>
            <a:endParaRPr lang="nb-NO" sz="1800" dirty="0"/>
          </a:p>
          <a:p>
            <a:pPr lvl="2"/>
            <a:r>
              <a:rPr lang="nb-NO" sz="1800" dirty="0"/>
              <a:t>Utilitarisme</a:t>
            </a:r>
          </a:p>
          <a:p>
            <a:pPr lvl="2"/>
            <a:r>
              <a:rPr lang="nb-NO" sz="1800" dirty="0"/>
              <a:t>Dyds Etikk</a:t>
            </a:r>
            <a:endParaRPr lang="en-NO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NO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NO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Anvendt Etiske Spørsmål</a:t>
            </a:r>
          </a:p>
          <a:p>
            <a:pPr lvl="2"/>
            <a:r>
              <a:rPr lang="nb-NO" sz="1800" dirty="0"/>
              <a:t>Forsøk på å svare vanskelige konkrete spørsmål mennesker kommer bort i deres liv</a:t>
            </a:r>
          </a:p>
          <a:p>
            <a:pPr lvl="2"/>
            <a:endParaRPr lang="en-NO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nb-NO" dirty="0"/>
          </a:p>
        </p:txBody>
      </p:sp>
    </p:spTree>
    <p:extLst>
      <p:ext uri="{BB962C8B-B14F-4D97-AF65-F5344CB8AC3E}">
        <p14:creationId xmlns:p14="http://schemas.microsoft.com/office/powerpoint/2010/main" val="25429187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 txBox="1">
            <a:spLocks noChangeArrowheads="1"/>
          </p:cNvSpPr>
          <p:nvPr/>
        </p:nvSpPr>
        <p:spPr>
          <a:xfrm>
            <a:off x="709200" y="2547774"/>
            <a:ext cx="5386800" cy="403489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20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506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pPr marL="388620" indent="-457200">
              <a:buClr>
                <a:schemeClr val="accent5"/>
              </a:buClr>
              <a:buFont typeface="Arial"/>
              <a:buChar char="•"/>
              <a:defRPr/>
            </a:pPr>
            <a:r>
              <a:rPr lang="en-US" sz="3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</a:t>
            </a:r>
            <a:r>
              <a:rPr lang="en-US" sz="3000" u="sng" dirty="0" err="1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Dydsetikk</a:t>
            </a:r>
            <a:endParaRPr lang="en-US" sz="3000" u="sng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822960" lvl="1" indent="-457200">
              <a:buClr>
                <a:schemeClr val="accent5"/>
              </a:buClr>
              <a:buFont typeface="Arial"/>
              <a:buChar char="•"/>
              <a:defRPr/>
            </a:pPr>
            <a:r>
              <a:rPr lang="en-US" sz="3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</a:t>
            </a:r>
            <a:r>
              <a:rPr lang="en-US" sz="3000" dirty="0" err="1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Karakter</a:t>
            </a:r>
            <a:endParaRPr lang="en-US" sz="3000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822960" lvl="1" indent="-457200">
              <a:buClr>
                <a:schemeClr val="accent5"/>
              </a:buClr>
              <a:buFont typeface="Arial"/>
              <a:buChar char="•"/>
              <a:defRPr/>
            </a:pPr>
            <a:r>
              <a:rPr lang="en-US" sz="3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</a:t>
            </a:r>
            <a:r>
              <a:rPr lang="en-US" sz="3000" dirty="0" err="1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Dyder</a:t>
            </a:r>
            <a:r>
              <a:rPr lang="en-US" sz="3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US" sz="3000" dirty="0" err="1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og</a:t>
            </a:r>
            <a:r>
              <a:rPr lang="en-US" sz="3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US" sz="3000" dirty="0" err="1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laster</a:t>
            </a:r>
            <a:endParaRPr lang="en-US" sz="3000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822960" lvl="1" indent="-457200">
              <a:buClr>
                <a:schemeClr val="accent5"/>
              </a:buClr>
              <a:buFont typeface="Arial"/>
              <a:buChar char="•"/>
              <a:defRPr/>
            </a:pPr>
            <a:r>
              <a:rPr lang="en-US" sz="3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Det </a:t>
            </a:r>
            <a:r>
              <a:rPr lang="en-US" sz="3000" dirty="0" err="1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gode</a:t>
            </a:r>
            <a:r>
              <a:rPr lang="en-US" sz="3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US" sz="3000" dirty="0" err="1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menneske</a:t>
            </a:r>
            <a:r>
              <a:rPr lang="en-US" sz="3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  </a:t>
            </a:r>
            <a:r>
              <a:rPr lang="en-US" sz="3000" dirty="0" err="1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og</a:t>
            </a:r>
            <a:r>
              <a:rPr lang="en-US" sz="3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et </a:t>
            </a:r>
            <a:r>
              <a:rPr lang="en-US" sz="3000" dirty="0" err="1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lykkelig</a:t>
            </a:r>
            <a:r>
              <a:rPr lang="en-US" sz="3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liv</a:t>
            </a:r>
          </a:p>
          <a:p>
            <a:pPr marL="822960" lvl="1" indent="-457200">
              <a:buClr>
                <a:schemeClr val="accent5"/>
              </a:buClr>
              <a:buFont typeface="Arial"/>
              <a:buChar char="•"/>
              <a:defRPr/>
            </a:pPr>
            <a:endParaRPr lang="en-US" sz="3000" dirty="0">
              <a:ea typeface="+mn-ea"/>
            </a:endParaRPr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6744072" y="2386462"/>
            <a:ext cx="5109919" cy="40348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457200" indent="-457200">
              <a:spcBef>
                <a:spcPct val="20000"/>
              </a:spcBef>
              <a:buClr>
                <a:schemeClr val="accent5"/>
              </a:buClr>
              <a:buFont typeface="Arial"/>
              <a:buChar char="•"/>
              <a:defRPr/>
            </a:pPr>
            <a:r>
              <a:rPr lang="en-US" sz="3000" u="sng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Rett handling-</a:t>
            </a:r>
            <a:r>
              <a:rPr lang="en-US" sz="3000" u="sng" dirty="0" err="1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etikk</a:t>
            </a:r>
            <a:endParaRPr lang="en-US" sz="3000" u="sng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14400" lvl="1" indent="-457200">
              <a:spcBef>
                <a:spcPct val="20000"/>
              </a:spcBef>
              <a:buClr>
                <a:schemeClr val="accent5"/>
              </a:buClr>
              <a:buFont typeface="Arial"/>
              <a:buChar char="•"/>
              <a:defRPr/>
            </a:pPr>
            <a:r>
              <a:rPr lang="en-US" sz="3000" dirty="0" err="1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Handlinger</a:t>
            </a:r>
            <a:endParaRPr lang="en-US" sz="3000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14400" lvl="1" indent="-457200">
              <a:spcBef>
                <a:spcPct val="20000"/>
              </a:spcBef>
              <a:buClr>
                <a:schemeClr val="accent5"/>
              </a:buClr>
              <a:buFont typeface="Arial"/>
              <a:buChar char="•"/>
              <a:defRPr/>
            </a:pPr>
            <a:r>
              <a:rPr lang="en-US" sz="3000" dirty="0" err="1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Plikter</a:t>
            </a:r>
            <a:r>
              <a:rPr lang="en-US" sz="30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000" dirty="0" err="1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og</a:t>
            </a:r>
            <a:r>
              <a:rPr lang="en-US" sz="30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000" dirty="0" err="1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påbud</a:t>
            </a:r>
            <a:r>
              <a:rPr lang="en-US" sz="30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914400" lvl="1" indent="-457200">
              <a:spcBef>
                <a:spcPct val="20000"/>
              </a:spcBef>
              <a:buClr>
                <a:schemeClr val="accent5"/>
              </a:buClr>
              <a:buFont typeface="Arial"/>
              <a:buChar char="•"/>
              <a:defRPr/>
            </a:pPr>
            <a:r>
              <a:rPr lang="en-US" sz="30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Det </a:t>
            </a:r>
            <a:r>
              <a:rPr lang="en-US" sz="3000" dirty="0" err="1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rette</a:t>
            </a:r>
            <a:r>
              <a:rPr lang="en-US" sz="30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000" dirty="0" err="1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å</a:t>
            </a:r>
            <a:r>
              <a:rPr lang="en-US" sz="30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000" dirty="0" err="1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gjøre</a:t>
            </a:r>
            <a:endParaRPr lang="en-US" sz="3000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ctr">
              <a:spcBef>
                <a:spcPct val="20000"/>
              </a:spcBef>
              <a:buClr>
                <a:schemeClr val="accent5"/>
              </a:buClr>
              <a:defRPr/>
            </a:pPr>
            <a:endParaRPr lang="en-US" sz="2000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ctr">
              <a:spcBef>
                <a:spcPct val="20000"/>
              </a:spcBef>
              <a:buClr>
                <a:schemeClr val="accent5"/>
              </a:buClr>
              <a:defRPr/>
            </a:pPr>
            <a:r>
              <a:rPr lang="en-US" sz="20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000" dirty="0" err="1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kjennetegner</a:t>
            </a:r>
            <a:r>
              <a:rPr lang="en-US" sz="20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bade </a:t>
            </a:r>
            <a:r>
              <a:rPr lang="en-US" sz="2000" dirty="0" err="1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utilitarisme</a:t>
            </a:r>
            <a:r>
              <a:rPr lang="en-US" sz="20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og</a:t>
            </a:r>
            <a:r>
              <a:rPr lang="en-US" sz="20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deontologi</a:t>
            </a:r>
            <a:r>
              <a:rPr lang="en-US" sz="20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9200" y="1772816"/>
            <a:ext cx="7964406" cy="6309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500" dirty="0" err="1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Utgangspunktet</a:t>
            </a:r>
            <a:r>
              <a:rPr lang="en-US" sz="35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for </a:t>
            </a:r>
            <a:r>
              <a:rPr lang="en-US" sz="3500" dirty="0" err="1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etikk</a:t>
            </a:r>
            <a:r>
              <a:rPr lang="en-US" sz="35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9F20A653-5380-B047-848B-3040099E94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9200" y="764704"/>
            <a:ext cx="10972800" cy="1143000"/>
          </a:xfrm>
        </p:spPr>
        <p:txBody>
          <a:bodyPr/>
          <a:lstStyle/>
          <a:p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Dydsetikk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974205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20A653-5380-B047-848B-3040099E94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9200" y="764704"/>
            <a:ext cx="10972800" cy="1143000"/>
          </a:xfrm>
        </p:spPr>
        <p:txBody>
          <a:bodyPr/>
          <a:lstStyle/>
          <a:p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Dydsetikkens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egenskaper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E83B2E3-663B-784D-AB69-595B688B6344}"/>
              </a:ext>
            </a:extLst>
          </p:cNvPr>
          <p:cNvSpPr>
            <a:spLocks noGrp="1"/>
          </p:cNvSpPr>
          <p:nvPr>
            <p:ph type="body" sz="half" idx="1"/>
          </p:nvPr>
        </p:nvSpPr>
        <p:spPr>
          <a:xfrm>
            <a:off x="711200" y="2071389"/>
            <a:ext cx="10065320" cy="4525963"/>
          </a:xfrm>
        </p:spPr>
        <p:txBody>
          <a:bodyPr>
            <a:normAutofit/>
          </a:bodyPr>
          <a:lstStyle/>
          <a:p>
            <a:pPr marL="880110" lvl="1" indent="-514350">
              <a:buFont typeface="+mj-lt"/>
              <a:buAutoNum type="arabicPeriod"/>
              <a:defRPr/>
            </a:pPr>
            <a:r>
              <a:rPr lang="en-US" sz="3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 et </a:t>
            </a:r>
            <a:r>
              <a:rPr lang="en-US" sz="3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rikt</a:t>
            </a:r>
            <a:r>
              <a:rPr lang="en-US" sz="3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etisk</a:t>
            </a:r>
            <a:r>
              <a:rPr lang="en-US" sz="3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vokabular</a:t>
            </a:r>
            <a:endParaRPr lang="en-US" sz="3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80110" lvl="1" indent="-514350">
              <a:buFont typeface="+mj-lt"/>
              <a:buAutoNum type="arabicPeriod"/>
              <a:defRPr/>
            </a:pPr>
            <a:r>
              <a:rPr lang="en-US" sz="3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Emosjoner</a:t>
            </a:r>
            <a:r>
              <a:rPr lang="en-US" sz="3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har </a:t>
            </a:r>
            <a:r>
              <a:rPr lang="en-US" sz="3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en</a:t>
            </a:r>
            <a:r>
              <a:rPr lang="en-US" sz="3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viktig</a:t>
            </a:r>
            <a:r>
              <a:rPr lang="en-US" sz="3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rolle</a:t>
            </a:r>
            <a:endParaRPr lang="en-US" sz="3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80110" lvl="1" indent="-514350">
              <a:buFont typeface="+mj-lt"/>
              <a:buAutoNum type="arabicPeriod"/>
              <a:defRPr/>
            </a:pPr>
            <a:r>
              <a:rPr lang="en-US" sz="3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Vektlegger</a:t>
            </a:r>
            <a:r>
              <a:rPr lang="en-US" sz="3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moralsk</a:t>
            </a:r>
            <a:r>
              <a:rPr lang="en-US" sz="3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dannelse</a:t>
            </a:r>
            <a:endParaRPr lang="en-US" sz="3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80110" lvl="1" indent="-514350">
              <a:buFont typeface="+mj-lt"/>
              <a:buAutoNum type="arabicPeriod"/>
              <a:defRPr/>
            </a:pPr>
            <a:r>
              <a:rPr lang="en-US" sz="3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Forstår</a:t>
            </a:r>
            <a:r>
              <a:rPr lang="en-US" sz="3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moralsk</a:t>
            </a:r>
            <a:r>
              <a:rPr lang="en-US" sz="3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motivasjon</a:t>
            </a:r>
            <a:endParaRPr lang="en-US" sz="3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80110" lvl="1" indent="-514350">
              <a:buFont typeface="+mj-lt"/>
              <a:buAutoNum type="arabicPeriod"/>
              <a:defRPr/>
            </a:pPr>
            <a:r>
              <a:rPr lang="en-US" sz="3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Kan den </a:t>
            </a:r>
            <a:r>
              <a:rPr lang="en-US" sz="3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lede</a:t>
            </a:r>
            <a:r>
              <a:rPr lang="en-US" sz="3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oss</a:t>
            </a:r>
            <a:r>
              <a:rPr lang="en-US" sz="3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til</a:t>
            </a:r>
            <a:r>
              <a:rPr lang="en-US" sz="3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rett</a:t>
            </a:r>
            <a:r>
              <a:rPr lang="en-US" sz="3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handling?</a:t>
            </a:r>
          </a:p>
          <a:p>
            <a:pPr marL="880110" lvl="1" indent="-514350">
              <a:buFont typeface="+mj-lt"/>
              <a:buAutoNum type="arabicPeriod"/>
              <a:defRPr/>
            </a:pPr>
            <a:endParaRPr lang="en-US" sz="3500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537190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tel 4">
            <a:extLst>
              <a:ext uri="{FF2B5EF4-FFF2-40B4-BE49-F238E27FC236}">
                <a16:creationId xmlns:a16="http://schemas.microsoft.com/office/drawing/2014/main" id="{26764B5F-5E73-7719-9AA8-E414C25E02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-1243646"/>
            <a:ext cx="9410285" cy="1243646"/>
          </a:xfrm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nb-NO" dirty="0"/>
              <a:t>Liste over temaer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0BF52F-3F79-CC4C-9236-B59B502761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7408" y="2052918"/>
            <a:ext cx="10297144" cy="4195481"/>
          </a:xfrm>
        </p:spPr>
        <p:txBody>
          <a:bodyPr>
            <a:norm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nb-NO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Deontologi</a:t>
            </a:r>
            <a:r>
              <a:rPr lang="nb-NO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definert</a:t>
            </a:r>
          </a:p>
          <a:p>
            <a:pPr marL="457200" indent="-457200">
              <a:buFont typeface="+mj-lt"/>
              <a:buAutoNum type="arabicPeriod"/>
            </a:pPr>
            <a:r>
              <a:rPr lang="nb-NO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Kants prosjekt i </a:t>
            </a:r>
            <a:r>
              <a:rPr lang="nb-NO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Grunnlegging</a:t>
            </a:r>
          </a:p>
          <a:p>
            <a:pPr marL="457200" indent="-457200">
              <a:buFont typeface="+mj-lt"/>
              <a:buAutoNum type="arabicPeriod"/>
            </a:pPr>
            <a:r>
              <a:rPr lang="nb-NO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Fornuft, vilje og plikt</a:t>
            </a:r>
          </a:p>
          <a:p>
            <a:pPr marL="457200" indent="-457200">
              <a:buFont typeface="+mj-lt"/>
              <a:buAutoNum type="arabicPeriod"/>
            </a:pPr>
            <a:r>
              <a:rPr lang="nb-NO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Kategorisk imperativ</a:t>
            </a:r>
          </a:p>
          <a:p>
            <a:pPr marL="457200" indent="-457200">
              <a:buFont typeface="+mj-lt"/>
              <a:buAutoNum type="arabicPeriod"/>
            </a:pPr>
            <a:r>
              <a:rPr lang="nb-NO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David </a:t>
            </a:r>
            <a:r>
              <a:rPr lang="nb-NO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Vellemans</a:t>
            </a:r>
            <a:r>
              <a:rPr lang="nb-NO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anvendelse av innsikter fra Kant </a:t>
            </a:r>
          </a:p>
          <a:p>
            <a:pPr marL="0" indent="0">
              <a:buNone/>
            </a:pPr>
            <a:endParaRPr lang="nb-NO" sz="2400" i="1" dirty="0"/>
          </a:p>
          <a:p>
            <a:pPr marL="457200" indent="-457200">
              <a:buFont typeface="+mj-lt"/>
              <a:buAutoNum type="arabicPeriod"/>
            </a:pPr>
            <a:endParaRPr lang="nb-NO" sz="2400" dirty="0"/>
          </a:p>
          <a:p>
            <a:pPr marL="0" indent="0">
              <a:buNone/>
            </a:pPr>
            <a:endParaRPr lang="nb-NO" sz="2400" dirty="0"/>
          </a:p>
        </p:txBody>
      </p:sp>
    </p:spTree>
    <p:extLst>
      <p:ext uri="{BB962C8B-B14F-4D97-AF65-F5344CB8AC3E}">
        <p14:creationId xmlns:p14="http://schemas.microsoft.com/office/powerpoint/2010/main" val="30775843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AB128C-0432-BEC1-485C-652821AD29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NO" dirty="0">
                <a:latin typeface="Times New Roman" panose="02020603050405020304" pitchFamily="18" charset="0"/>
                <a:cs typeface="Times New Roman" panose="02020603050405020304" pitchFamily="18" charset="0"/>
              </a:rPr>
              <a:t>Kant’s prosjekt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0815BC-1D08-E84F-EFE3-4539EA3ADF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NO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Empirisk Anthropologi</a:t>
            </a:r>
          </a:p>
          <a:p>
            <a:pPr marL="0" indent="0">
              <a:buNone/>
            </a:pPr>
            <a:endParaRPr lang="en-NO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NO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vs</a:t>
            </a:r>
          </a:p>
          <a:p>
            <a:endParaRPr lang="en-NO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NO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Ekte Moralfilosofi    -   Moralsk Lov</a:t>
            </a:r>
          </a:p>
        </p:txBody>
      </p:sp>
    </p:spTree>
    <p:extLst>
      <p:ext uri="{BB962C8B-B14F-4D97-AF65-F5344CB8AC3E}">
        <p14:creationId xmlns:p14="http://schemas.microsoft.com/office/powerpoint/2010/main" val="611097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8375ED-3CC9-5B46-8D50-8DBAD2CD81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34773" y="836712"/>
            <a:ext cx="9410285" cy="883606"/>
          </a:xfrm>
        </p:spPr>
        <p:txBody>
          <a:bodyPr/>
          <a:lstStyle/>
          <a:p>
            <a:r>
              <a:rPr lang="en-US" b="1" dirty="0" err="1">
                <a:solidFill>
                  <a:schemeClr val="accent3">
                    <a:lumMod val="20000"/>
                    <a:lumOff val="8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Deontologi</a:t>
            </a:r>
            <a:r>
              <a:rPr lang="en-US" b="1" dirty="0">
                <a:solidFill>
                  <a:schemeClr val="accent3">
                    <a:lumMod val="20000"/>
                    <a:lumOff val="8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b="1" dirty="0" err="1">
                <a:solidFill>
                  <a:schemeClr val="accent3">
                    <a:lumMod val="20000"/>
                    <a:lumOff val="8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sentrale</a:t>
            </a:r>
            <a:r>
              <a:rPr lang="en-US" b="1" dirty="0">
                <a:solidFill>
                  <a:schemeClr val="accent3">
                    <a:lumMod val="20000"/>
                    <a:lumOff val="8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solidFill>
                  <a:schemeClr val="accent3">
                    <a:lumMod val="20000"/>
                    <a:lumOff val="8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begreper</a:t>
            </a:r>
            <a:endParaRPr lang="en-US" b="1" dirty="0">
              <a:solidFill>
                <a:schemeClr val="accent3">
                  <a:lumMod val="20000"/>
                  <a:lumOff val="8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8C5233-648E-A448-BD61-D3BC500E2A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3312" y="2052918"/>
            <a:ext cx="9673208" cy="440041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nb-NO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Fra gresk, </a:t>
            </a:r>
            <a:r>
              <a:rPr lang="nb-NO" sz="40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deon</a:t>
            </a:r>
            <a:r>
              <a:rPr lang="nb-NO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det som forplikter. </a:t>
            </a:r>
          </a:p>
          <a:p>
            <a:pPr marL="0" indent="0">
              <a:buNone/>
            </a:pPr>
            <a:r>
              <a:rPr lang="nb-NO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På norsk: </a:t>
            </a:r>
            <a:r>
              <a:rPr lang="nb-NO" sz="4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pliktetikk</a:t>
            </a:r>
          </a:p>
          <a:p>
            <a:pPr marL="0" indent="0">
              <a:buNone/>
            </a:pPr>
            <a:r>
              <a:rPr lang="nb-NO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Fokuserer på handlinger.</a:t>
            </a:r>
          </a:p>
          <a:p>
            <a:pPr marL="0" indent="0">
              <a:buNone/>
            </a:pPr>
            <a:r>
              <a:rPr lang="nb-NO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 Sentrale begreper: </a:t>
            </a:r>
          </a:p>
          <a:p>
            <a:pPr marL="857250" lvl="1" indent="-457200">
              <a:buFont typeface="+mj-lt"/>
              <a:buAutoNum type="arabicPeriod"/>
            </a:pPr>
            <a:r>
              <a:rPr lang="nb-NO" sz="3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Regler</a:t>
            </a:r>
          </a:p>
          <a:p>
            <a:pPr marL="857250" lvl="1" indent="-457200">
              <a:buFont typeface="+mj-lt"/>
              <a:buAutoNum type="arabicPeriod"/>
            </a:pPr>
            <a:r>
              <a:rPr lang="nb-NO" sz="3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Rasjonalitet (fornuft)</a:t>
            </a:r>
          </a:p>
        </p:txBody>
      </p:sp>
    </p:spTree>
    <p:extLst>
      <p:ext uri="{BB962C8B-B14F-4D97-AF65-F5344CB8AC3E}">
        <p14:creationId xmlns:p14="http://schemas.microsoft.com/office/powerpoint/2010/main" val="42002070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54267" y="673186"/>
            <a:ext cx="9410285" cy="883606"/>
          </a:xfrm>
        </p:spPr>
        <p:txBody>
          <a:bodyPr/>
          <a:lstStyle/>
          <a:p>
            <a:r>
              <a:rPr lang="en-US" b="1" dirty="0" err="1">
                <a:solidFill>
                  <a:schemeClr val="accent3">
                    <a:lumMod val="20000"/>
                    <a:lumOff val="8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Deontologi</a:t>
            </a:r>
            <a:endParaRPr lang="en-US" b="1" dirty="0">
              <a:solidFill>
                <a:schemeClr val="accent3">
                  <a:lumMod val="20000"/>
                  <a:lumOff val="8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3352" y="1628800"/>
            <a:ext cx="11305256" cy="4896544"/>
          </a:xfrm>
        </p:spPr>
        <p:txBody>
          <a:bodyPr>
            <a:noAutofit/>
          </a:bodyPr>
          <a:lstStyle/>
          <a:p>
            <a:pPr lvl="1">
              <a:buSzPct val="100000"/>
              <a:buFont typeface="Arial"/>
              <a:buChar char="•"/>
            </a:pPr>
            <a:r>
              <a:rPr lang="nb-NO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 handling er rett hvis og bare hvis den stemmer overens med en moralsk regel. </a:t>
            </a:r>
          </a:p>
          <a:p>
            <a:pPr lvl="1">
              <a:buSzPct val="100000"/>
              <a:buFont typeface="Arial"/>
              <a:buChar char="•"/>
            </a:pPr>
            <a:r>
              <a:rPr lang="nb-NO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 moralsk regel…</a:t>
            </a:r>
          </a:p>
          <a:p>
            <a:pPr lvl="2" indent="-457200">
              <a:buSzPct val="100000"/>
              <a:buFont typeface="Arial"/>
              <a:buChar char="•"/>
            </a:pPr>
            <a:r>
              <a:rPr lang="nb-NO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… følger av fornuften </a:t>
            </a:r>
          </a:p>
          <a:p>
            <a:pPr lvl="2" indent="-457200">
              <a:buSzPct val="100000"/>
              <a:buFont typeface="Arial"/>
              <a:buChar char="•"/>
            </a:pPr>
            <a:r>
              <a:rPr lang="nb-NO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… krever allmenn (universell) tilslutning av alle rasjonelle(fornuftige) vesener</a:t>
            </a:r>
          </a:p>
          <a:p>
            <a:pPr lvl="2" indent="-457200">
              <a:buSzPct val="100000"/>
              <a:buFont typeface="Arial"/>
              <a:buChar char="•"/>
            </a:pPr>
            <a:endParaRPr lang="nb-NO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buSzPct val="100000"/>
              <a:buFont typeface="Arial"/>
              <a:buChar char="•"/>
            </a:pPr>
            <a:r>
              <a:rPr lang="nb-NO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Deontologi</a:t>
            </a:r>
            <a:r>
              <a:rPr lang="nb-NO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knytter på denne måten sammen sine to kjernebegreper, </a:t>
            </a:r>
            <a:r>
              <a:rPr lang="nb-NO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moralsk regel </a:t>
            </a:r>
            <a:r>
              <a:rPr lang="nb-NO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og </a:t>
            </a:r>
            <a:r>
              <a:rPr lang="nb-NO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fornuft</a:t>
            </a:r>
            <a:r>
              <a:rPr lang="nb-NO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og rett handling</a:t>
            </a:r>
          </a:p>
        </p:txBody>
      </p:sp>
    </p:spTree>
    <p:extLst>
      <p:ext uri="{BB962C8B-B14F-4D97-AF65-F5344CB8AC3E}">
        <p14:creationId xmlns:p14="http://schemas.microsoft.com/office/powerpoint/2010/main" val="977977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11514E-5E04-5D45-960B-6F940BF17F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Moralens objektiv grunnlag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202A52-6000-8A4E-9925-51A16DBFDD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nb-NO" sz="2800" dirty="0"/>
          </a:p>
          <a:p>
            <a:pPr marL="0" indent="0">
              <a:buNone/>
            </a:pPr>
            <a:r>
              <a:rPr lang="nb-NO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Rasjonalitet 				</a:t>
            </a:r>
            <a:r>
              <a:rPr lang="nb-NO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vs</a:t>
            </a:r>
            <a:r>
              <a:rPr lang="nb-NO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		Natur</a:t>
            </a:r>
          </a:p>
          <a:p>
            <a:pPr marL="0" indent="0">
              <a:buNone/>
            </a:pPr>
            <a:r>
              <a:rPr lang="nb-NO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Frihet 					</a:t>
            </a:r>
            <a:r>
              <a:rPr lang="nb-NO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vs</a:t>
            </a:r>
            <a:r>
              <a:rPr lang="nb-NO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		Naturlover</a:t>
            </a:r>
          </a:p>
          <a:p>
            <a:pPr marL="0" indent="0">
              <a:buNone/>
            </a:pPr>
            <a:r>
              <a:rPr lang="nb-NO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Fornuft 					</a:t>
            </a:r>
            <a:r>
              <a:rPr lang="nb-NO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vs</a:t>
            </a:r>
            <a:r>
              <a:rPr lang="nb-NO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	</a:t>
            </a:r>
            <a:r>
              <a:rPr lang="el-G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nb-NO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Tilbøyeligheter</a:t>
            </a:r>
          </a:p>
          <a:p>
            <a:pPr marL="0" indent="0">
              <a:buNone/>
            </a:pPr>
            <a:endParaRPr lang="nb-NO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nb-NO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Vilje</a:t>
            </a:r>
          </a:p>
          <a:p>
            <a:pPr marL="0" indent="0">
              <a:buNone/>
            </a:pPr>
            <a:endParaRPr lang="nb-NO" sz="2800" dirty="0"/>
          </a:p>
          <a:p>
            <a:pPr marL="0" indent="0">
              <a:buNone/>
            </a:pPr>
            <a:endParaRPr lang="nb-NO" sz="2800" dirty="0"/>
          </a:p>
          <a:p>
            <a:pPr marL="0" indent="0">
              <a:buNone/>
            </a:pPr>
            <a:endParaRPr lang="nb-NO" sz="2800" i="1" dirty="0"/>
          </a:p>
        </p:txBody>
      </p:sp>
    </p:spTree>
    <p:extLst>
      <p:ext uri="{BB962C8B-B14F-4D97-AF65-F5344CB8AC3E}">
        <p14:creationId xmlns:p14="http://schemas.microsoft.com/office/powerpoint/2010/main" val="193731080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8375ED-3CC9-5B46-8D50-8DBAD2CD81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9496" y="836712"/>
            <a:ext cx="9410285" cy="883606"/>
          </a:xfrm>
        </p:spPr>
        <p:txBody>
          <a:bodyPr/>
          <a:lstStyle/>
          <a:p>
            <a:r>
              <a:rPr lang="en-US" b="1" dirty="0">
                <a:solidFill>
                  <a:schemeClr val="accent3">
                    <a:lumMod val="20000"/>
                    <a:lumOff val="8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Den </a:t>
            </a:r>
            <a:r>
              <a:rPr lang="en-US" b="1" dirty="0" err="1">
                <a:solidFill>
                  <a:schemeClr val="accent3">
                    <a:lumMod val="20000"/>
                    <a:lumOff val="8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gode</a:t>
            </a:r>
            <a:r>
              <a:rPr lang="en-US" b="1" dirty="0">
                <a:solidFill>
                  <a:schemeClr val="accent3">
                    <a:lumMod val="20000"/>
                    <a:lumOff val="8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solidFill>
                  <a:schemeClr val="accent3">
                    <a:lumMod val="20000"/>
                    <a:lumOff val="8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vilje</a:t>
            </a:r>
            <a:endParaRPr lang="en-US" b="1" dirty="0">
              <a:solidFill>
                <a:schemeClr val="accent3">
                  <a:lumMod val="20000"/>
                  <a:lumOff val="8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C83DC695-5FB8-6541-B16E-7D2696457231}"/>
              </a:ext>
            </a:extLst>
          </p:cNvPr>
          <p:cNvSpPr txBox="1">
            <a:spLocks/>
          </p:cNvSpPr>
          <p:nvPr/>
        </p:nvSpPr>
        <p:spPr>
          <a:xfrm>
            <a:off x="381000" y="1811672"/>
            <a:ext cx="11403632" cy="428162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20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506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pPr>
              <a:buSzPct val="100000"/>
              <a:buFont typeface="Arial"/>
              <a:buChar char="•"/>
              <a:defRPr/>
            </a:pPr>
            <a:r>
              <a:rPr lang="nb-NO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Viljen </a:t>
            </a:r>
            <a:r>
              <a:rPr lang="nb-NO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er evnen som lar oss foreta</a:t>
            </a:r>
            <a:r>
              <a:rPr lang="nb-NO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handlingsvalg </a:t>
            </a:r>
            <a:endParaRPr lang="nb-NO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SzPct val="100000"/>
              <a:buFont typeface="Arial"/>
              <a:buChar char="•"/>
              <a:defRPr/>
            </a:pPr>
            <a:r>
              <a:rPr lang="nb-NO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 god vilje fatter beslutninger ut i fra det rette motiv</a:t>
            </a:r>
            <a:endParaRPr lang="nb-NO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>
              <a:buSzPct val="100000"/>
              <a:buFont typeface="Arial"/>
              <a:buChar char="•"/>
              <a:defRPr/>
            </a:pPr>
            <a:endParaRPr lang="nb-NO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SzPct val="100000"/>
              <a:buFont typeface="Arial"/>
              <a:buChar char="•"/>
              <a:defRPr/>
            </a:pPr>
            <a:r>
              <a:rPr lang="nb-NO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Handlingens </a:t>
            </a:r>
            <a:r>
              <a:rPr lang="nb-NO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MOTIVASJON, </a:t>
            </a:r>
            <a:r>
              <a:rPr lang="nb-NO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dens grunn eller prinsipp, er avgjørende for handlingens moralske verdi</a:t>
            </a:r>
          </a:p>
          <a:p>
            <a:pPr>
              <a:buSzPct val="100000"/>
              <a:buFont typeface="Arial"/>
              <a:buChar char="•"/>
              <a:defRPr/>
            </a:pPr>
            <a:r>
              <a:rPr lang="nb-NO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Handlingens </a:t>
            </a:r>
            <a:r>
              <a:rPr lang="nb-NO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HENSIKTER</a:t>
            </a:r>
            <a:r>
              <a:rPr lang="nb-NO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dens virkninger eller intenderte konsekvenser, er ikke relevante for handlingens moralske verdi</a:t>
            </a:r>
          </a:p>
          <a:p>
            <a:pPr>
              <a:defRPr/>
            </a:pPr>
            <a:endParaRPr lang="nb-NO" dirty="0"/>
          </a:p>
        </p:txBody>
      </p:sp>
    </p:spTree>
    <p:extLst>
      <p:ext uri="{BB962C8B-B14F-4D97-AF65-F5344CB8AC3E}">
        <p14:creationId xmlns:p14="http://schemas.microsoft.com/office/powerpoint/2010/main" val="32874211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1BB648-B9B6-0B4F-BFD2-8A6FC6A1B5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9376" y="2276872"/>
            <a:ext cx="11521280" cy="439248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nb-NO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	Universallovsformuleringen: </a:t>
            </a:r>
            <a:r>
              <a:rPr lang="nb-NO" sz="2400" dirty="0">
                <a:solidFill>
                  <a:schemeClr val="accent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«Handle bare etter den maksime gjennom hvilken du samtidig kan ville at det skal bli en allmenn lov» </a:t>
            </a:r>
            <a:r>
              <a:rPr lang="nb-NO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(4: 421).</a:t>
            </a:r>
            <a:endParaRPr lang="en-NO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nb-NO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Denne kan også uttrykkes slik:</a:t>
            </a:r>
            <a:endParaRPr lang="en-NO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nb-NO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Naturlovsformuleringen: </a:t>
            </a:r>
            <a:r>
              <a:rPr lang="nb-NO" sz="2400" dirty="0">
                <a:solidFill>
                  <a:schemeClr val="accent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«Handle som om maksimen for din handling gjennom din vilje skulle bli en allmenn naturlov» </a:t>
            </a:r>
            <a:r>
              <a:rPr lang="nb-NO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(4: 421).</a:t>
            </a:r>
            <a:endParaRPr lang="en-NO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nb-NO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	Humanitetsformuleringen: </a:t>
            </a:r>
            <a:r>
              <a:rPr lang="nb-NO" sz="2400" dirty="0">
                <a:solidFill>
                  <a:schemeClr val="accent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«Handle slik at du alltid bruker menneskeheten både i egen og i enhver annen person samtidig som et formål og aldri bare som et middel»</a:t>
            </a:r>
            <a:r>
              <a:rPr lang="nb-NO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(4: 429).</a:t>
            </a:r>
            <a:endParaRPr lang="en-NO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nb-NO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	Autonomiformuleringen: </a:t>
            </a:r>
            <a:r>
              <a:rPr lang="nb-NO" sz="2400" dirty="0">
                <a:solidFill>
                  <a:schemeClr val="accent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«Handle slik at du gjennom dine maksimer kan være en lovgiver for allmenne lover» </a:t>
            </a:r>
            <a:r>
              <a:rPr lang="nb-NO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(4: 432).</a:t>
            </a:r>
            <a:endParaRPr lang="en-NO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r">
              <a:buNone/>
            </a:pPr>
            <a:r>
              <a:rPr lang="en-NO" dirty="0">
                <a:latin typeface="Times New Roman" panose="02020603050405020304" pitchFamily="18" charset="0"/>
                <a:cs typeface="Times New Roman" panose="02020603050405020304" pitchFamily="18" charset="0"/>
              </a:rPr>
              <a:t>(se VVG 343)</a:t>
            </a:r>
            <a:endParaRPr lang="nb-NO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ittel 3">
            <a:extLst>
              <a:ext uri="{FF2B5EF4-FFF2-40B4-BE49-F238E27FC236}">
                <a16:creationId xmlns:a16="http://schemas.microsoft.com/office/drawing/2014/main" id="{1C38BFF8-ED32-512B-221E-75F9315193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-1243646"/>
            <a:ext cx="9410285" cy="1243646"/>
          </a:xfrm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nb-NO" dirty="0"/>
              <a:t>Liste med etiske formuleringer</a:t>
            </a:r>
          </a:p>
        </p:txBody>
      </p:sp>
    </p:spTree>
    <p:extLst>
      <p:ext uri="{BB962C8B-B14F-4D97-AF65-F5344CB8AC3E}">
        <p14:creationId xmlns:p14="http://schemas.microsoft.com/office/powerpoint/2010/main" val="344190842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7" name="Rectangle 2">
            <a:extLst>
              <a:ext uri="{FF2B5EF4-FFF2-40B4-BE49-F238E27FC236}">
                <a16:creationId xmlns:a16="http://schemas.microsoft.com/office/drawing/2014/main" id="{5C8A6090-62F5-8544-BFC5-A8E7237E00A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NO" sz="4400" dirty="0"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Det </a:t>
            </a:r>
            <a:r>
              <a:rPr lang="en-US" altLang="en-NO" sz="4400" dirty="0" err="1"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kategoriske</a:t>
            </a:r>
            <a:r>
              <a:rPr lang="en-US" altLang="en-NO" sz="4400" dirty="0"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 </a:t>
            </a:r>
            <a:r>
              <a:rPr lang="en-US" altLang="en-NO" sz="4400" dirty="0" err="1"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imperativ</a:t>
            </a:r>
            <a:endParaRPr lang="en-US" altLang="en-NO" sz="4400" dirty="0">
              <a:latin typeface="Times New Roman" panose="02020603050405020304" pitchFamily="18" charset="0"/>
              <a:ea typeface="ＭＳ Ｐゴシック" panose="020B0600070205080204" pitchFamily="34" charset="-128"/>
              <a:cs typeface="Times New Roman" panose="02020603050405020304" pitchFamily="18" charset="0"/>
            </a:endParaRPr>
          </a:p>
        </p:txBody>
      </p:sp>
      <p:sp>
        <p:nvSpPr>
          <p:cNvPr id="34818" name="Rectangle 3">
            <a:extLst>
              <a:ext uri="{FF2B5EF4-FFF2-40B4-BE49-F238E27FC236}">
                <a16:creationId xmlns:a16="http://schemas.microsoft.com/office/drawing/2014/main" id="{CEECF888-F921-8E43-B001-CF2274AEAD45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646112" y="1772816"/>
            <a:ext cx="11066512" cy="447558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nb-NO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Universallovsformuleringen: </a:t>
            </a:r>
          </a:p>
          <a:p>
            <a:pPr marL="0" indent="0">
              <a:buNone/>
            </a:pPr>
            <a:endParaRPr lang="nb-NO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nb-NO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«Handle bare etter den maksime gjennom hvilken du samtidig kan ville at det skal bli en allmenn lov» (4: 421)</a:t>
            </a:r>
            <a:endParaRPr lang="en-NO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nb-NO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nb-NO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Denne kan også uttrykkes slik, naturlovsformuleringen: </a:t>
            </a:r>
          </a:p>
          <a:p>
            <a:endParaRPr lang="nb-NO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nb-NO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«Handle som om maksimen for din handling gjennom din vilje skulle bli en allmenn naturlov» (4: 421)</a:t>
            </a:r>
            <a:endParaRPr lang="en-US" altLang="en-NO" sz="2800" dirty="0">
              <a:latin typeface="Times New Roman" panose="02020603050405020304" pitchFamily="18" charset="0"/>
              <a:ea typeface="ＭＳ Ｐゴシック" panose="020B0600070205080204" pitchFamily="34" charset="-128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5862238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4">
            <a:extLst>
              <a:ext uri="{FF2B5EF4-FFF2-40B4-BE49-F238E27FC236}">
                <a16:creationId xmlns:a16="http://schemas.microsoft.com/office/drawing/2014/main" id="{596149F5-5C56-0147-8CDF-BB6C50B640E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pPr eaLnBrk="1" hangingPunct="1"/>
            <a:r>
              <a:rPr lang="en-US" altLang="en-NO" dirty="0"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Det </a:t>
            </a:r>
            <a:r>
              <a:rPr lang="en-US" altLang="en-NO" dirty="0" err="1"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kategoriske</a:t>
            </a:r>
            <a:r>
              <a:rPr lang="en-US" altLang="en-NO" dirty="0"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 </a:t>
            </a:r>
            <a:r>
              <a:rPr lang="en-US" altLang="en-NO" dirty="0" err="1"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imperativ</a:t>
            </a:r>
            <a:endParaRPr lang="en-US" altLang="en-NO" sz="2000" dirty="0">
              <a:latin typeface="Times New Roman" panose="02020603050405020304" pitchFamily="18" charset="0"/>
              <a:ea typeface="ＭＳ Ｐゴシック" panose="020B0600070205080204" pitchFamily="34" charset="-128"/>
              <a:cs typeface="Times New Roman" panose="02020603050405020304" pitchFamily="18" charset="0"/>
            </a:endParaRPr>
          </a:p>
        </p:txBody>
      </p:sp>
      <p:sp>
        <p:nvSpPr>
          <p:cNvPr id="38913" name="Rectangle 3">
            <a:extLst>
              <a:ext uri="{FF2B5EF4-FFF2-40B4-BE49-F238E27FC236}">
                <a16:creationId xmlns:a16="http://schemas.microsoft.com/office/drawing/2014/main" id="{6E5A198F-5B2E-4447-A673-7167F20B4BA6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646111" y="1916832"/>
            <a:ext cx="9564689" cy="3036168"/>
          </a:xfrm>
        </p:spPr>
        <p:txBody>
          <a:bodyPr>
            <a:normAutofit/>
          </a:bodyPr>
          <a:lstStyle/>
          <a:p>
            <a:pPr marL="0" indent="0" eaLnBrk="1" hangingPunct="1">
              <a:buNone/>
            </a:pPr>
            <a:r>
              <a:rPr lang="en-US" altLang="en-NO" sz="2800" dirty="0" err="1"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Humanitetsformuleringen</a:t>
            </a:r>
            <a:r>
              <a:rPr lang="en-US" altLang="en-NO" sz="2800" dirty="0"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 </a:t>
            </a:r>
          </a:p>
          <a:p>
            <a:pPr marL="0" indent="0" eaLnBrk="1" hangingPunct="1">
              <a:buNone/>
            </a:pPr>
            <a:endParaRPr lang="en-US" altLang="en-NO" dirty="0">
              <a:latin typeface="Times New Roman" panose="02020603050405020304" pitchFamily="18" charset="0"/>
              <a:ea typeface="ＭＳ Ｐゴシック" panose="020B0600070205080204" pitchFamily="34" charset="-128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nb-NO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«Handle slik at du alltid bruker menneskeheten både i egen og i enhver annen person samtidig som et formål og aldri bare som et middel» (4: 429).</a:t>
            </a:r>
            <a:endParaRPr lang="en-NO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eaLnBrk="1" hangingPunct="1">
              <a:buNone/>
            </a:pPr>
            <a:endParaRPr lang="en-US" altLang="en-NO" dirty="0"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38915" name="Text Box 5">
            <a:extLst>
              <a:ext uri="{FF2B5EF4-FFF2-40B4-BE49-F238E27FC236}">
                <a16:creationId xmlns:a16="http://schemas.microsoft.com/office/drawing/2014/main" id="{053F904C-CFF0-E74D-9D5D-9B1D3071B1D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59696" y="4797152"/>
            <a:ext cx="6012904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r>
              <a:rPr lang="en-US" altLang="en-NO" dirty="0" err="1">
                <a:latin typeface="+mn-lt"/>
                <a:cs typeface="Arial" panose="020B0604020202020204" pitchFamily="34" charset="0"/>
              </a:rPr>
              <a:t>Hva</a:t>
            </a:r>
            <a:r>
              <a:rPr lang="en-US" altLang="en-NO" dirty="0">
                <a:latin typeface="+mn-lt"/>
                <a:cs typeface="Arial" panose="020B0604020202020204" pitchFamily="34" charset="0"/>
              </a:rPr>
              <a:t> har </a:t>
            </a:r>
            <a:r>
              <a:rPr lang="en-US" altLang="en-NO" dirty="0" err="1">
                <a:latin typeface="+mn-lt"/>
                <a:cs typeface="Arial" panose="020B0604020202020204" pitchFamily="34" charset="0"/>
              </a:rPr>
              <a:t>absolutt</a:t>
            </a:r>
            <a:r>
              <a:rPr lang="en-US" altLang="en-NO" dirty="0">
                <a:latin typeface="+mn-lt"/>
                <a:cs typeface="Arial" panose="020B0604020202020204" pitchFamily="34" charset="0"/>
              </a:rPr>
              <a:t> </a:t>
            </a:r>
            <a:r>
              <a:rPr lang="en-US" altLang="en-NO" dirty="0" err="1">
                <a:latin typeface="+mn-lt"/>
                <a:cs typeface="Arial" panose="020B0604020202020204" pitchFamily="34" charset="0"/>
              </a:rPr>
              <a:t>verdi</a:t>
            </a:r>
            <a:r>
              <a:rPr lang="en-US" altLang="en-NO" dirty="0">
                <a:latin typeface="+mn-lt"/>
                <a:cs typeface="Arial" panose="020B0604020202020204" pitchFamily="34" charset="0"/>
              </a:rPr>
              <a:t>?</a:t>
            </a:r>
          </a:p>
          <a:p>
            <a:pPr eaLnBrk="1" hangingPunct="1"/>
            <a:r>
              <a:rPr lang="en-US" altLang="en-NO" dirty="0" err="1">
                <a:latin typeface="+mn-lt"/>
                <a:cs typeface="Arial" panose="020B0604020202020204" pitchFamily="34" charset="0"/>
              </a:rPr>
              <a:t>Hvorfor</a:t>
            </a:r>
            <a:r>
              <a:rPr lang="en-US" altLang="en-NO" dirty="0">
                <a:latin typeface="+mn-lt"/>
                <a:cs typeface="Arial" panose="020B0604020202020204" pitchFamily="34" charset="0"/>
              </a:rPr>
              <a:t> har de </a:t>
            </a:r>
            <a:r>
              <a:rPr lang="en-US" altLang="en-NO" dirty="0" err="1">
                <a:latin typeface="+mn-lt"/>
                <a:cs typeface="Arial" panose="020B0604020202020204" pitchFamily="34" charset="0"/>
              </a:rPr>
              <a:t>absolutt</a:t>
            </a:r>
            <a:r>
              <a:rPr lang="en-US" altLang="en-NO" dirty="0">
                <a:latin typeface="+mn-lt"/>
                <a:cs typeface="Arial" panose="020B0604020202020204" pitchFamily="34" charset="0"/>
              </a:rPr>
              <a:t> </a:t>
            </a:r>
            <a:r>
              <a:rPr lang="en-US" altLang="en-NO" dirty="0" err="1">
                <a:latin typeface="+mn-lt"/>
                <a:cs typeface="Arial" panose="020B0604020202020204" pitchFamily="34" charset="0"/>
              </a:rPr>
              <a:t>verdi</a:t>
            </a:r>
            <a:r>
              <a:rPr lang="en-US" altLang="en-NO" dirty="0">
                <a:latin typeface="+mn-lt"/>
                <a:cs typeface="Arial" panose="020B0604020202020204" pitchFamily="34" charset="0"/>
              </a:rPr>
              <a:t>?</a:t>
            </a:r>
          </a:p>
          <a:p>
            <a:pPr eaLnBrk="1" hangingPunct="1"/>
            <a:r>
              <a:rPr lang="en-US" altLang="en-NO" dirty="0" err="1">
                <a:latin typeface="+mn-lt"/>
                <a:cs typeface="Arial" panose="020B0604020202020204" pitchFamily="34" charset="0"/>
              </a:rPr>
              <a:t>Hvor</a:t>
            </a:r>
            <a:r>
              <a:rPr lang="en-US" altLang="en-NO" dirty="0">
                <a:latin typeface="+mn-lt"/>
                <a:cs typeface="Arial" panose="020B0604020202020204" pitchFamily="34" charset="0"/>
              </a:rPr>
              <a:t> </a:t>
            </a:r>
            <a:r>
              <a:rPr lang="en-US" altLang="en-NO" dirty="0" err="1">
                <a:latin typeface="+mn-lt"/>
                <a:cs typeface="Arial" panose="020B0604020202020204" pitchFamily="34" charset="0"/>
              </a:rPr>
              <a:t>kommer</a:t>
            </a:r>
            <a:r>
              <a:rPr lang="en-US" altLang="en-NO" dirty="0">
                <a:latin typeface="+mn-lt"/>
                <a:cs typeface="Arial" panose="020B0604020202020204" pitchFamily="34" charset="0"/>
              </a:rPr>
              <a:t> </a:t>
            </a:r>
            <a:r>
              <a:rPr lang="en-US" altLang="en-NO" dirty="0" err="1">
                <a:latin typeface="+mn-lt"/>
                <a:cs typeface="Arial" panose="020B0604020202020204" pitchFamily="34" charset="0"/>
              </a:rPr>
              <a:t>relativ</a:t>
            </a:r>
            <a:r>
              <a:rPr lang="en-US" altLang="en-NO" dirty="0">
                <a:latin typeface="+mn-lt"/>
                <a:cs typeface="Arial" panose="020B0604020202020204" pitchFamily="34" charset="0"/>
              </a:rPr>
              <a:t> </a:t>
            </a:r>
            <a:r>
              <a:rPr lang="en-US" altLang="en-NO" dirty="0" err="1">
                <a:latin typeface="+mn-lt"/>
                <a:cs typeface="Arial" panose="020B0604020202020204" pitchFamily="34" charset="0"/>
              </a:rPr>
              <a:t>verdi</a:t>
            </a:r>
            <a:r>
              <a:rPr lang="en-US" altLang="en-NO" dirty="0">
                <a:latin typeface="+mn-lt"/>
                <a:cs typeface="Arial" panose="020B0604020202020204" pitchFamily="34" charset="0"/>
              </a:rPr>
              <a:t> </a:t>
            </a:r>
            <a:r>
              <a:rPr lang="en-US" altLang="en-NO" dirty="0" err="1">
                <a:latin typeface="+mn-lt"/>
                <a:cs typeface="Arial" panose="020B0604020202020204" pitchFamily="34" charset="0"/>
              </a:rPr>
              <a:t>fra</a:t>
            </a:r>
            <a:r>
              <a:rPr lang="en-US" altLang="en-NO" dirty="0">
                <a:latin typeface="+mn-lt"/>
                <a:cs typeface="Arial" panose="020B0604020202020204" pitchFamily="34" charset="0"/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42669096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5">
            <a:extLst>
              <a:ext uri="{FF2B5EF4-FFF2-40B4-BE49-F238E27FC236}">
                <a16:creationId xmlns:a16="http://schemas.microsoft.com/office/drawing/2014/main" id="{D961AB89-0FB7-1F42-9E06-396DC850C63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pPr eaLnBrk="1" hangingPunct="1"/>
            <a:r>
              <a:rPr lang="en-US" altLang="en-NO" dirty="0" err="1"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Autonomi</a:t>
            </a:r>
            <a:endParaRPr lang="en-US" altLang="en-NO" sz="2000" dirty="0">
              <a:latin typeface="Times New Roman" panose="02020603050405020304" pitchFamily="18" charset="0"/>
              <a:ea typeface="ＭＳ Ｐゴシック" panose="020B0600070205080204" pitchFamily="34" charset="-128"/>
              <a:cs typeface="Times New Roman" panose="02020603050405020304" pitchFamily="18" charset="0"/>
            </a:endParaRPr>
          </a:p>
        </p:txBody>
      </p:sp>
      <p:sp>
        <p:nvSpPr>
          <p:cNvPr id="40961" name="Rectangle 4" descr="Skjema som illustrerer begrepet Autonomi. Det går piler fra teksten &quot;Enhver person er &quot; til ordene &quot;lovgiver&quot; og &quot;undersått&quot;, samt en pil fra &quot;lovgiver&quot; til &quot;undersått&quot;. ">
            <a:extLst>
              <a:ext uri="{FF2B5EF4-FFF2-40B4-BE49-F238E27FC236}">
                <a16:creationId xmlns:a16="http://schemas.microsoft.com/office/drawing/2014/main" id="{6237A8BD-C545-4C45-B851-931519BA7BA9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106655" y="2857189"/>
            <a:ext cx="9299376" cy="2667000"/>
          </a:xfrm>
          <a:noFill/>
        </p:spPr>
        <p:txBody>
          <a:bodyPr>
            <a:normAutofit/>
          </a:bodyPr>
          <a:lstStyle/>
          <a:p>
            <a:pPr marL="0" indent="0" eaLnBrk="1" hangingPunct="1">
              <a:lnSpc>
                <a:spcPct val="90000"/>
              </a:lnSpc>
              <a:buNone/>
            </a:pPr>
            <a:r>
              <a:rPr lang="nb-NO" altLang="en-NO" sz="2800" dirty="0"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Fra gresk, bokstavelig talt selvlovgiving</a:t>
            </a:r>
          </a:p>
        </p:txBody>
      </p:sp>
      <p:sp>
        <p:nvSpPr>
          <p:cNvPr id="40963" name="Text Box 10">
            <a:extLst>
              <a:ext uri="{FF2B5EF4-FFF2-40B4-BE49-F238E27FC236}">
                <a16:creationId xmlns:a16="http://schemas.microsoft.com/office/drawing/2014/main" id="{C34D499F-6F30-1D46-893C-8DAEED2EA6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44067" y="3227385"/>
            <a:ext cx="1752599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NO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lovgiver</a:t>
            </a:r>
            <a:endParaRPr lang="en-US" altLang="en-NO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0964" name="Line 11">
            <a:extLst>
              <a:ext uri="{FF2B5EF4-FFF2-40B4-BE49-F238E27FC236}">
                <a16:creationId xmlns:a16="http://schemas.microsoft.com/office/drawing/2014/main" id="{EE077BA8-A2EB-F34B-B3BA-DDC3A8A7D2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ShapeType="1"/>
          </p:cNvSpPr>
          <p:nvPr/>
        </p:nvSpPr>
        <p:spPr bwMode="auto">
          <a:xfrm>
            <a:off x="7079103" y="4190689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NO"/>
          </a:p>
        </p:txBody>
      </p:sp>
      <p:sp>
        <p:nvSpPr>
          <p:cNvPr id="40965" name="Text Box 12">
            <a:extLst>
              <a:ext uri="{FF2B5EF4-FFF2-40B4-BE49-F238E27FC236}">
                <a16:creationId xmlns:a16="http://schemas.microsoft.com/office/drawing/2014/main" id="{57898FF4-A7B2-9C4A-AC7A-0955945CA3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78738" y="5140103"/>
            <a:ext cx="1995259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NO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undersått</a:t>
            </a:r>
            <a:endParaRPr lang="en-US" altLang="en-NO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0966" name="Line 13">
            <a:extLst>
              <a:ext uri="{FF2B5EF4-FFF2-40B4-BE49-F238E27FC236}">
                <a16:creationId xmlns:a16="http://schemas.microsoft.com/office/drawing/2014/main" id="{A4AE0E01-ACCA-E24B-B839-A1A73EDA13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887133" y="3505200"/>
            <a:ext cx="129540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NO"/>
          </a:p>
        </p:txBody>
      </p:sp>
      <p:sp>
        <p:nvSpPr>
          <p:cNvPr id="40967" name="Line 14">
            <a:extLst>
              <a:ext uri="{FF2B5EF4-FFF2-40B4-BE49-F238E27FC236}">
                <a16:creationId xmlns:a16="http://schemas.microsoft.com/office/drawing/2014/main" id="{D938097F-43EE-5246-A3D1-C018EB963F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ShapeType="1"/>
          </p:cNvSpPr>
          <p:nvPr/>
        </p:nvSpPr>
        <p:spPr bwMode="auto">
          <a:xfrm>
            <a:off x="4852579" y="4392698"/>
            <a:ext cx="1295400" cy="914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NO"/>
          </a:p>
        </p:txBody>
      </p:sp>
      <p:sp>
        <p:nvSpPr>
          <p:cNvPr id="40968" name="Text Box 15">
            <a:extLst>
              <a:ext uri="{FF2B5EF4-FFF2-40B4-BE49-F238E27FC236}">
                <a16:creationId xmlns:a16="http://schemas.microsoft.com/office/drawing/2014/main" id="{6BE2C390-0358-7147-9242-ED5854DBDD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39833" y="4015215"/>
            <a:ext cx="3753544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NO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Enhver</a:t>
            </a:r>
            <a:r>
              <a:rPr lang="en-US" altLang="en-NO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person er</a:t>
            </a:r>
          </a:p>
        </p:txBody>
      </p:sp>
    </p:spTree>
    <p:extLst>
      <p:ext uri="{BB962C8B-B14F-4D97-AF65-F5344CB8AC3E}">
        <p14:creationId xmlns:p14="http://schemas.microsoft.com/office/powerpoint/2010/main" val="32755259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54267" y="673186"/>
            <a:ext cx="9410285" cy="883606"/>
          </a:xfrm>
        </p:spPr>
        <p:txBody>
          <a:bodyPr/>
          <a:lstStyle/>
          <a:p>
            <a:r>
              <a:rPr lang="en-US" b="1" dirty="0" err="1">
                <a:solidFill>
                  <a:schemeClr val="accent3">
                    <a:lumMod val="20000"/>
                    <a:lumOff val="8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Styrker</a:t>
            </a:r>
            <a:endParaRPr lang="en-US" b="1" dirty="0">
              <a:solidFill>
                <a:schemeClr val="accent3">
                  <a:lumMod val="20000"/>
                  <a:lumOff val="8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51384" y="2420888"/>
            <a:ext cx="11305256" cy="4896544"/>
          </a:xfrm>
        </p:spPr>
        <p:txBody>
          <a:bodyPr>
            <a:noAutofit/>
          </a:bodyPr>
          <a:lstStyle/>
          <a:p>
            <a:pPr lvl="1">
              <a:buSzPct val="100000"/>
              <a:buFont typeface="Arial"/>
              <a:buChar char="•"/>
            </a:pP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Menneskets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verdighet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sentralt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teorien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buSzPct val="100000"/>
              <a:buFont typeface="Arial"/>
              <a:buChar char="•"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buSzPct val="100000"/>
              <a:buFont typeface="Arial"/>
              <a:buChar char="•"/>
            </a:pP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Beskytter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individets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rettigheter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buSzPct val="100000"/>
              <a:buFont typeface="Arial"/>
              <a:buChar char="•"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buSzPct val="100000"/>
              <a:buFont typeface="Arial"/>
              <a:buChar char="•"/>
            </a:pP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Hindrer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at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majoriteten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utnytter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minoriteter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buSzPct val="100000"/>
              <a:buFont typeface="Arial"/>
              <a:buChar char="•"/>
            </a:pPr>
            <a:endParaRPr lang="en-US" sz="2800" dirty="0"/>
          </a:p>
          <a:p>
            <a:pPr lvl="1">
              <a:buSzPct val="100000"/>
              <a:buFont typeface="Arial"/>
              <a:buChar char="•"/>
            </a:pPr>
            <a:endParaRPr lang="en-US" sz="2800" dirty="0"/>
          </a:p>
          <a:p>
            <a:pPr lvl="1">
              <a:buSzPct val="100000"/>
              <a:buFont typeface="Arial"/>
              <a:buChar char="•"/>
            </a:pPr>
            <a:endParaRPr lang="en-US" sz="2800" dirty="0"/>
          </a:p>
          <a:p>
            <a:pPr lvl="1">
              <a:buSzPct val="100000"/>
              <a:buFont typeface="Arial"/>
              <a:buChar char="•"/>
            </a:pP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1536673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54267" y="1340768"/>
            <a:ext cx="9410285" cy="1008112"/>
          </a:xfrm>
        </p:spPr>
        <p:txBody>
          <a:bodyPr/>
          <a:lstStyle/>
          <a:p>
            <a:r>
              <a:rPr lang="en-US" b="1" dirty="0" err="1">
                <a:solidFill>
                  <a:schemeClr val="accent3">
                    <a:lumMod val="20000"/>
                    <a:lumOff val="8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Svakheter</a:t>
            </a:r>
            <a:endParaRPr lang="en-US" b="1" dirty="0">
              <a:solidFill>
                <a:schemeClr val="accent3">
                  <a:lumMod val="20000"/>
                  <a:lumOff val="8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9376" y="1628800"/>
            <a:ext cx="11305256" cy="4896544"/>
          </a:xfrm>
        </p:spPr>
        <p:txBody>
          <a:bodyPr>
            <a:noAutofit/>
          </a:bodyPr>
          <a:lstStyle/>
          <a:p>
            <a:pPr marL="914400" lvl="2" indent="0">
              <a:buNone/>
            </a:pPr>
            <a:endParaRPr lang="nb-NO" sz="2600" dirty="0"/>
          </a:p>
          <a:p>
            <a:pPr marL="914400" lvl="2" indent="0">
              <a:buNone/>
            </a:pPr>
            <a:endParaRPr lang="nb-NO" sz="2600" dirty="0"/>
          </a:p>
          <a:p>
            <a:pPr marL="914400" lvl="2" indent="0">
              <a:buNone/>
            </a:pPr>
            <a:endParaRPr lang="nb-NO" sz="2600" dirty="0"/>
          </a:p>
          <a:p>
            <a:pPr marL="914400" lvl="2" indent="0">
              <a:buNone/>
            </a:pPr>
            <a:endParaRPr lang="nb-NO" sz="2600" dirty="0"/>
          </a:p>
          <a:p>
            <a:pPr lvl="1"/>
            <a:r>
              <a:rPr lang="nb-NO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Regler kan komme i konflikt med hverandre og uklart hvordan vi da skal velge mellom dem</a:t>
            </a:r>
          </a:p>
          <a:p>
            <a:pPr lvl="1"/>
            <a:endParaRPr lang="nb-NO" sz="2800" dirty="0"/>
          </a:p>
          <a:p>
            <a:pPr lvl="1">
              <a:buSzPct val="100000"/>
              <a:buFont typeface="Arial"/>
              <a:buChar char="•"/>
            </a:pPr>
            <a:endParaRPr lang="nb-NO" sz="2800" dirty="0"/>
          </a:p>
          <a:p>
            <a:pPr lvl="1">
              <a:buSzPct val="100000"/>
              <a:buFont typeface="Arial"/>
              <a:buChar char="•"/>
            </a:pPr>
            <a:endParaRPr lang="nb-NO" sz="2800" dirty="0"/>
          </a:p>
          <a:p>
            <a:pPr lvl="1">
              <a:buSzPct val="100000"/>
              <a:buFont typeface="Arial"/>
              <a:buChar char="•"/>
            </a:pPr>
            <a:endParaRPr lang="nb-NO" sz="2800" dirty="0"/>
          </a:p>
          <a:p>
            <a:pPr lvl="1">
              <a:buSzPct val="100000"/>
              <a:buFont typeface="Arial"/>
              <a:buChar char="•"/>
            </a:pPr>
            <a:endParaRPr lang="nb-NO" sz="2800" dirty="0"/>
          </a:p>
          <a:p>
            <a:pPr lvl="1">
              <a:buSzPct val="100000"/>
              <a:buFont typeface="Arial"/>
              <a:buChar char="•"/>
            </a:pPr>
            <a:endParaRPr lang="nb-NO" sz="2800" dirty="0"/>
          </a:p>
          <a:p>
            <a:pPr lvl="1">
              <a:buSzPct val="100000"/>
              <a:buFont typeface="Arial"/>
              <a:buChar char="•"/>
            </a:pPr>
            <a:endParaRPr lang="nb-NO" sz="2800" dirty="0"/>
          </a:p>
        </p:txBody>
      </p:sp>
    </p:spTree>
    <p:extLst>
      <p:ext uri="{BB962C8B-B14F-4D97-AF65-F5344CB8AC3E}">
        <p14:creationId xmlns:p14="http://schemas.microsoft.com/office/powerpoint/2010/main" val="200119121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37167</TotalTime>
  <Words>726</Words>
  <Application>Microsoft Office PowerPoint</Application>
  <PresentationFormat>Widescreen</PresentationFormat>
  <Paragraphs>129</Paragraphs>
  <Slides>16</Slides>
  <Notes>1</Notes>
  <HiddenSlides>0</HiddenSlides>
  <MMClips>0</MMClips>
  <ScaleCrop>false</ScaleCrop>
  <HeadingPairs>
    <vt:vector size="6" baseType="variant">
      <vt:variant>
        <vt:lpstr>Brukte skrifter</vt:lpstr>
      </vt:variant>
      <vt:variant>
        <vt:i4>5</vt:i4>
      </vt:variant>
      <vt:variant>
        <vt:lpstr>Tema</vt:lpstr>
      </vt:variant>
      <vt:variant>
        <vt:i4>1</vt:i4>
      </vt:variant>
      <vt:variant>
        <vt:lpstr>Lysbildetitler</vt:lpstr>
      </vt:variant>
      <vt:variant>
        <vt:i4>16</vt:i4>
      </vt:variant>
    </vt:vector>
  </HeadingPairs>
  <TitlesOfParts>
    <vt:vector size="22" baseType="lpstr">
      <vt:lpstr>Arial</vt:lpstr>
      <vt:lpstr>Calibri</vt:lpstr>
      <vt:lpstr>Century Gothic</vt:lpstr>
      <vt:lpstr>Times New Roman</vt:lpstr>
      <vt:lpstr>Wingdings 3</vt:lpstr>
      <vt:lpstr>Ion</vt:lpstr>
      <vt:lpstr>Etiske spørsmål  Moralske spørsmål</vt:lpstr>
      <vt:lpstr>Tre måter å reise Etiske Spørsmål på</vt:lpstr>
      <vt:lpstr>Dydsetikk</vt:lpstr>
      <vt:lpstr>Dydsetikkens egenskaper</vt:lpstr>
      <vt:lpstr>Liste over temaer</vt:lpstr>
      <vt:lpstr>Kant’s prosjekt</vt:lpstr>
      <vt:lpstr>Deontologi, sentrale begreper</vt:lpstr>
      <vt:lpstr>Deontologi</vt:lpstr>
      <vt:lpstr>Moralens objektiv grunnlag </vt:lpstr>
      <vt:lpstr>Den gode vilje</vt:lpstr>
      <vt:lpstr>Liste med etiske formuleringer</vt:lpstr>
      <vt:lpstr>Det kategoriske imperativ</vt:lpstr>
      <vt:lpstr>Det kategoriske imperativ</vt:lpstr>
      <vt:lpstr>Autonomi</vt:lpstr>
      <vt:lpstr>Styrker</vt:lpstr>
      <vt:lpstr>Svakheter</vt:lpstr>
    </vt:vector>
  </TitlesOfParts>
  <Company>N&amp;N NHS Trust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 Slide Title</dc:title>
  <dc:creator>Dr R Temple</dc:creator>
  <cp:lastModifiedBy>Erlend Bornhoffer</cp:lastModifiedBy>
  <cp:revision>520</cp:revision>
  <cp:lastPrinted>2022-03-03T08:30:14Z</cp:lastPrinted>
  <dcterms:created xsi:type="dcterms:W3CDTF">2006-10-17T12:53:18Z</dcterms:created>
  <dcterms:modified xsi:type="dcterms:W3CDTF">2024-10-01T07:52:39Z</dcterms:modified>
</cp:coreProperties>
</file>