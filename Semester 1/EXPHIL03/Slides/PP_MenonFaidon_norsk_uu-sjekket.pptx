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98" r:id="rId2"/>
    <p:sldId id="307" r:id="rId3"/>
    <p:sldId id="301" r:id="rId4"/>
    <p:sldId id="302" r:id="rId5"/>
    <p:sldId id="297" r:id="rId6"/>
    <p:sldId id="306" r:id="rId7"/>
    <p:sldId id="300" r:id="rId8"/>
    <p:sldId id="304" r:id="rId9"/>
    <p:sldId id="305" r:id="rId10"/>
    <p:sldId id="303" r:id="rId11"/>
    <p:sldId id="308" r:id="rId12"/>
    <p:sldId id="309" r:id="rId13"/>
    <p:sldId id="310" r:id="rId14"/>
  </p:sldIdLst>
  <p:sldSz cx="9144000" cy="6858000" type="screen4x3"/>
  <p:notesSz cx="6794500" cy="9931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72" autoAdjust="0"/>
    <p:restoredTop sz="94437" autoAdjust="0"/>
  </p:normalViewPr>
  <p:slideViewPr>
    <p:cSldViewPr>
      <p:cViewPr varScale="1">
        <p:scale>
          <a:sx n="123" d="100"/>
          <a:sy n="123" d="100"/>
        </p:scale>
        <p:origin x="738" y="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7890" y="0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2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3234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2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7890" y="9433234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C9896D9-8050-44D7-A40D-6920AE2D1A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5610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7890" y="0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0938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133" y="4718214"/>
            <a:ext cx="5436235" cy="4469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3234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5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7890" y="9433234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93A95D4-52CF-4036-984D-AF42B1BE1A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7905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5DE4DD-7900-4C0C-ABA1-D0F3CF495524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3106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3A95D4-52CF-4036-984D-AF42B1BE1AF3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506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5DE4DD-7900-4C0C-ABA1-D0F3CF495524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5DE4DD-7900-4C0C-ABA1-D0F3CF495524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111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3A95D4-52CF-4036-984D-AF42B1BE1AF3}" type="slidenum">
              <a:rPr lang="en-GB" smtClean="0"/>
              <a:pPr>
                <a:defRPr/>
              </a:pPr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5220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B5954F-25E8-4B22-843D-574C59AA7F1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706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C96671-3820-48D4-929A-2C11202AADB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044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3EDFAC-BB14-459F-822E-8A1A6D84A00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29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B88B68-58CB-4618-B9C5-736C53D2B4D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2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BC2D5F-40DA-42D0-A619-5238D702DC5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589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6BFEAE-176C-4B5B-8399-871C67570EB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80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EF4BFF-B372-4C89-B59E-8880E95BF19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816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844B8B-2434-4C29-82CF-F6ADFAE47C0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374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81198-4383-460A-8380-8310FB141A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75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3F3299-CBCE-4AA8-AC48-E3305DA004F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96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3F3299-CBCE-4AA8-AC48-E3305DA004F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27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3F3299-CBCE-4AA8-AC48-E3305DA004F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4596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3F3299-CBCE-4AA8-AC48-E3305DA004F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37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3F3299-CBCE-4AA8-AC48-E3305DA004F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2359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3F3299-CBCE-4AA8-AC48-E3305DA004F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5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ED4624-FE51-4C80-B5E3-93233FD6986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979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922C1E-0A91-4E91-B89B-EB51DF2662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93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B3F3299-CBCE-4AA8-AC48-E3305DA004F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096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97433" y="260648"/>
            <a:ext cx="7772400" cy="1143000"/>
          </a:xfrm>
        </p:spPr>
        <p:txBody>
          <a:bodyPr/>
          <a:lstStyle/>
          <a:p>
            <a:pPr algn="ctr"/>
            <a:r>
              <a:rPr lang="nb-NO" sz="3600" dirty="0"/>
              <a:t>PLATON</a:t>
            </a:r>
            <a:br>
              <a:rPr lang="en-NO" sz="2800" dirty="0"/>
            </a:br>
            <a:endParaRPr lang="en-GB" sz="2800" b="1" dirty="0">
              <a:solidFill>
                <a:schemeClr val="accent3">
                  <a:lumMod val="20000"/>
                  <a:lumOff val="80000"/>
                </a:schemeClr>
              </a:solidFill>
              <a:latin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0FC84D-1E7E-43DD-99FA-3967CF0040EB}"/>
              </a:ext>
            </a:extLst>
          </p:cNvPr>
          <p:cNvSpPr txBox="1"/>
          <p:nvPr/>
        </p:nvSpPr>
        <p:spPr>
          <a:xfrm>
            <a:off x="697433" y="1556792"/>
            <a:ext cx="797455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dirty="0"/>
              <a:t>Platonsk Dialog</a:t>
            </a:r>
          </a:p>
          <a:p>
            <a:endParaRPr lang="nb-NO" sz="2400" dirty="0"/>
          </a:p>
          <a:p>
            <a:r>
              <a:rPr lang="nb-NO" sz="2400" dirty="0"/>
              <a:t>Platonsk syn på vitenskap</a:t>
            </a:r>
          </a:p>
          <a:p>
            <a:endParaRPr lang="nb-NO" sz="2400" dirty="0"/>
          </a:p>
          <a:p>
            <a:r>
              <a:rPr lang="nb-NO" sz="2400" dirty="0"/>
              <a:t>«Hva er </a:t>
            </a:r>
            <a:r>
              <a:rPr lang="nb-NO" sz="2400" dirty="0" err="1"/>
              <a:t>X</a:t>
            </a:r>
            <a:r>
              <a:rPr lang="nb-NO" sz="2400" dirty="0"/>
              <a:t>?»-spørsmålet</a:t>
            </a:r>
          </a:p>
          <a:p>
            <a:endParaRPr lang="nb-NO" sz="2400" dirty="0"/>
          </a:p>
          <a:p>
            <a:r>
              <a:rPr lang="nb-NO" sz="2400" dirty="0"/>
              <a:t>Er «Hva er </a:t>
            </a:r>
            <a:r>
              <a:rPr lang="nb-NO" sz="2400" dirty="0" err="1"/>
              <a:t>X</a:t>
            </a:r>
            <a:r>
              <a:rPr lang="nb-NO" sz="2400" dirty="0"/>
              <a:t>?»-spørsmålet et rimelig spørsmål å stille? </a:t>
            </a:r>
          </a:p>
          <a:p>
            <a:endParaRPr lang="en-NO" sz="2400" dirty="0"/>
          </a:p>
          <a:p>
            <a:r>
              <a:rPr lang="nb-NO" sz="2400" dirty="0"/>
              <a:t>Platon og Sokrates </a:t>
            </a:r>
            <a:endParaRPr lang="en-NO" sz="2400" dirty="0"/>
          </a:p>
          <a:p>
            <a:r>
              <a:rPr lang="nb-NO" sz="2400" dirty="0"/>
              <a:t> </a:t>
            </a:r>
            <a:endParaRPr lang="en-NO" sz="2400" dirty="0"/>
          </a:p>
          <a:p>
            <a:endParaRPr lang="en-GB" sz="2400" dirty="0">
              <a:solidFill>
                <a:schemeClr val="accent3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928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C8D3F-142C-684A-A622-8FD74451D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960058"/>
          </a:xfrm>
        </p:spPr>
        <p:txBody>
          <a:bodyPr/>
          <a:lstStyle/>
          <a:p>
            <a:pPr algn="ctr"/>
            <a:r>
              <a:rPr lang="nb-NO" sz="3600" dirty="0"/>
              <a:t>PLATONS </a:t>
            </a:r>
            <a:r>
              <a:rPr lang="nb-NO" sz="3600" i="1" dirty="0"/>
              <a:t>MENON</a:t>
            </a:r>
            <a:br>
              <a:rPr lang="en-NO" sz="2800" dirty="0"/>
            </a:br>
            <a:endParaRPr lang="en-NO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F1F3B-BE8C-B645-91ED-4A5886F9B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700808"/>
            <a:ext cx="7359842" cy="5040560"/>
          </a:xfrm>
        </p:spPr>
        <p:txBody>
          <a:bodyPr>
            <a:normAutofit fontScale="25000" lnSpcReduction="20000"/>
          </a:bodyPr>
          <a:lstStyle/>
          <a:p>
            <a:pPr marL="1371600" lvl="0" indent="-1371600">
              <a:buAutoNum type="alphaLcPeriod"/>
            </a:pPr>
            <a:r>
              <a:rPr lang="nb-NO" sz="9600" dirty="0">
                <a:latin typeface="+mn-lt"/>
                <a:cs typeface="Arial" panose="020B0604020202020204" pitchFamily="34" charset="0"/>
              </a:rPr>
              <a:t>Hva handler dialogen om?</a:t>
            </a:r>
          </a:p>
          <a:p>
            <a:pPr marL="1371600" lvl="0" indent="-1371600">
              <a:buAutoNum type="alphaLcPeriod"/>
            </a:pPr>
            <a:endParaRPr lang="nb-NO" sz="9600" dirty="0">
              <a:latin typeface="+mn-lt"/>
              <a:cs typeface="Arial" panose="020B0604020202020204" pitchFamily="34" charset="0"/>
            </a:endParaRPr>
          </a:p>
          <a:p>
            <a:pPr marL="1371600" lvl="0" indent="-1371600">
              <a:buAutoNum type="alphaLcPeriod"/>
            </a:pPr>
            <a:endParaRPr lang="nb-NO" sz="9600" dirty="0">
              <a:latin typeface="+mn-lt"/>
              <a:cs typeface="Arial" panose="020B0604020202020204" pitchFamily="34" charset="0"/>
            </a:endParaRPr>
          </a:p>
          <a:p>
            <a:pPr marL="1371600" lvl="0" indent="-1371600">
              <a:buAutoNum type="alphaLcPeriod"/>
            </a:pPr>
            <a:r>
              <a:rPr lang="nb-NO" sz="9600" dirty="0">
                <a:latin typeface="+mn-lt"/>
                <a:cs typeface="Arial" panose="020B0604020202020204" pitchFamily="34" charset="0"/>
              </a:rPr>
              <a:t>Hva menes med dyd?</a:t>
            </a:r>
          </a:p>
          <a:p>
            <a:pPr marL="1371600" lvl="0" indent="-1371600">
              <a:buAutoNum type="alphaLcPeriod"/>
            </a:pPr>
            <a:endParaRPr lang="nb-NO" sz="9600" dirty="0">
              <a:latin typeface="+mn-lt"/>
              <a:cs typeface="Arial" panose="020B0604020202020204" pitchFamily="34" charset="0"/>
            </a:endParaRPr>
          </a:p>
          <a:p>
            <a:pPr marL="1371600" lvl="0" indent="-1371600">
              <a:buAutoNum type="alphaLcPeriod"/>
            </a:pPr>
            <a:endParaRPr lang="nb-NO" sz="9600" dirty="0">
              <a:latin typeface="+mn-lt"/>
              <a:cs typeface="Arial" panose="020B0604020202020204" pitchFamily="34" charset="0"/>
            </a:endParaRPr>
          </a:p>
          <a:p>
            <a:pPr marL="1371600" indent="-1371600">
              <a:buFont typeface="Wingdings 3" charset="2"/>
              <a:buAutoNum type="alphaLcPeriod"/>
            </a:pPr>
            <a:r>
              <a:rPr lang="nb-NO" sz="9600" dirty="0">
                <a:latin typeface="+mn-lt"/>
                <a:cs typeface="Arial" panose="020B0604020202020204" pitchFamily="34" charset="0"/>
              </a:rPr>
              <a:t>Vet Menon hva dyd er?</a:t>
            </a:r>
          </a:p>
          <a:p>
            <a:pPr marL="1371600" indent="-1371600">
              <a:buFont typeface="Wingdings 3" charset="2"/>
              <a:buAutoNum type="alphaLcPeriod"/>
            </a:pPr>
            <a:endParaRPr lang="nb-NO" sz="9600" dirty="0">
              <a:latin typeface="+mn-lt"/>
              <a:cs typeface="Arial" panose="020B0604020202020204" pitchFamily="34" charset="0"/>
            </a:endParaRPr>
          </a:p>
          <a:p>
            <a:pPr marL="1371600" indent="-1371600">
              <a:buFont typeface="Wingdings 3" charset="2"/>
              <a:buAutoNum type="alphaLcPeriod"/>
            </a:pPr>
            <a:endParaRPr lang="nb-NO" sz="9600" dirty="0">
              <a:latin typeface="+mn-lt"/>
              <a:cs typeface="Arial" panose="020B0604020202020204" pitchFamily="34" charset="0"/>
            </a:endParaRPr>
          </a:p>
          <a:p>
            <a:pPr marL="1371600" indent="-1371600">
              <a:buFont typeface="Wingdings 3" charset="2"/>
              <a:buAutoNum type="alphaLcPeriod"/>
            </a:pPr>
            <a:endParaRPr lang="nb-NO" sz="9600" dirty="0">
              <a:latin typeface="+mn-lt"/>
              <a:cs typeface="Arial" panose="020B0604020202020204" pitchFamily="34" charset="0"/>
            </a:endParaRPr>
          </a:p>
          <a:p>
            <a:pPr marL="1371600" indent="-1371600">
              <a:buFont typeface="Wingdings 3" charset="2"/>
              <a:buAutoNum type="alphaLcPeriod"/>
            </a:pPr>
            <a:endParaRPr lang="nb-NO" sz="9600" dirty="0">
              <a:latin typeface="+mn-lt"/>
              <a:cs typeface="Arial" panose="020B0604020202020204" pitchFamily="34" charset="0"/>
            </a:endParaRPr>
          </a:p>
          <a:p>
            <a:pPr marL="1371600" lvl="0" indent="-1371600">
              <a:buAutoNum type="alphaLcPeriod"/>
            </a:pPr>
            <a:endParaRPr lang="nb-NO" sz="9600" dirty="0">
              <a:latin typeface="+mn-lt"/>
              <a:cs typeface="Arial" panose="020B0604020202020204" pitchFamily="34" charset="0"/>
            </a:endParaRPr>
          </a:p>
          <a:p>
            <a:pPr marL="0" lvl="0" indent="0">
              <a:buNone/>
            </a:pPr>
            <a:endParaRPr lang="nb-NO" sz="9600" dirty="0">
              <a:latin typeface="+mn-lt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nb-NO" sz="9600" dirty="0">
                <a:latin typeface="+mn-lt"/>
                <a:cs typeface="Arial" panose="020B0604020202020204" pitchFamily="34" charset="0"/>
              </a:rPr>
              <a:t>b. </a:t>
            </a:r>
          </a:p>
          <a:p>
            <a:pPr marL="0" indent="0">
              <a:buNone/>
            </a:pPr>
            <a:r>
              <a:rPr lang="nb-NO" sz="9600" dirty="0">
                <a:latin typeface="+mn-lt"/>
                <a:cs typeface="Arial" panose="020B0604020202020204" pitchFamily="34" charset="0"/>
              </a:rPr>
              <a:t>c. Må Sokrates vite hva viten går ut på for å 	avgjøre om samtalepartneren hans vet det 	han mener han å vite?</a:t>
            </a:r>
          </a:p>
          <a:p>
            <a:pPr marL="0" indent="0">
              <a:buNone/>
            </a:pPr>
            <a:endParaRPr lang="nb-NO" sz="9600" dirty="0">
              <a:latin typeface="+mn-lt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nb-NO" sz="9600" dirty="0">
                <a:latin typeface="+mn-lt"/>
                <a:cs typeface="Arial" panose="020B0604020202020204" pitchFamily="34" charset="0"/>
              </a:rPr>
              <a:t>d. Er Sokrates’ aktivitet problematisk?</a:t>
            </a:r>
            <a:endParaRPr lang="en-NO" sz="9600" dirty="0">
              <a:latin typeface="+mn-lt"/>
              <a:cs typeface="Arial" panose="020B0604020202020204" pitchFamily="34" charset="0"/>
            </a:endParaRPr>
          </a:p>
          <a:p>
            <a:pPr marL="457200" indent="-457200">
              <a:buFont typeface="Wingdings 3" charset="2"/>
              <a:buAutoNum type="alphaLcPeriod"/>
            </a:pPr>
            <a:endParaRPr lang="en-NO" sz="4200" dirty="0">
              <a:latin typeface="+mn-lt"/>
            </a:endParaRPr>
          </a:p>
          <a:p>
            <a:pPr marL="457200" indent="-457200">
              <a:buFont typeface="Wingdings 3" charset="2"/>
              <a:buAutoNum type="alphaLcPeriod"/>
            </a:pPr>
            <a:endParaRPr lang="en-NO" sz="4200" dirty="0">
              <a:latin typeface="+mn-lt"/>
            </a:endParaRPr>
          </a:p>
          <a:p>
            <a:pPr marL="457200" lvl="0" indent="-457200">
              <a:buAutoNum type="alphaLcPeriod"/>
            </a:pPr>
            <a:endParaRPr lang="en-NO" dirty="0"/>
          </a:p>
          <a:p>
            <a:pPr marL="0" indent="0">
              <a:buNone/>
            </a:pPr>
            <a:r>
              <a:rPr lang="nb-NO" dirty="0"/>
              <a:t> </a:t>
            </a:r>
            <a:endParaRPr lang="en-NO" dirty="0"/>
          </a:p>
          <a:p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009131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9B53D-1DD6-1544-95C8-1A75E39BD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476672"/>
            <a:ext cx="7055380" cy="936104"/>
          </a:xfrm>
        </p:spPr>
        <p:txBody>
          <a:bodyPr/>
          <a:lstStyle/>
          <a:p>
            <a:pPr algn="ctr"/>
            <a:r>
              <a:rPr lang="nb-NO" sz="3600" dirty="0"/>
              <a:t>MENONS PARADOKS</a:t>
            </a:r>
            <a:br>
              <a:rPr lang="nb-NO" sz="2800" dirty="0"/>
            </a:br>
            <a:br>
              <a:rPr lang="nb-NO" sz="2800" dirty="0"/>
            </a:br>
            <a:br>
              <a:rPr lang="en-NO" dirty="0"/>
            </a:br>
            <a:endParaRPr lang="en-NO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A995F-7915-D542-8620-D876C919D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772816"/>
            <a:ext cx="7992888" cy="460851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nb-NO" sz="2200" dirty="0"/>
              <a:t>Det er nytteløst å drive med noen som helst undersøkelse.</a:t>
            </a:r>
          </a:p>
          <a:p>
            <a:pPr marL="0" lvl="0" indent="0">
              <a:buNone/>
            </a:pPr>
            <a:endParaRPr lang="nb-NO" sz="2200" dirty="0"/>
          </a:p>
          <a:p>
            <a:pPr marL="0" lvl="0" indent="0">
              <a:buNone/>
            </a:pPr>
            <a:r>
              <a:rPr lang="nb-NO" sz="2200" dirty="0"/>
              <a:t>To utfordringer:</a:t>
            </a:r>
          </a:p>
          <a:p>
            <a:pPr marL="0" lvl="0" indent="0">
              <a:buNone/>
            </a:pPr>
            <a:endParaRPr lang="nb-NO" sz="2200" dirty="0"/>
          </a:p>
          <a:p>
            <a:pPr marL="0" lvl="0" indent="0">
              <a:buNone/>
            </a:pPr>
            <a:r>
              <a:rPr lang="nb-NO" sz="2200" dirty="0"/>
              <a:t>1.	Enten vet en svaret allerede</a:t>
            </a:r>
          </a:p>
          <a:p>
            <a:pPr marL="457200" lvl="0" indent="-457200">
              <a:buAutoNum type="alphaLcPeriod"/>
            </a:pPr>
            <a:endParaRPr lang="nb-NO" sz="2200" dirty="0"/>
          </a:p>
          <a:p>
            <a:pPr marL="0" lvl="0" indent="0">
              <a:buNone/>
            </a:pPr>
            <a:r>
              <a:rPr lang="nb-NO" sz="2200" dirty="0"/>
              <a:t>2.	Eller vet en det ikke, og en vil aldri kunne finne det.</a:t>
            </a:r>
            <a:r>
              <a:rPr lang="nb-NO" sz="2400" dirty="0"/>
              <a:t>		</a:t>
            </a:r>
            <a:endParaRPr lang="en-NO" sz="2400" dirty="0"/>
          </a:p>
          <a:p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3245291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3D81B-2AAA-3446-B637-275FF465A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744034"/>
          </a:xfrm>
        </p:spPr>
        <p:txBody>
          <a:bodyPr/>
          <a:lstStyle/>
          <a:p>
            <a:pPr algn="ctr"/>
            <a:r>
              <a:rPr lang="en-NO" sz="3600" dirty="0"/>
              <a:t>TO TYPER SVAR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3E96F-E0BF-5C4E-A99F-407F23BF6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196752"/>
            <a:ext cx="8424936" cy="520853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nb-NO" sz="2400" dirty="0"/>
          </a:p>
          <a:p>
            <a:pPr marL="0" lvl="0" indent="0">
              <a:buNone/>
            </a:pPr>
            <a:r>
              <a:rPr lang="nb-NO" sz="2400" dirty="0"/>
              <a:t>To måter å vise at påstanden i </a:t>
            </a:r>
            <a:r>
              <a:rPr lang="nb-NO" sz="2400" dirty="0" err="1"/>
              <a:t>Menons</a:t>
            </a:r>
            <a:r>
              <a:rPr lang="nb-NO" sz="2400" dirty="0"/>
              <a:t> utfordring nummer 2 er usann.</a:t>
            </a:r>
          </a:p>
          <a:p>
            <a:pPr marL="0" lvl="0" indent="0">
              <a:buNone/>
            </a:pPr>
            <a:endParaRPr lang="nb-NO" sz="2400" dirty="0"/>
          </a:p>
          <a:p>
            <a:pPr marL="457200" lvl="0" indent="-457200">
              <a:buAutoNum type="alphaLcPeriod"/>
            </a:pPr>
            <a:r>
              <a:rPr lang="nb-NO" sz="2400" dirty="0"/>
              <a:t>Ved å vise til et faktum.</a:t>
            </a:r>
          </a:p>
          <a:p>
            <a:pPr marL="0" lvl="0" indent="0">
              <a:buNone/>
            </a:pPr>
            <a:endParaRPr lang="nb-NO" sz="2400" dirty="0"/>
          </a:p>
          <a:p>
            <a:pPr marL="457200" lvl="0" indent="-457200">
              <a:buAutoNum type="alphaLcPeriod"/>
            </a:pPr>
            <a:r>
              <a:rPr lang="nb-NO" sz="2400" dirty="0"/>
              <a:t>Ved å by på en forklaring på hvorfor den er usann; </a:t>
            </a:r>
            <a:r>
              <a:rPr lang="nb-NO" sz="2400" dirty="0" err="1"/>
              <a:t>Gjenerindring</a:t>
            </a:r>
            <a:r>
              <a:rPr lang="nb-NO" sz="2400" dirty="0"/>
              <a:t>.</a:t>
            </a:r>
          </a:p>
          <a:p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2154107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34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43942" y="1325880"/>
            <a:ext cx="2748537" cy="306650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 dirty="0">
                <a:solidFill>
                  <a:srgbClr val="EBEBEB"/>
                </a:solidFill>
              </a:rPr>
              <a:t>ERKJENNELSES- EPISODEN </a:t>
            </a:r>
            <a:br>
              <a:rPr lang="nb-NO" sz="2600" dirty="0">
                <a:solidFill>
                  <a:srgbClr val="EBEBEB"/>
                </a:solidFill>
              </a:rPr>
            </a:br>
            <a:r>
              <a:rPr lang="nb-NO" sz="2600" dirty="0">
                <a:solidFill>
                  <a:srgbClr val="EBEBEB"/>
                </a:solidFill>
              </a:rPr>
              <a:t>DET GEOMETRISKE PROBLEMET</a:t>
            </a:r>
            <a:endParaRPr lang="en-NO" sz="2600">
              <a:solidFill>
                <a:srgbClr val="EBEBEB"/>
              </a:solidFill>
            </a:endParaRPr>
          </a:p>
        </p:txBody>
      </p:sp>
      <p:sp>
        <p:nvSpPr>
          <p:cNvPr id="137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59776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9" name="Freeform: Shape 138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857465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pic>
        <p:nvPicPr>
          <p:cNvPr id="1030" name="Picture 6" descr="Download Free png Collection of free Transparent square black and white.  Download on ... - DLPNG.com">
            <a:extLst>
              <a:ext uri="{FF2B5EF4-FFF2-40B4-BE49-F238E27FC236}">
                <a16:creationId xmlns:a16="http://schemas.microsoft.com/office/drawing/2014/main" id="{212F13F3-632C-6540-90D6-D70F5DCA2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890" y="1077269"/>
            <a:ext cx="4702997" cy="470299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95DE4-5CF9-7244-9A30-F1FB99CEC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248090"/>
          </a:xfrm>
        </p:spPr>
        <p:txBody>
          <a:bodyPr/>
          <a:lstStyle/>
          <a:p>
            <a:pPr algn="ctr"/>
            <a:br>
              <a:rPr lang="nb-NO" sz="3600" dirty="0"/>
            </a:br>
            <a:r>
              <a:rPr lang="nb-NO" sz="3600" dirty="0"/>
              <a:t>ETT AV GUTTENS USANNE SVAR</a:t>
            </a:r>
            <a:br>
              <a:rPr lang="en-NO" dirty="0"/>
            </a:br>
            <a:endParaRPr lang="en-NO" dirty="0"/>
          </a:p>
        </p:txBody>
      </p:sp>
      <p:pic>
        <p:nvPicPr>
          <p:cNvPr id="4098" name="Picture 2" descr="Four Squares Graphic Organizer | Graphic organizers, Organization, Four  square">
            <a:extLst>
              <a:ext uri="{FF2B5EF4-FFF2-40B4-BE49-F238E27FC236}">
                <a16:creationId xmlns:a16="http://schemas.microsoft.com/office/drawing/2014/main" id="{9805F17E-F490-A241-9900-A217BE4168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698" y="2052638"/>
            <a:ext cx="3236730" cy="419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4033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70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75" name="Oval 74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86698" y="629266"/>
            <a:ext cx="3124882" cy="351981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36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KVADRATET</a:t>
            </a:r>
            <a:br>
              <a:rPr lang="en-US" sz="36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br>
              <a:rPr lang="en-US" sz="36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r>
              <a:rPr lang="en-US" sz="36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OG</a:t>
            </a:r>
            <a:br>
              <a:rPr lang="en-US" sz="36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br>
              <a:rPr lang="en-US" sz="36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r>
              <a:rPr lang="en-US" sz="36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DETS</a:t>
            </a:r>
            <a:br>
              <a:rPr lang="en-US" sz="36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br>
              <a:rPr lang="en-US" sz="36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r>
              <a:rPr lang="en-US" sz="36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DIAGONAL</a:t>
            </a:r>
            <a:r>
              <a:rPr lang="en-US" sz="14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14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endParaRPr lang="en-US" sz="3600" b="0" i="0" kern="12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5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5515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7" name="Freeform: Shape 86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095864" y="809550"/>
            <a:ext cx="6858001" cy="52389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nb-NO"/>
          </a:p>
        </p:txBody>
      </p:sp>
      <p:pic>
        <p:nvPicPr>
          <p:cNvPr id="3" name="Picture 2" descr="How to find the length of the diagonal of a square - Basic Geometry">
            <a:extLst>
              <a:ext uri="{FF2B5EF4-FFF2-40B4-BE49-F238E27FC236}">
                <a16:creationId xmlns:a16="http://schemas.microsoft.com/office/drawing/2014/main" id="{4F18C270-940E-1346-8A0F-8308E27BE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0494" y="1543678"/>
            <a:ext cx="4087416" cy="3770641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258727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A496D-C53F-FC47-A455-57B44961D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248090"/>
          </a:xfrm>
        </p:spPr>
        <p:txBody>
          <a:bodyPr/>
          <a:lstStyle/>
          <a:p>
            <a:pPr algn="ctr"/>
            <a:r>
              <a:rPr lang="nb-NO" sz="3600" dirty="0"/>
              <a:t>KVADRATROT</a:t>
            </a:r>
            <a:br>
              <a:rPr lang="nb-NO" sz="3600" dirty="0"/>
            </a:br>
            <a:br>
              <a:rPr lang="en-NO" sz="3000" dirty="0"/>
            </a:br>
            <a:endParaRPr lang="en-NO" sz="3000" dirty="0"/>
          </a:p>
        </p:txBody>
      </p:sp>
      <p:pic>
        <p:nvPicPr>
          <p:cNvPr id="5124" name="Picture 4" descr="If the length of the Diagonal of a square is 10 inches. What is the length  of each side? | Socratic">
            <a:extLst>
              <a:ext uri="{FF2B5EF4-FFF2-40B4-BE49-F238E27FC236}">
                <a16:creationId xmlns:a16="http://schemas.microsoft.com/office/drawing/2014/main" id="{DD2D5528-5D65-264B-AE88-BA97C5ECF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912985"/>
            <a:ext cx="4445000" cy="448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7158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61AF-1817-6F4D-A82D-2BFD8F5EE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b-NO" sz="3000" dirty="0"/>
              <a:t>LØSNINGEN</a:t>
            </a:r>
            <a:endParaRPr lang="en-NO" sz="3000" dirty="0"/>
          </a:p>
        </p:txBody>
      </p:sp>
      <p:pic>
        <p:nvPicPr>
          <p:cNvPr id="3076" name="Picture 4" descr="How to double the area of a square - Quora">
            <a:extLst>
              <a:ext uri="{FF2B5EF4-FFF2-40B4-BE49-F238E27FC236}">
                <a16:creationId xmlns:a16="http://schemas.microsoft.com/office/drawing/2014/main" id="{8A7A0D51-B309-5942-87C2-A15D37AA9BE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050" y="1956753"/>
            <a:ext cx="30607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6477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6FAD-82B4-594C-9264-7D62D47CC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b-NO" sz="3600" dirty="0"/>
              <a:t>KONKLUSJON</a:t>
            </a:r>
            <a:endParaRPr lang="en-NO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80993-F39A-9C4B-9621-07277666D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700" y="2204864"/>
            <a:ext cx="6711654" cy="4043542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nb-NO" sz="2400" dirty="0"/>
              <a:t>Gir erkjennelsesepisoden tilstrekkelig grunnlag for å hevde at utfordring 2 i </a:t>
            </a:r>
            <a:r>
              <a:rPr lang="nb-NO" sz="2400" dirty="0" err="1"/>
              <a:t>Menons</a:t>
            </a:r>
            <a:r>
              <a:rPr lang="nb-NO" sz="2400" dirty="0"/>
              <a:t> paradoks er usann? </a:t>
            </a:r>
          </a:p>
          <a:p>
            <a:pPr marL="0" lvl="0" indent="0">
              <a:buNone/>
            </a:pPr>
            <a:endParaRPr lang="nb-NO" sz="2400" dirty="0"/>
          </a:p>
          <a:p>
            <a:pPr marL="457200" lvl="0" indent="-457200">
              <a:buAutoNum type="arabicPeriod"/>
            </a:pPr>
            <a:endParaRPr lang="nb-NO" sz="2400" dirty="0"/>
          </a:p>
          <a:p>
            <a:pPr marL="457200" lvl="0" indent="-457200">
              <a:buAutoNum type="arabicPeriod"/>
            </a:pPr>
            <a:endParaRPr lang="nb-NO" sz="2400" dirty="0"/>
          </a:p>
          <a:p>
            <a:pPr marL="0" lvl="0" indent="0">
              <a:buNone/>
            </a:pPr>
            <a:endParaRPr lang="en-NO" sz="2400" dirty="0"/>
          </a:p>
          <a:p>
            <a:pPr marL="0" lvl="0" indent="0">
              <a:buNone/>
            </a:pPr>
            <a:endParaRPr lang="en-NO" sz="2400" dirty="0"/>
          </a:p>
          <a:p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651717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0955F-5C85-6748-9133-EB4572598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88640"/>
            <a:ext cx="7055380" cy="1400530"/>
          </a:xfrm>
        </p:spPr>
        <p:txBody>
          <a:bodyPr/>
          <a:lstStyle/>
          <a:p>
            <a:pPr algn="ctr"/>
            <a:r>
              <a:rPr lang="en-NO" sz="3600" dirty="0"/>
              <a:t>PLATONS </a:t>
            </a:r>
            <a:r>
              <a:rPr lang="en-NO" sz="3600" i="1" dirty="0"/>
              <a:t>FAIDON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5A7763-6EE2-654B-9F42-0709F2E6473B}"/>
              </a:ext>
            </a:extLst>
          </p:cNvPr>
          <p:cNvSpPr txBox="1"/>
          <p:nvPr/>
        </p:nvSpPr>
        <p:spPr>
          <a:xfrm>
            <a:off x="683568" y="1124744"/>
            <a:ext cx="7704856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r>
              <a:rPr lang="en-GB" sz="2800" dirty="0"/>
              <a:t>H</a:t>
            </a:r>
            <a:r>
              <a:rPr lang="en-NO" sz="2800" dirty="0"/>
              <a:t>va handler </a:t>
            </a:r>
            <a:r>
              <a:rPr lang="en-NO" sz="2800" i="1" dirty="0"/>
              <a:t>Faidon</a:t>
            </a:r>
            <a:r>
              <a:rPr lang="en-NO" sz="2800" dirty="0"/>
              <a:t> om?</a:t>
            </a:r>
          </a:p>
          <a:p>
            <a:endParaRPr lang="en-NO" sz="2800" dirty="0"/>
          </a:p>
          <a:p>
            <a:endParaRPr lang="en-NO" sz="2800" dirty="0"/>
          </a:p>
          <a:p>
            <a:endParaRPr lang="en-NO" sz="2800" dirty="0"/>
          </a:p>
          <a:p>
            <a:r>
              <a:rPr lang="en-NO" sz="2800" dirty="0"/>
              <a:t>Gjenerindring </a:t>
            </a:r>
            <a:r>
              <a:rPr lang="en-GB" sz="2800" dirty="0"/>
              <a:t>I</a:t>
            </a:r>
            <a:r>
              <a:rPr lang="en-NO" sz="2800" dirty="0"/>
              <a:t> </a:t>
            </a:r>
            <a:r>
              <a:rPr lang="en-NO" sz="2800" i="1" dirty="0"/>
              <a:t>Menon</a:t>
            </a:r>
            <a:r>
              <a:rPr lang="en-NO" sz="2800" dirty="0"/>
              <a:t> vs Gjenerindring </a:t>
            </a:r>
            <a:r>
              <a:rPr lang="en-GB" sz="2800" dirty="0"/>
              <a:t>I</a:t>
            </a:r>
            <a:r>
              <a:rPr lang="en-NO" sz="2800" dirty="0"/>
              <a:t> </a:t>
            </a:r>
            <a:r>
              <a:rPr lang="en-NO" sz="2800" i="1" dirty="0"/>
              <a:t>Faidon</a:t>
            </a:r>
            <a:r>
              <a:rPr lang="en-NO" sz="2800" dirty="0"/>
              <a:t>.</a:t>
            </a:r>
          </a:p>
          <a:p>
            <a:endParaRPr lang="en-NO" sz="2800" dirty="0"/>
          </a:p>
          <a:p>
            <a:endParaRPr lang="en-NO" sz="2800" dirty="0"/>
          </a:p>
          <a:p>
            <a:endParaRPr lang="en-NO" sz="2800" dirty="0"/>
          </a:p>
          <a:p>
            <a:r>
              <a:rPr lang="en-NO" sz="2800"/>
              <a:t>Trans</a:t>
            </a:r>
            <a:r>
              <a:rPr lang="nb-NO" sz="2800" dirty="0"/>
              <a:t>c</a:t>
            </a:r>
            <a:r>
              <a:rPr lang="en-NO" sz="2800"/>
              <a:t>e</a:t>
            </a:r>
            <a:r>
              <a:rPr lang="nb-NO" sz="2800" dirty="0"/>
              <a:t>n</a:t>
            </a:r>
            <a:r>
              <a:rPr lang="en-NO" sz="2800"/>
              <a:t>dentale </a:t>
            </a:r>
            <a:r>
              <a:rPr lang="en-NO" sz="2800" dirty="0"/>
              <a:t>argumenter.</a:t>
            </a:r>
          </a:p>
          <a:p>
            <a:endParaRPr lang="en-NO" sz="2800" dirty="0"/>
          </a:p>
          <a:p>
            <a:endParaRPr lang="en-NO" dirty="0"/>
          </a:p>
          <a:p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993688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8BE49-26E2-1049-AAA5-8E2FD5FCC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O" sz="3600" dirty="0"/>
              <a:t>LIKHET OG LIKE 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D949B8-24DD-1244-B6AE-550B60998A63}"/>
              </a:ext>
            </a:extLst>
          </p:cNvPr>
          <p:cNvSpPr txBox="1"/>
          <p:nvPr/>
        </p:nvSpPr>
        <p:spPr>
          <a:xfrm>
            <a:off x="1043608" y="1668582"/>
            <a:ext cx="6768752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dirty="0"/>
              <a:t>Det finnes en «likhet»</a:t>
            </a:r>
          </a:p>
          <a:p>
            <a:endParaRPr lang="nb-NO" sz="2400" dirty="0"/>
          </a:p>
          <a:p>
            <a:r>
              <a:rPr lang="nb-NO" sz="2400" dirty="0"/>
              <a:t>Like store trestykker eller like store steiner</a:t>
            </a:r>
          </a:p>
          <a:p>
            <a:endParaRPr lang="nb-NO" sz="2400" dirty="0"/>
          </a:p>
          <a:p>
            <a:r>
              <a:rPr lang="nb-NO" sz="2400" dirty="0"/>
              <a:t>Hvordan har vi lært hva det er å være lik og dermed kan kalle ting like?</a:t>
            </a:r>
          </a:p>
          <a:p>
            <a:endParaRPr lang="nb-NO" sz="2400" dirty="0"/>
          </a:p>
          <a:p>
            <a:r>
              <a:rPr lang="nb-NO" sz="2400" dirty="0"/>
              <a:t>Ikke lært det fra de tingene vi kaller like.</a:t>
            </a:r>
          </a:p>
          <a:p>
            <a:endParaRPr lang="nb-NO" sz="2400" dirty="0"/>
          </a:p>
          <a:p>
            <a:r>
              <a:rPr lang="nb-NO" sz="2400" dirty="0"/>
              <a:t>Da må vi allerede vite hva likhet er.</a:t>
            </a:r>
          </a:p>
          <a:p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945481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DB512-06B3-264A-A393-7FB4FD418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248090"/>
          </a:xfrm>
        </p:spPr>
        <p:txBody>
          <a:bodyPr/>
          <a:lstStyle/>
          <a:p>
            <a:pPr algn="ctr"/>
            <a:r>
              <a:rPr lang="nb-NO" sz="3600" dirty="0"/>
              <a:t>IDEENE</a:t>
            </a:r>
            <a:br>
              <a:rPr lang="nb-NO" dirty="0"/>
            </a:br>
            <a:endParaRPr lang="en-NO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554481-6706-204C-9E58-5941321D6B13}"/>
              </a:ext>
            </a:extLst>
          </p:cNvPr>
          <p:cNvSpPr txBox="1"/>
          <p:nvPr/>
        </p:nvSpPr>
        <p:spPr>
          <a:xfrm>
            <a:off x="1403648" y="2132856"/>
            <a:ext cx="55446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 dirty="0"/>
              <a:t>Ideene kan ikke persiperes</a:t>
            </a:r>
          </a:p>
          <a:p>
            <a:endParaRPr lang="nb-NO" sz="2400" dirty="0"/>
          </a:p>
          <a:p>
            <a:endParaRPr lang="nb-NO" sz="2400" dirty="0"/>
          </a:p>
          <a:p>
            <a:r>
              <a:rPr lang="nb-NO" sz="2400" dirty="0"/>
              <a:t>Ideene kan kun erkjennes ved fornuften</a:t>
            </a:r>
          </a:p>
          <a:p>
            <a:endParaRPr lang="nb-NO" sz="2400" dirty="0"/>
          </a:p>
          <a:p>
            <a:endParaRPr lang="nb-NO" sz="2400" dirty="0"/>
          </a:p>
          <a:p>
            <a:r>
              <a:rPr lang="nb-NO" sz="2400" dirty="0"/>
              <a:t>Ideene er de sansbarene tingenes årsaker</a:t>
            </a:r>
          </a:p>
        </p:txBody>
      </p:sp>
    </p:spTree>
    <p:extLst>
      <p:ext uri="{BB962C8B-B14F-4D97-AF65-F5344CB8AC3E}">
        <p14:creationId xmlns:p14="http://schemas.microsoft.com/office/powerpoint/2010/main" val="851255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315</Words>
  <Application>Microsoft Office PowerPoint</Application>
  <PresentationFormat>Skjermfremvisning (4:3)</PresentationFormat>
  <Paragraphs>94</Paragraphs>
  <Slides>13</Slides>
  <Notes>5</Notes>
  <HiddenSlides>0</HiddenSlides>
  <MMClips>0</MMClips>
  <ScaleCrop>false</ScaleCrop>
  <HeadingPairs>
    <vt:vector size="6" baseType="variant">
      <vt:variant>
        <vt:lpstr>Brukte skrifter</vt:lpstr>
      </vt:variant>
      <vt:variant>
        <vt:i4>5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13</vt:i4>
      </vt:variant>
    </vt:vector>
  </HeadingPairs>
  <TitlesOfParts>
    <vt:vector size="19" baseType="lpstr">
      <vt:lpstr>Arial</vt:lpstr>
      <vt:lpstr>Calibri</vt:lpstr>
      <vt:lpstr>Century Gothic</vt:lpstr>
      <vt:lpstr>Times New Roman</vt:lpstr>
      <vt:lpstr>Wingdings 3</vt:lpstr>
      <vt:lpstr>Ion</vt:lpstr>
      <vt:lpstr>PLATON </vt:lpstr>
      <vt:lpstr>PLATONS MENON </vt:lpstr>
      <vt:lpstr>MENONS PARADOKS   </vt:lpstr>
      <vt:lpstr>TO TYPER SVAR</vt:lpstr>
      <vt:lpstr>ERKJENNELSES- EPISODEN  DET GEOMETRISKE PROBLEMET</vt:lpstr>
      <vt:lpstr> ETT AV GUTTENS USANNE SVAR </vt:lpstr>
      <vt:lpstr>KVADRATET  OG  DETS  DIAGONAL  </vt:lpstr>
      <vt:lpstr>KVADRATROT  </vt:lpstr>
      <vt:lpstr>LØSNINGEN</vt:lpstr>
      <vt:lpstr>KONKLUSJON</vt:lpstr>
      <vt:lpstr>PLATONS FAIDON</vt:lpstr>
      <vt:lpstr>LIKHET OG LIKE TING</vt:lpstr>
      <vt:lpstr>IDEENE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PLATON </dc:title>
  <dc:creator>Panagiotis Dimas</dc:creator>
  <cp:lastModifiedBy>Erlend Bornhoffer</cp:lastModifiedBy>
  <cp:revision>18</cp:revision>
  <dcterms:created xsi:type="dcterms:W3CDTF">2021-01-26T12:41:59Z</dcterms:created>
  <dcterms:modified xsi:type="dcterms:W3CDTF">2024-09-09T11:36:36Z</dcterms:modified>
</cp:coreProperties>
</file>