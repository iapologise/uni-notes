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89" r:id="rId2"/>
    <p:sldId id="257" r:id="rId3"/>
    <p:sldId id="345" r:id="rId4"/>
    <p:sldId id="265" r:id="rId5"/>
    <p:sldId id="293" r:id="rId6"/>
    <p:sldId id="288" r:id="rId7"/>
    <p:sldId id="296" r:id="rId8"/>
    <p:sldId id="297" r:id="rId9"/>
    <p:sldId id="298" r:id="rId10"/>
    <p:sldId id="303" r:id="rId11"/>
    <p:sldId id="299" r:id="rId12"/>
    <p:sldId id="301" r:id="rId13"/>
    <p:sldId id="267" r:id="rId14"/>
    <p:sldId id="346" r:id="rId15"/>
    <p:sldId id="347" r:id="rId16"/>
    <p:sldId id="348" r:id="rId17"/>
    <p:sldId id="306" r:id="rId18"/>
    <p:sldId id="325" r:id="rId19"/>
    <p:sldId id="326" r:id="rId20"/>
    <p:sldId id="327" r:id="rId21"/>
    <p:sldId id="318" r:id="rId22"/>
    <p:sldId id="332" r:id="rId23"/>
    <p:sldId id="308" r:id="rId24"/>
    <p:sldId id="333" r:id="rId25"/>
    <p:sldId id="350" r:id="rId26"/>
    <p:sldId id="351" r:id="rId27"/>
    <p:sldId id="349" r:id="rId28"/>
    <p:sldId id="334" r:id="rId29"/>
    <p:sldId id="352" r:id="rId30"/>
    <p:sldId id="335" r:id="rId31"/>
    <p:sldId id="353" r:id="rId32"/>
    <p:sldId id="337" r:id="rId33"/>
    <p:sldId id="358" r:id="rId34"/>
    <p:sldId id="354" r:id="rId35"/>
    <p:sldId id="355" r:id="rId36"/>
    <p:sldId id="307" r:id="rId37"/>
    <p:sldId id="362" r:id="rId38"/>
    <p:sldId id="363" r:id="rId39"/>
    <p:sldId id="364" r:id="rId40"/>
    <p:sldId id="356" r:id="rId41"/>
    <p:sldId id="360" r:id="rId42"/>
    <p:sldId id="338" r:id="rId43"/>
    <p:sldId id="336" r:id="rId44"/>
    <p:sldId id="339" r:id="rId45"/>
    <p:sldId id="276" r:id="rId46"/>
    <p:sldId id="365" r:id="rId47"/>
    <p:sldId id="328" r:id="rId48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4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63"/>
    <p:restoredTop sz="86377" autoAdjust="0"/>
  </p:normalViewPr>
  <p:slideViewPr>
    <p:cSldViewPr snapToGrid="0">
      <p:cViewPr varScale="1">
        <p:scale>
          <a:sx n="77" d="100"/>
          <a:sy n="77" d="100"/>
        </p:scale>
        <p:origin x="192" y="7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8744"/>
    </p:cViewPr>
  </p:outlin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032B11-932A-4B46-B936-41C94B6DA972}" type="datetimeFigureOut">
              <a:rPr lang="en-NO" smtClean="0"/>
              <a:t>9/23/24</a:t>
            </a:fld>
            <a:endParaRPr lang="en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129F9-1A90-754A-9A9B-EA1FE3CB0A0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55149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70586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2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58895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3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189344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4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776476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9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070031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11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072707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13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1116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14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433593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15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29578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16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07895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18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849552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19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08037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21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795656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22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47265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23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695600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24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944594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25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580665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26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078145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27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5412375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28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0460566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29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267322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30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361601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31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91675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32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1981612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33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075618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34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8887466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35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8423786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37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8675868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38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4189154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39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679341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40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5364997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41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0260618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42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669401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43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7624957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44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908731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129F9-1A90-754A-9A9B-EA1FE3CB0A01}" type="slidenum">
              <a:rPr lang="en-NO" smtClean="0"/>
              <a:t>47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379354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9DB7-BF07-91C0-4A24-1CA451C50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2A36D-E17A-976D-60E7-F92E43FB9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1AAB4-8D43-9367-BC8F-A09815BD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0CD27-D0AC-05EC-870E-09CAD02F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30DB7-44B5-9A57-9A76-AF90AB89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1153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1EE4-349D-A9EA-1D1F-567166540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7B966-177B-A415-B28B-CB537D64B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BF683-B61F-F50E-C16C-108C19987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DA1E0-8416-88D1-9835-604AEC577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E14E0-8A9A-7918-5780-8E2BDD24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12073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F575-7082-6EB1-2522-B7A1496C0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6550A-F6CB-B9ED-FFC7-7AB0CD65A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8EB0A-2C1F-F767-776E-E7C22C6C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E8B86-4D81-2D0A-3FF6-2CE9D92A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0B6CE-FB42-FA5D-0AF0-0B50758A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62519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B0A08-288E-CC70-6AED-F1BB2A43E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DC5C9-56CF-F087-4217-3EFBE26CF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82FF5-6AB9-C254-4B71-932A33234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E1D0D-233B-0085-57E3-334EA2AC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46B73-73DB-D44E-1531-187164AC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E3847-8F82-4210-E0EB-2C659EC54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61968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D2A9-2623-06E9-6ACF-BD61A8E7B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5527-9CF8-6B97-CCC3-304F1A08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B7CAD-FE09-A30E-0A3D-1BEEAB376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5214-E8C1-7F60-5C83-079E67366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C052B-2899-BA65-BB0A-F4D5046829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48C51F-187A-1376-0247-DAE91094F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FAA344-912D-42B5-AE0A-237108800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19AE60-0678-6116-7278-E9E0B45D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9781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42D9-AB86-4D20-4124-9A054AA59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5EC9B-42FF-BCE4-931A-203ED196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6425ED-E23D-361F-AF1F-B91B75FC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64F1E-4E0C-5135-0C12-5A71F871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41769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FA497-48B2-75E6-4D0C-697CD06A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B5CB8-D155-B3D9-AE98-32A70ABA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B5E21-FEEC-977D-A5D7-F3B18EA6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7751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73D12-2631-C1C9-88EE-24FEFB25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728C-16A6-6B9F-52DE-5B066C2F9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507D-D809-F537-B9D9-3EB94EBDC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4D714-374E-AB44-B26F-FB5B4CDC4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B8D4B-7CD4-B4F2-F5F3-D11A6643B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1BE66-49DD-A1D3-C266-40351400A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7572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7380-0936-46F9-04E7-2B03D7B11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C79776-48B1-CA2B-0190-1D85567B4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201BC-8689-EF3C-7F3B-FE8A0DE92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79AE2-A52B-83F2-CAD6-CACF77896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95125-92F9-903C-57B2-DCA4D2DD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234AF-476B-5649-050C-D835F964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16534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F694-982C-EA8E-1C62-FB45D9C4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8F654-9DF4-03A6-5B48-83B008D07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59D7C-8939-D3B4-246E-03F0F669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602F8-7A62-F36A-2556-4BA7DD7A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815D3-E331-464B-1EC9-1E9D170E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95060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FD584A-57F1-98F5-F9EE-0C75CB67F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DB37C-3782-750D-4943-C426CE8E8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D5A9D-6F3B-3AB2-7F07-5E6B3CE6E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2B3AE-46C6-5B48-AFE9-E65F077C8758}" type="datetimeFigureOut">
              <a:rPr lang="en-NO" smtClean="0"/>
              <a:t>9/23/24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87A6-63F0-2DCD-B538-13F6AE34E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F3883-F135-53B4-A6A8-2385F23E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659F-1876-244F-94C7-C028D8170284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7473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029564-F718-03F1-29A8-5F0C2286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71F45-A88B-B99E-0700-4529AD965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70F28-A20F-E567-6165-91226D15D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02B3AE-46C6-5B48-AFE9-E65F077C8758}" type="datetimeFigureOut">
              <a:rPr lang="en-NO" smtClean="0"/>
              <a:pPr/>
              <a:t>9/23/24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0F91C-348F-CF29-1525-634CBDA25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7E7A1-8508-9990-28D1-98372DDFC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A42F659F-1876-244F-94C7-C028D8170284}" type="slidenum">
              <a:rPr lang="en-NO" smtClean="0"/>
              <a:pPr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96060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b.h.aaby@ifikk.uio.n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pn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17.sv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svg"/><Relationship Id="rId4" Type="http://schemas.openxmlformats.org/officeDocument/2006/relationships/image" Target="../media/image17.sv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452EC-802E-1671-3C66-17AC3D8F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137822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kern="1200" dirty="0" err="1">
                <a:solidFill>
                  <a:schemeClr val="tx1"/>
                </a:solidFill>
                <a:ea typeface="Source Sans Pro" panose="020B0503030403020204" pitchFamily="34" charset="0"/>
              </a:rPr>
              <a:t>Evolusjonsteorien</a:t>
            </a:r>
            <a:r>
              <a:rPr lang="en-US" kern="1200" dirty="0">
                <a:solidFill>
                  <a:schemeClr val="tx1"/>
                </a:solidFill>
                <a:ea typeface="Source Sans Pro" panose="020B0503030403020204" pitchFamily="34" charset="0"/>
              </a:rPr>
              <a:t> </a:t>
            </a:r>
            <a:r>
              <a:rPr lang="en-US" kern="1200" dirty="0" err="1">
                <a:solidFill>
                  <a:schemeClr val="tx1"/>
                </a:solidFill>
                <a:ea typeface="Source Sans Pro" panose="020B0503030403020204" pitchFamily="34" charset="0"/>
              </a:rPr>
              <a:t>og</a:t>
            </a:r>
            <a:r>
              <a:rPr lang="en-US" kern="1200" dirty="0">
                <a:solidFill>
                  <a:schemeClr val="tx1"/>
                </a:solidFill>
                <a:ea typeface="Source Sans Pro" panose="020B0503030403020204" pitchFamily="34" charset="0"/>
              </a:rPr>
              <a:t> </a:t>
            </a:r>
            <a:r>
              <a:rPr lang="en-US" kern="1200" dirty="0" err="1">
                <a:solidFill>
                  <a:schemeClr val="tx1"/>
                </a:solidFill>
                <a:ea typeface="Source Sans Pro" panose="020B0503030403020204" pitchFamily="34" charset="0"/>
              </a:rPr>
              <a:t>menneskets</a:t>
            </a:r>
            <a:r>
              <a:rPr lang="en-US" kern="1200" dirty="0">
                <a:solidFill>
                  <a:schemeClr val="tx1"/>
                </a:solidFill>
                <a:ea typeface="Source Sans Pro" panose="020B0503030403020204" pitchFamily="34" charset="0"/>
              </a:rPr>
              <a:t> </a:t>
            </a:r>
            <a:r>
              <a:rPr lang="en-US" kern="1200" dirty="0" err="1">
                <a:solidFill>
                  <a:schemeClr val="tx1"/>
                </a:solidFill>
                <a:ea typeface="Source Sans Pro" panose="020B0503030403020204" pitchFamily="34" charset="0"/>
              </a:rPr>
              <a:t>plass</a:t>
            </a:r>
            <a:r>
              <a:rPr lang="en-US" kern="1200" dirty="0">
                <a:solidFill>
                  <a:schemeClr val="tx1"/>
                </a:solidFill>
                <a:ea typeface="Source Sans Pro" panose="020B0503030403020204" pitchFamily="34" charset="0"/>
              </a:rPr>
              <a:t> </a:t>
            </a:r>
            <a:r>
              <a:rPr lang="en-US" kern="1200" dirty="0" err="1">
                <a:solidFill>
                  <a:schemeClr val="tx1"/>
                </a:solidFill>
                <a:ea typeface="Source Sans Pro" panose="020B0503030403020204" pitchFamily="34" charset="0"/>
              </a:rPr>
              <a:t>i</a:t>
            </a:r>
            <a:r>
              <a:rPr lang="en-US" kern="1200" dirty="0">
                <a:solidFill>
                  <a:schemeClr val="tx1"/>
                </a:solidFill>
                <a:ea typeface="Source Sans Pro" panose="020B0503030403020204" pitchFamily="34" charset="0"/>
              </a:rPr>
              <a:t> </a:t>
            </a:r>
            <a:r>
              <a:rPr lang="en-US" kern="1200" dirty="0" err="1">
                <a:solidFill>
                  <a:schemeClr val="tx1"/>
                </a:solidFill>
                <a:ea typeface="Source Sans Pro" panose="020B0503030403020204" pitchFamily="34" charset="0"/>
              </a:rPr>
              <a:t>naturen</a:t>
            </a:r>
            <a:endParaRPr lang="en-US" kern="1200" dirty="0">
              <a:solidFill>
                <a:schemeClr val="tx1"/>
              </a:solidFill>
              <a:ea typeface="Source Sans Pro" panose="020B0503030403020204" pitchFamily="34" charset="0"/>
            </a:endParaRPr>
          </a:p>
        </p:txBody>
      </p:sp>
      <p:pic>
        <p:nvPicPr>
          <p:cNvPr id="4" name="Content Placeholder 3" descr="Bilde av menneskets evolusjon">
            <a:extLst>
              <a:ext uri="{FF2B5EF4-FFF2-40B4-BE49-F238E27FC236}">
                <a16:creationId xmlns:a16="http://schemas.microsoft.com/office/drawing/2014/main" id="{B777ACFF-B9FA-33EC-52AC-A2F85897E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809" t="3983"/>
          <a:stretch/>
        </p:blipFill>
        <p:spPr>
          <a:xfrm>
            <a:off x="1042383" y="1346200"/>
            <a:ext cx="10107234" cy="456223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2C2C23C-EC03-0E8F-4B1F-B3950336CDB2}"/>
              </a:ext>
            </a:extLst>
          </p:cNvPr>
          <p:cNvSpPr txBox="1">
            <a:spLocks/>
          </p:cNvSpPr>
          <p:nvPr/>
        </p:nvSpPr>
        <p:spPr>
          <a:xfrm>
            <a:off x="838199" y="1669312"/>
            <a:ext cx="4981731" cy="7660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NO" sz="160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Bendik Hellem Aaby</a:t>
            </a:r>
            <a:endParaRPr lang="nb-NO" sz="1600" dirty="0">
              <a:latin typeface="Helvetica" panose="020B0604020202020204" pitchFamily="34" charset="0"/>
              <a:ea typeface="Source Sans Pro" panose="020B0503030403020204" pitchFamily="34" charset="0"/>
              <a:cs typeface="Helvetica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b-NO" sz="1600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  <a:hlinkClick r:id="rId4"/>
              </a:rPr>
              <a:t>b.h.aaby@ifikk.uio.no</a:t>
            </a:r>
            <a:endParaRPr lang="nb-NO" sz="1600" dirty="0">
              <a:latin typeface="Helvetica" panose="020B0604020202020204" pitchFamily="34" charset="0"/>
              <a:ea typeface="Source Sans Pro" panose="020B0503030403020204" pitchFamily="34" charset="0"/>
              <a:cs typeface="Helvetica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b-NO" sz="1600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24. September 2024</a:t>
            </a:r>
          </a:p>
          <a:p>
            <a:pPr marL="0" indent="0">
              <a:lnSpc>
                <a:spcPct val="100000"/>
              </a:lnSpc>
              <a:buNone/>
            </a:pPr>
            <a:endParaRPr lang="en-NO" sz="1600" dirty="0">
              <a:latin typeface="Helvetica" panose="020B0604020202020204" pitchFamily="34" charset="0"/>
              <a:ea typeface="Source Sans Pro" panose="020B0503030403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56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ea typeface="Source Sans Pro" panose="020B0503030403020204" pitchFamily="34" charset="0"/>
              </a:rPr>
              <a:t>Dagens forelesning</a:t>
            </a:r>
            <a:endParaRPr lang="en-NO" dirty="0">
              <a:ea typeface="Source Sans Pro" panose="020B05030304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8B57-364D-C231-2A80-AADC16DF3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7801" cy="4351338"/>
          </a:xfrm>
        </p:spPr>
        <p:txBody>
          <a:bodyPr anchor="t"/>
          <a:lstStyle/>
          <a:p>
            <a:pPr marL="0" indent="0">
              <a:lnSpc>
                <a:spcPct val="100000"/>
              </a:lnSpc>
              <a:buNone/>
            </a:pPr>
            <a:r>
              <a:rPr lang="nb-NO" sz="1600" b="1" dirty="0">
                <a:ea typeface="Source Sans Pro" panose="020B0503030403020204" pitchFamily="34" charset="0"/>
              </a:rPr>
              <a:t>Dagens tekst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«Det Egoistiske Genet» av Richard </a:t>
            </a:r>
            <a:r>
              <a:rPr lang="nb-NO" sz="1600" dirty="0" err="1">
                <a:ea typeface="Source Sans Pro" panose="020B0503030403020204" pitchFamily="34" charset="0"/>
              </a:rPr>
              <a:t>Dawkins</a:t>
            </a:r>
            <a:endParaRPr lang="nb-NO" sz="1600" dirty="0">
              <a:ea typeface="Source Sans Pro" panose="020B05030304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600" b="1" dirty="0">
                <a:ea typeface="Source Sans Pro" panose="020B0503030403020204" pitchFamily="34" charset="0"/>
              </a:rPr>
              <a:t>Dagens spørsmål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«Er vi overlevelsesmaskiner skapt av genene våre?»</a:t>
            </a:r>
          </a:p>
          <a:p>
            <a:pPr lvl="1">
              <a:lnSpc>
                <a:spcPct val="100000"/>
              </a:lnSpc>
            </a:pPr>
            <a:endParaRPr lang="nb-NO" sz="1000" dirty="0">
              <a:ea typeface="Source Sans Pro" panose="020B05030304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600" b="1" dirty="0">
                <a:ea typeface="Source Sans Pro" panose="020B0503030403020204" pitchFamily="34" charset="0"/>
              </a:rPr>
              <a:t>Før pausen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Kort innføring i evolusjonsteori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Gjennomgang av </a:t>
            </a:r>
            <a:r>
              <a:rPr lang="nb-NO" sz="1600" dirty="0" err="1">
                <a:ea typeface="Source Sans Pro" panose="020B0503030403020204" pitchFamily="34" charset="0"/>
              </a:rPr>
              <a:t>Dawkins</a:t>
            </a:r>
            <a:r>
              <a:rPr lang="nb-NO" sz="1600" dirty="0">
                <a:ea typeface="Source Sans Pro" panose="020B0503030403020204" pitchFamily="34" charset="0"/>
              </a:rPr>
              <a:t>’ </a:t>
            </a:r>
            <a:r>
              <a:rPr lang="nb-NO" sz="1600" dirty="0" err="1">
                <a:ea typeface="Source Sans Pro" panose="020B0503030403020204" pitchFamily="34" charset="0"/>
              </a:rPr>
              <a:t>gensentrerte</a:t>
            </a:r>
            <a:r>
              <a:rPr lang="nb-NO" sz="1600" dirty="0">
                <a:ea typeface="Source Sans Pro" panose="020B0503030403020204" pitchFamily="34" charset="0"/>
              </a:rPr>
              <a:t> syn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b="1" dirty="0">
              <a:ea typeface="Source Sans Pro" panose="020B05030304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600" b="1" dirty="0">
                <a:ea typeface="Source Sans Pro" panose="020B0503030403020204" pitchFamily="34" charset="0"/>
              </a:rPr>
              <a:t>Etter pausen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Altruismeproblemet</a:t>
            </a:r>
          </a:p>
          <a:p>
            <a:pPr lvl="1">
              <a:lnSpc>
                <a:spcPct val="100000"/>
              </a:lnSpc>
            </a:pPr>
            <a:r>
              <a:rPr lang="nb-NO" sz="1600" dirty="0" err="1">
                <a:ea typeface="Source Sans Pro" panose="020B0503030403020204" pitchFamily="34" charset="0"/>
              </a:rPr>
              <a:t>Dawkins</a:t>
            </a:r>
            <a:r>
              <a:rPr lang="nb-NO" sz="1600" dirty="0">
                <a:ea typeface="Source Sans Pro" panose="020B0503030403020204" pitchFamily="34" charset="0"/>
              </a:rPr>
              <a:t>’ replikatorer og overlevelsesmaskiner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Mennesket som overlevelsesmaskin</a:t>
            </a:r>
          </a:p>
        </p:txBody>
      </p:sp>
      <p:pic>
        <p:nvPicPr>
          <p:cNvPr id="5" name="Picture 4" descr="Bilde av forsiden til Richard Dawkins sin «Det Egoistiske Genet» i en engelsk utgave.">
            <a:extLst>
              <a:ext uri="{FF2B5EF4-FFF2-40B4-BE49-F238E27FC236}">
                <a16:creationId xmlns:a16="http://schemas.microsoft.com/office/drawing/2014/main" id="{8C86E560-856C-F4F9-1E5F-87D5C88633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7023"/>
          <a:stretch/>
        </p:blipFill>
        <p:spPr>
          <a:xfrm>
            <a:off x="6096000" y="-1"/>
            <a:ext cx="6096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48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ea typeface="Source Sans Pro" panose="020B0503030403020204" pitchFamily="34" charset="0"/>
              </a:rPr>
              <a:t>De store spørsmålene</a:t>
            </a:r>
            <a:endParaRPr lang="en-NO" dirty="0">
              <a:ea typeface="Source Sans Pro" panose="020B05030304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8B57-364D-C231-2A80-AADC16DF3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852887" cy="4351338"/>
          </a:xfrm>
        </p:spPr>
        <p:txBody>
          <a:bodyPr anchor="t"/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b="1" dirty="0">
                <a:ea typeface="Source Sans Pro" panose="020B0503030403020204" pitchFamily="34" charset="0"/>
              </a:rPr>
              <a:t>Filosofi, vitenskap, og religion stiller—og forsøker å gi svar på—en rekke “store” og “dype” spørsmål: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800" b="1" dirty="0">
              <a:ea typeface="Source Sans Pro" panose="020B0503030403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nb-NO" sz="1800" dirty="0">
                <a:ea typeface="Source Sans Pro" panose="020B0503030403020204" pitchFamily="34" charset="0"/>
              </a:rPr>
              <a:t>Hvor kommer vi fra? Hva er vår opprinnelse?</a:t>
            </a:r>
          </a:p>
          <a:p>
            <a:pPr lvl="1">
              <a:lnSpc>
                <a:spcPct val="100000"/>
              </a:lnSpc>
            </a:pPr>
            <a:r>
              <a:rPr lang="nb-NO" sz="1800" dirty="0">
                <a:ea typeface="Source Sans Pro" panose="020B0503030403020204" pitchFamily="34" charset="0"/>
              </a:rPr>
              <a:t>Hva er mennesket? </a:t>
            </a:r>
          </a:p>
          <a:p>
            <a:pPr lvl="1">
              <a:lnSpc>
                <a:spcPct val="100000"/>
              </a:lnSpc>
            </a:pPr>
            <a:r>
              <a:rPr lang="nb-NO" sz="1800" dirty="0">
                <a:ea typeface="Source Sans Pro" panose="020B0503030403020204" pitchFamily="34" charset="0"/>
              </a:rPr>
              <a:t>Hvorfor er vi til? Hva er meningen med livet? (Hvis det i det hele tatt er noen?)</a:t>
            </a:r>
          </a:p>
          <a:p>
            <a:pPr lvl="1">
              <a:lnSpc>
                <a:spcPct val="100000"/>
              </a:lnSpc>
            </a:pPr>
            <a:endParaRPr lang="nb-NO" sz="1800" dirty="0">
              <a:ea typeface="Source Sans Pro" panose="020B05030304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>
                <a:ea typeface="Source Sans Pro" panose="020B0503030403020204" pitchFamily="34" charset="0"/>
              </a:rPr>
              <a:t>I dag skal vi se hva slags svar evolusjonsbiologien kan gi på slike spørsmål</a:t>
            </a:r>
          </a:p>
          <a:p>
            <a:pPr lvl="1">
              <a:lnSpc>
                <a:spcPct val="100000"/>
              </a:lnSpc>
            </a:pPr>
            <a:endParaRPr lang="nb-NO" sz="1800" dirty="0">
              <a:ea typeface="Source Sans Pro" panose="020B0503030403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nb-NO" sz="1800" dirty="0">
                <a:ea typeface="Source Sans Pro" panose="020B0503030403020204" pitchFamily="34" charset="0"/>
              </a:rPr>
              <a:t>I hvert fall ifølge Richard </a:t>
            </a:r>
            <a:r>
              <a:rPr lang="nb-NO" sz="1800" dirty="0" err="1">
                <a:ea typeface="Source Sans Pro" panose="020B0503030403020204" pitchFamily="34" charset="0"/>
              </a:rPr>
              <a:t>Dawkins</a:t>
            </a:r>
            <a:r>
              <a:rPr lang="nb-NO" sz="1800" dirty="0">
                <a:ea typeface="Source Sans Pro" panose="020B0503030403020204" pitchFamily="34" charset="0"/>
              </a:rPr>
              <a:t>!</a:t>
            </a:r>
          </a:p>
        </p:txBody>
      </p:sp>
      <p:pic>
        <p:nvPicPr>
          <p:cNvPr id="1026" name="Picture 2" descr="Bilde av skulpturen «Tenkeren» av August Rodin">
            <a:extLst>
              <a:ext uri="{FF2B5EF4-FFF2-40B4-BE49-F238E27FC236}">
                <a16:creationId xmlns:a16="http://schemas.microsoft.com/office/drawing/2014/main" id="{D9E2D16A-E345-CF99-7328-0922D321E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254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624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 descr="Tittel: Hva er mennesket?">
            <a:extLst>
              <a:ext uri="{FF2B5EF4-FFF2-40B4-BE49-F238E27FC236}">
                <a16:creationId xmlns:a16="http://schemas.microsoft.com/office/drawing/2014/main" id="{E0818136-01BA-776C-65C0-A270E64DF11F}"/>
              </a:ext>
            </a:extLst>
          </p:cNvPr>
          <p:cNvSpPr txBox="1">
            <a:spLocks/>
          </p:cNvSpPr>
          <p:nvPr/>
        </p:nvSpPr>
        <p:spPr>
          <a:xfrm>
            <a:off x="837325" y="376667"/>
            <a:ext cx="735902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"/>
                <a:ea typeface="+mj-ea"/>
                <a:cs typeface="+mj-cs"/>
              </a:defRPr>
            </a:lvl1pPr>
          </a:lstStyle>
          <a:p>
            <a:endParaRPr lang="en-NO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887224-6B3D-5B43-4534-CBC0C802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b-NO" dirty="0"/>
              <a:t>Hva er mennesket?</a:t>
            </a:r>
            <a:endParaRPr lang="en-NO" dirty="0"/>
          </a:p>
        </p:txBody>
      </p:sp>
      <p:grpSp>
        <p:nvGrpSpPr>
          <p:cNvPr id="3" name="Gruppe 2" descr="Bilde av George G. Simpson ved siden av sitat">
            <a:extLst>
              <a:ext uri="{FF2B5EF4-FFF2-40B4-BE49-F238E27FC236}">
                <a16:creationId xmlns:a16="http://schemas.microsoft.com/office/drawing/2014/main" id="{09888DA7-F83C-F878-039B-3A443307B103}"/>
              </a:ext>
            </a:extLst>
          </p:cNvPr>
          <p:cNvGrpSpPr/>
          <p:nvPr/>
        </p:nvGrpSpPr>
        <p:grpSpPr>
          <a:xfrm>
            <a:off x="838200" y="2125980"/>
            <a:ext cx="10840431" cy="4493852"/>
            <a:chOff x="838200" y="2125980"/>
            <a:chExt cx="10840431" cy="449385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CF678743-8EAC-2479-159D-92DC7D7E8E55}"/>
                </a:ext>
              </a:extLst>
            </p:cNvPr>
            <p:cNvSpPr/>
            <p:nvPr/>
          </p:nvSpPr>
          <p:spPr>
            <a:xfrm>
              <a:off x="838200" y="2125980"/>
              <a:ext cx="10761883" cy="34290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>
                <a:buNone/>
              </a:pPr>
              <a:endParaRPr lang="nb-NO" sz="2000" dirty="0">
                <a:solidFill>
                  <a:schemeClr val="tx1"/>
                </a:solidFill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83FA4DDD-3E29-DDA3-869F-D542CE217DB1}"/>
                </a:ext>
              </a:extLst>
            </p:cNvPr>
            <p:cNvSpPr txBox="1">
              <a:spLocks/>
            </p:cNvSpPr>
            <p:nvPr/>
          </p:nvSpPr>
          <p:spPr>
            <a:xfrm>
              <a:off x="1234440" y="2465764"/>
              <a:ext cx="7477297" cy="28575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120"/>
                </a:spcBef>
                <a:spcAft>
                  <a:spcPts val="120"/>
                </a:spcAft>
                <a:buFont typeface="Arial" panose="020B0604020202020204" pitchFamily="34" charset="0"/>
                <a:buNone/>
              </a:pPr>
              <a:r>
                <a:rPr lang="nb-NO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Spørsmålet «hva er mennesket?» er sannsynligvis det mest dyptgripende som kan bli spurt av mennesket. Det har alltid vært sentralt i ethvert filosofisk og teologisk system […] Det jeg ønsker å understreke nå, er at alle forsøk på å besvare det spørsmålet før 1859 er verdiløse, og at vi vil være bedre stilt hvis vi overser dem fullstendig.</a:t>
              </a:r>
            </a:p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r>
                <a:rPr lang="nb-NO" sz="2000" dirty="0">
                  <a:latin typeface="Helvetica" panose="020B0604020202020204" pitchFamily="34" charset="0"/>
                  <a:cs typeface="Helvetica" panose="020B0604020202020204" pitchFamily="34" charset="0"/>
                </a:rPr>
                <a:t>   	      		           </a:t>
              </a:r>
              <a:r>
                <a:rPr lang="nb-NO" sz="20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George G. Simpson (1966, 472)</a:t>
              </a:r>
            </a:p>
          </p:txBody>
        </p:sp>
        <p:pic>
          <p:nvPicPr>
            <p:cNvPr id="15376" name="Picture 16">
              <a:extLst>
                <a:ext uri="{FF2B5EF4-FFF2-40B4-BE49-F238E27FC236}">
                  <a16:creationId xmlns:a16="http://schemas.microsoft.com/office/drawing/2014/main" id="{52AEC175-21EA-848D-4B88-87FB2FB220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9890" y="2465764"/>
              <a:ext cx="2324100" cy="2857500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kstSylinder 5">
              <a:extLst>
                <a:ext uri="{FF2B5EF4-FFF2-40B4-BE49-F238E27FC236}">
                  <a16:creationId xmlns:a16="http://schemas.microsoft.com/office/drawing/2014/main" id="{925E90E5-6AD3-5632-2643-BAFBC8BC49D2}"/>
                </a:ext>
              </a:extLst>
            </p:cNvPr>
            <p:cNvSpPr txBox="1"/>
            <p:nvPr/>
          </p:nvSpPr>
          <p:spPr>
            <a:xfrm>
              <a:off x="5769128" y="6342833"/>
              <a:ext cx="5909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Helvetica" pitchFamily="2" charset="0"/>
                </a:rPr>
                <a:t>Simpson, G. G. 1966. The Biological Nature of Man. </a:t>
              </a:r>
              <a:r>
                <a:rPr lang="en-US" sz="1200" i="1" dirty="0">
                  <a:latin typeface="Helvetica" pitchFamily="2" charset="0"/>
                </a:rPr>
                <a:t>Science,152</a:t>
              </a:r>
              <a:r>
                <a:rPr lang="en-US" sz="1200" dirty="0">
                  <a:latin typeface="Helvetica" pitchFamily="2" charset="0"/>
                </a:rPr>
                <a:t>(3721), s. 472-478.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550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03800" cy="1325563"/>
          </a:xfrm>
        </p:spPr>
        <p:txBody>
          <a:bodyPr/>
          <a:lstStyle/>
          <a:p>
            <a:r>
              <a:rPr lang="nb-NO" dirty="0">
                <a:ea typeface="Source Sans Pro" panose="020B0503030403020204" pitchFamily="34" charset="0"/>
              </a:rPr>
              <a:t>Darwin og evolusjon gjennom naturlig utvalg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46EBAD-7D6F-EF8F-C6E2-6B3875DF2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766006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nb-NO" sz="2000" b="1" dirty="0">
                <a:solidFill>
                  <a:schemeClr val="tx1"/>
                </a:solidFill>
                <a:ea typeface="Source Sans Pro" panose="020B0503030403020204" pitchFamily="34" charset="0"/>
              </a:rPr>
              <a:t>1859</a:t>
            </a:r>
          </a:p>
          <a:p>
            <a:pPr>
              <a:lnSpc>
                <a:spcPct val="100000"/>
              </a:lnSpc>
            </a:pPr>
            <a:r>
              <a:rPr lang="nb-NO" sz="1600" dirty="0">
                <a:solidFill>
                  <a:schemeClr val="tx1"/>
                </a:solidFill>
                <a:ea typeface="Source Sans Pro" panose="020B0503030403020204" pitchFamily="34" charset="0"/>
              </a:rPr>
              <a:t>Charles Darwin publiserer «Om Artenes Opprinnelse»</a:t>
            </a:r>
          </a:p>
          <a:p>
            <a:pPr marL="0" indent="0">
              <a:lnSpc>
                <a:spcPct val="100000"/>
              </a:lnSpc>
              <a:buNone/>
            </a:pPr>
            <a:endParaRPr lang="nb-NO" sz="2000" dirty="0">
              <a:solidFill>
                <a:schemeClr val="tx1"/>
              </a:solidFill>
              <a:ea typeface="Source Sans Pro" panose="020B05030304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2000" b="1" dirty="0">
                <a:solidFill>
                  <a:schemeClr val="tx1"/>
                </a:solidFill>
                <a:ea typeface="Source Sans Pro" panose="020B0503030403020204" pitchFamily="34" charset="0"/>
              </a:rPr>
              <a:t>To </a:t>
            </a:r>
            <a:r>
              <a:rPr lang="nb-NO" sz="2000" b="1" dirty="0" err="1">
                <a:solidFill>
                  <a:schemeClr val="tx1"/>
                </a:solidFill>
                <a:ea typeface="Source Sans Pro" panose="020B0503030403020204" pitchFamily="34" charset="0"/>
              </a:rPr>
              <a:t>hovedhypoteser</a:t>
            </a:r>
            <a:r>
              <a:rPr lang="nb-NO" sz="2000" b="1" dirty="0">
                <a:solidFill>
                  <a:schemeClr val="tx1"/>
                </a:solidFill>
                <a:ea typeface="Source Sans Pro" panose="020B0503030403020204" pitchFamily="34" charset="0"/>
              </a:rPr>
              <a:t>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nb-NO" sz="1600" dirty="0">
                <a:solidFill>
                  <a:schemeClr val="tx1"/>
                </a:solidFill>
                <a:ea typeface="Source Sans Pro" panose="020B0503030403020204" pitchFamily="34" charset="0"/>
              </a:rPr>
              <a:t>Gradvis evolusjon fra felles opphav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nb-NO" sz="1600" dirty="0">
                <a:solidFill>
                  <a:schemeClr val="tx1"/>
                </a:solidFill>
                <a:ea typeface="Source Sans Pro" panose="020B0503030403020204" pitchFamily="34" charset="0"/>
              </a:rPr>
              <a:t>Naturlig utvalg er mekanismen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endParaRPr lang="nb-NO" sz="1800" dirty="0">
              <a:ea typeface="Source Sans Pro" panose="020B05030304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2000" b="1" dirty="0">
                <a:ea typeface="Source Sans Pro" panose="020B0503030403020204" pitchFamily="34" charset="0"/>
              </a:rPr>
              <a:t>Hvorfor er denne teorien så viktig?</a:t>
            </a:r>
            <a:endParaRPr lang="nb-NO" sz="2000" b="1" dirty="0">
              <a:solidFill>
                <a:schemeClr val="tx1"/>
              </a:solidFill>
              <a:ea typeface="Source Sans Pro" panose="020B0503030403020204" pitchFamily="34" charset="0"/>
            </a:endParaRPr>
          </a:p>
          <a:p>
            <a:r>
              <a:rPr lang="nb-NO" sz="1600" dirty="0">
                <a:ea typeface="Source Sans Pro" panose="020B0503030403020204" pitchFamily="34" charset="0"/>
              </a:rPr>
              <a:t>Den forklarer hvordan organismer utvikler seg og handler etter en </a:t>
            </a:r>
            <a:r>
              <a:rPr lang="nb-NO" sz="1600" b="1" dirty="0">
                <a:ea typeface="Source Sans Pro" panose="020B0503030403020204" pitchFamily="34" charset="0"/>
              </a:rPr>
              <a:t>hensikt/ målrettet</a:t>
            </a:r>
            <a:r>
              <a:rPr lang="nb-NO" sz="1600" dirty="0">
                <a:ea typeface="Source Sans Pro" panose="020B0503030403020204" pitchFamily="34" charset="0"/>
              </a:rPr>
              <a:t> gjennom en blind og tilfeldig prosess—</a:t>
            </a:r>
            <a:r>
              <a:rPr lang="nb-NO" sz="1600" b="1" dirty="0">
                <a:ea typeface="Source Sans Pro" panose="020B0503030403020204" pitchFamily="34" charset="0"/>
              </a:rPr>
              <a:t>naturlig utvalg</a:t>
            </a:r>
            <a:endParaRPr lang="nb-NO" sz="1600" dirty="0">
              <a:ea typeface="Source Sans Pro" panose="020B0503030403020204" pitchFamily="34" charset="0"/>
            </a:endParaRPr>
          </a:p>
        </p:txBody>
      </p:sp>
      <p:pic>
        <p:nvPicPr>
          <p:cNvPr id="10" name="Picture 2" descr="Biography of Charles Darwin, 19th Century Naturalist">
            <a:extLst>
              <a:ext uri="{FF2B5EF4-FFF2-40B4-BE49-F238E27FC236}">
                <a16:creationId xmlns:a16="http://schemas.microsoft.com/office/drawing/2014/main" id="{4E6DAB7A-AA24-7FAD-3DB5-7188105342F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4" t="4485" r="25416" b="6745"/>
          <a:stretch/>
        </p:blipFill>
        <p:spPr bwMode="auto">
          <a:xfrm>
            <a:off x="6096000" y="-4741"/>
            <a:ext cx="6096000" cy="6862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382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5734E33-2F37-8DBA-E18E-A0332D32131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1" y="365125"/>
            <a:ext cx="50419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To «åpenbare» observasjoner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DA84661-E432-D861-2AA6-2C115E3F6B24}"/>
              </a:ext>
            </a:extLst>
          </p:cNvPr>
          <p:cNvSpPr txBox="1">
            <a:spLocks/>
          </p:cNvSpPr>
          <p:nvPr/>
        </p:nvSpPr>
        <p:spPr>
          <a:xfrm>
            <a:off x="836680" y="1825624"/>
            <a:ext cx="4852920" cy="4498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b-NO" sz="1800" b="1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Kampen for tilværelsen</a:t>
            </a:r>
          </a:p>
          <a:p>
            <a:pPr>
              <a:lnSpc>
                <a:spcPct val="100000"/>
              </a:lnSpc>
            </a:pPr>
            <a:r>
              <a:rPr lang="nb-NO" sz="1600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Populasjoner vokser raskere enn hva den økologiske bæreevnen tillater</a:t>
            </a:r>
          </a:p>
          <a:p>
            <a:pPr>
              <a:lnSpc>
                <a:spcPct val="100000"/>
              </a:lnSpc>
            </a:pPr>
            <a:r>
              <a:rPr lang="nb-NO" sz="1600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Organismer er i en kontinuerlig konkurranse for ressurser</a:t>
            </a:r>
          </a:p>
          <a:p>
            <a:pPr>
              <a:lnSpc>
                <a:spcPct val="100000"/>
              </a:lnSpc>
            </a:pPr>
            <a:endParaRPr lang="nb-NO" sz="2000" dirty="0">
              <a:latin typeface="Helvetica" panose="020B0604020202020204" pitchFamily="34" charset="0"/>
              <a:ea typeface="Source Sans Pro" panose="020B0503030403020204" pitchFamily="34" charset="0"/>
              <a:cs typeface="Helvetica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b-NO" sz="1800" b="1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De som er gode gjør det best</a:t>
            </a:r>
          </a:p>
          <a:p>
            <a:pPr>
              <a:lnSpc>
                <a:spcPct val="100000"/>
              </a:lnSpc>
            </a:pPr>
            <a:r>
              <a:rPr lang="nb-NO" sz="1600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De som er best tilpasset etterlater seg et større antall avkom, og avkommet arver deres egenskaper</a:t>
            </a:r>
          </a:p>
          <a:p>
            <a:pPr>
              <a:lnSpc>
                <a:spcPct val="100000"/>
              </a:lnSpc>
            </a:pPr>
            <a:r>
              <a:rPr lang="nb-NO" sz="1600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«</a:t>
            </a:r>
            <a:r>
              <a:rPr lang="nb-NO" sz="1600" i="1" dirty="0" err="1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Survival</a:t>
            </a:r>
            <a:r>
              <a:rPr lang="nb-NO" sz="1600" i="1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 </a:t>
            </a:r>
            <a:r>
              <a:rPr lang="nb-NO" sz="1600" i="1" dirty="0" err="1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of</a:t>
            </a:r>
            <a:r>
              <a:rPr lang="nb-NO" sz="1600" i="1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 </a:t>
            </a:r>
            <a:r>
              <a:rPr lang="nb-NO" sz="1600" i="1" dirty="0" err="1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the</a:t>
            </a:r>
            <a:r>
              <a:rPr lang="nb-NO" sz="1600" i="1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 </a:t>
            </a:r>
            <a:r>
              <a:rPr lang="nb-NO" sz="1600" i="1" dirty="0" err="1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fittest</a:t>
            </a:r>
            <a:r>
              <a:rPr lang="nb-NO" sz="1600" dirty="0"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»</a:t>
            </a:r>
          </a:p>
        </p:txBody>
      </p:sp>
      <p:pic>
        <p:nvPicPr>
          <p:cNvPr id="9" name="Picture 4" descr="A group of hyenas&#10;&#10;Description automatically generated with medium confidence">
            <a:extLst>
              <a:ext uri="{FF2B5EF4-FFF2-40B4-BE49-F238E27FC236}">
                <a16:creationId xmlns:a16="http://schemas.microsoft.com/office/drawing/2014/main" id="{BA6D1346-759F-7C38-D000-CE18FC54A7C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/>
          <a:srcRect t="3413" r="2" b="19807"/>
          <a:stretch/>
        </p:blipFill>
        <p:spPr bwMode="auto">
          <a:xfrm>
            <a:off x="6096000" y="10"/>
            <a:ext cx="609600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13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Migrasjon fra Lilleasia til Kypros</a:t>
            </a:r>
          </a:p>
        </p:txBody>
      </p:sp>
      <p:grpSp>
        <p:nvGrpSpPr>
          <p:cNvPr id="5" name="Group 4" descr="Bilde av to par elefanter på Kyrpos en lite par og et stort par. ">
            <a:extLst>
              <a:ext uri="{FF2B5EF4-FFF2-40B4-BE49-F238E27FC236}">
                <a16:creationId xmlns:a16="http://schemas.microsoft.com/office/drawing/2014/main" id="{AC15D646-2395-737D-8524-A2E3C4D3C83C}"/>
              </a:ext>
            </a:extLst>
          </p:cNvPr>
          <p:cNvGrpSpPr/>
          <p:nvPr/>
        </p:nvGrpSpPr>
        <p:grpSpPr>
          <a:xfrm>
            <a:off x="838200" y="2170005"/>
            <a:ext cx="10766323" cy="3599028"/>
            <a:chOff x="838200" y="2170005"/>
            <a:chExt cx="10766323" cy="3599028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42FBAE6-2F58-663B-5587-E68E6A855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38200" y="2170005"/>
              <a:ext cx="10766323" cy="3599028"/>
            </a:xfrm>
            <a:prstGeom prst="rect">
              <a:avLst/>
            </a:prstGeom>
          </p:spPr>
        </p:pic>
        <p:pic>
          <p:nvPicPr>
            <p:cNvPr id="37" name="Graphic 36" descr="Elephant">
              <a:extLst>
                <a:ext uri="{FF2B5EF4-FFF2-40B4-BE49-F238E27FC236}">
                  <a16:creationId xmlns:a16="http://schemas.microsoft.com/office/drawing/2014/main" id="{3E31928A-FA33-5B98-1E47-1A13120AF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96683" y="3548867"/>
              <a:ext cx="817418" cy="817418"/>
            </a:xfrm>
            <a:prstGeom prst="rect">
              <a:avLst/>
            </a:prstGeom>
          </p:spPr>
        </p:pic>
        <p:pic>
          <p:nvPicPr>
            <p:cNvPr id="41" name="Graphic 40" descr="Elephant">
              <a:extLst>
                <a:ext uri="{FF2B5EF4-FFF2-40B4-BE49-F238E27FC236}">
                  <a16:creationId xmlns:a16="http://schemas.microsoft.com/office/drawing/2014/main" id="{E2F20A4F-DD73-2C13-B4FF-67E2FD0C9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39649" y="3767599"/>
              <a:ext cx="817418" cy="817418"/>
            </a:xfrm>
            <a:prstGeom prst="rect">
              <a:avLst/>
            </a:prstGeom>
          </p:spPr>
        </p:pic>
        <p:pic>
          <p:nvPicPr>
            <p:cNvPr id="3" name="Graphic 2" descr="Elephant">
              <a:extLst>
                <a:ext uri="{FF2B5EF4-FFF2-40B4-BE49-F238E27FC236}">
                  <a16:creationId xmlns:a16="http://schemas.microsoft.com/office/drawing/2014/main" id="{4A4EE30B-CEA1-9D97-417A-9D69BDF16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74198" y="4325415"/>
              <a:ext cx="609543" cy="609543"/>
            </a:xfrm>
            <a:prstGeom prst="rect">
              <a:avLst/>
            </a:prstGeom>
          </p:spPr>
        </p:pic>
        <p:pic>
          <p:nvPicPr>
            <p:cNvPr id="4" name="Graphic 3" descr="Elephant">
              <a:extLst>
                <a:ext uri="{FF2B5EF4-FFF2-40B4-BE49-F238E27FC236}">
                  <a16:creationId xmlns:a16="http://schemas.microsoft.com/office/drawing/2014/main" id="{6C52C605-BFA3-6204-4E08-E2BF0C2F7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70092" y="4020644"/>
              <a:ext cx="609543" cy="609543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BA1F6BD-6862-3834-F5EB-ACC9BD0775B0}"/>
              </a:ext>
            </a:extLst>
          </p:cNvPr>
          <p:cNvSpPr txBox="1"/>
          <p:nvPr/>
        </p:nvSpPr>
        <p:spPr>
          <a:xfrm>
            <a:off x="8791304" y="3121268"/>
            <a:ext cx="2698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>
                <a:latin typeface="Helvetica" panose="020B0604020202020204" pitchFamily="34" charset="0"/>
                <a:cs typeface="Helvetica" panose="020B0604020202020204" pitchFamily="34" charset="0"/>
              </a:rPr>
              <a:t>Kypros rundt 730.000 fvt</a:t>
            </a:r>
          </a:p>
          <a:p>
            <a:endParaRPr lang="en-NO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133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Den økologiske bæreevnen er nådd</a:t>
            </a:r>
          </a:p>
        </p:txBody>
      </p:sp>
      <p:grpSp>
        <p:nvGrpSpPr>
          <p:cNvPr id="34" name="Group 33" descr="Bilde av store og små elefanter som har populert hele Kypros. ">
            <a:extLst>
              <a:ext uri="{FF2B5EF4-FFF2-40B4-BE49-F238E27FC236}">
                <a16:creationId xmlns:a16="http://schemas.microsoft.com/office/drawing/2014/main" id="{CA8D9BBC-EA0C-59B4-8028-903828CCD66C}"/>
              </a:ext>
            </a:extLst>
          </p:cNvPr>
          <p:cNvGrpSpPr/>
          <p:nvPr/>
        </p:nvGrpSpPr>
        <p:grpSpPr>
          <a:xfrm>
            <a:off x="838200" y="2144684"/>
            <a:ext cx="11051638" cy="3686954"/>
            <a:chOff x="838200" y="2144684"/>
            <a:chExt cx="11051638" cy="3686954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42FBAE6-2F58-663B-5587-E68E6A855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38200" y="2144684"/>
              <a:ext cx="11029349" cy="3686954"/>
            </a:xfrm>
            <a:prstGeom prst="rect">
              <a:avLst/>
            </a:prstGeom>
          </p:spPr>
        </p:pic>
        <p:pic>
          <p:nvPicPr>
            <p:cNvPr id="37" name="Graphic 36" descr="Elephant">
              <a:extLst>
                <a:ext uri="{FF2B5EF4-FFF2-40B4-BE49-F238E27FC236}">
                  <a16:creationId xmlns:a16="http://schemas.microsoft.com/office/drawing/2014/main" id="{3E31928A-FA33-5B98-1E47-1A13120AF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03943" y="3214706"/>
              <a:ext cx="817418" cy="817418"/>
            </a:xfrm>
            <a:prstGeom prst="rect">
              <a:avLst/>
            </a:prstGeom>
          </p:spPr>
        </p:pic>
        <p:pic>
          <p:nvPicPr>
            <p:cNvPr id="38" name="Graphic 37" descr="Elephant">
              <a:extLst>
                <a:ext uri="{FF2B5EF4-FFF2-40B4-BE49-F238E27FC236}">
                  <a16:creationId xmlns:a16="http://schemas.microsoft.com/office/drawing/2014/main" id="{CF8FEF77-3BC4-6D90-8D02-589924F5E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46993" y="3574868"/>
              <a:ext cx="560371" cy="560371"/>
            </a:xfrm>
            <a:prstGeom prst="rect">
              <a:avLst/>
            </a:prstGeom>
          </p:spPr>
        </p:pic>
        <p:pic>
          <p:nvPicPr>
            <p:cNvPr id="39" name="Graphic 38" descr="Elephant">
              <a:extLst>
                <a:ext uri="{FF2B5EF4-FFF2-40B4-BE49-F238E27FC236}">
                  <a16:creationId xmlns:a16="http://schemas.microsoft.com/office/drawing/2014/main" id="{BFEDF5EB-EF3B-5A41-F6E8-2FA07B324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03181" y="3818313"/>
              <a:ext cx="817418" cy="817418"/>
            </a:xfrm>
            <a:prstGeom prst="rect">
              <a:avLst/>
            </a:prstGeom>
          </p:spPr>
        </p:pic>
        <p:pic>
          <p:nvPicPr>
            <p:cNvPr id="40" name="Graphic 39" descr="Elephant">
              <a:extLst>
                <a:ext uri="{FF2B5EF4-FFF2-40B4-BE49-F238E27FC236}">
                  <a16:creationId xmlns:a16="http://schemas.microsoft.com/office/drawing/2014/main" id="{1D72E6DC-3F0C-D589-98EF-F0C794D1D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74181" y="4173101"/>
              <a:ext cx="615657" cy="615657"/>
            </a:xfrm>
            <a:prstGeom prst="rect">
              <a:avLst/>
            </a:prstGeom>
          </p:spPr>
        </p:pic>
        <p:pic>
          <p:nvPicPr>
            <p:cNvPr id="41" name="Graphic 40" descr="Elephant">
              <a:extLst>
                <a:ext uri="{FF2B5EF4-FFF2-40B4-BE49-F238E27FC236}">
                  <a16:creationId xmlns:a16="http://schemas.microsoft.com/office/drawing/2014/main" id="{E2F20A4F-DD73-2C13-B4FF-67E2FD0C9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76639" y="3214706"/>
              <a:ext cx="817418" cy="817418"/>
            </a:xfrm>
            <a:prstGeom prst="rect">
              <a:avLst/>
            </a:prstGeom>
          </p:spPr>
        </p:pic>
        <p:pic>
          <p:nvPicPr>
            <p:cNvPr id="42" name="Graphic 41" descr="Elephant">
              <a:extLst>
                <a:ext uri="{FF2B5EF4-FFF2-40B4-BE49-F238E27FC236}">
                  <a16:creationId xmlns:a16="http://schemas.microsoft.com/office/drawing/2014/main" id="{0FD82246-713F-8DFD-6C1D-6B23BCB6A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02011" y="2962441"/>
              <a:ext cx="817418" cy="817418"/>
            </a:xfrm>
            <a:prstGeom prst="rect">
              <a:avLst/>
            </a:prstGeom>
          </p:spPr>
        </p:pic>
        <p:pic>
          <p:nvPicPr>
            <p:cNvPr id="43" name="Graphic 42" descr="Elephant">
              <a:extLst>
                <a:ext uri="{FF2B5EF4-FFF2-40B4-BE49-F238E27FC236}">
                  <a16:creationId xmlns:a16="http://schemas.microsoft.com/office/drawing/2014/main" id="{F78589C7-F0AF-82C0-4EDA-322FF69ED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42394" y="4286363"/>
              <a:ext cx="817418" cy="817418"/>
            </a:xfrm>
            <a:prstGeom prst="rect">
              <a:avLst/>
            </a:prstGeom>
          </p:spPr>
        </p:pic>
        <p:pic>
          <p:nvPicPr>
            <p:cNvPr id="3" name="Graphic 2" descr="Elephant">
              <a:extLst>
                <a:ext uri="{FF2B5EF4-FFF2-40B4-BE49-F238E27FC236}">
                  <a16:creationId xmlns:a16="http://schemas.microsoft.com/office/drawing/2014/main" id="{FF74C5EE-4277-72C8-F020-37563B2F0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96980" y="2536154"/>
              <a:ext cx="559317" cy="559317"/>
            </a:xfrm>
            <a:prstGeom prst="rect">
              <a:avLst/>
            </a:prstGeom>
          </p:spPr>
        </p:pic>
        <p:pic>
          <p:nvPicPr>
            <p:cNvPr id="5" name="Graphic 4" descr="Elephant">
              <a:extLst>
                <a:ext uri="{FF2B5EF4-FFF2-40B4-BE49-F238E27FC236}">
                  <a16:creationId xmlns:a16="http://schemas.microsoft.com/office/drawing/2014/main" id="{22D45C39-26D3-BB51-D608-751FDD805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02506" y="2962441"/>
              <a:ext cx="817418" cy="817418"/>
            </a:xfrm>
            <a:prstGeom prst="rect">
              <a:avLst/>
            </a:prstGeom>
          </p:spPr>
        </p:pic>
        <p:pic>
          <p:nvPicPr>
            <p:cNvPr id="6" name="Graphic 5" descr="Elephant">
              <a:extLst>
                <a:ext uri="{FF2B5EF4-FFF2-40B4-BE49-F238E27FC236}">
                  <a16:creationId xmlns:a16="http://schemas.microsoft.com/office/drawing/2014/main" id="{1E92D625-97E7-EDEB-E00A-FFC88A56C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78665" y="3532188"/>
              <a:ext cx="505967" cy="505967"/>
            </a:xfrm>
            <a:prstGeom prst="rect">
              <a:avLst/>
            </a:prstGeom>
          </p:spPr>
        </p:pic>
        <p:pic>
          <p:nvPicPr>
            <p:cNvPr id="7" name="Graphic 6" descr="Elephant">
              <a:extLst>
                <a:ext uri="{FF2B5EF4-FFF2-40B4-BE49-F238E27FC236}">
                  <a16:creationId xmlns:a16="http://schemas.microsoft.com/office/drawing/2014/main" id="{C83AAA1B-3776-662C-3DE0-63631A52C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09214" y="5023770"/>
              <a:ext cx="533766" cy="533766"/>
            </a:xfrm>
            <a:prstGeom prst="rect">
              <a:avLst/>
            </a:prstGeom>
          </p:spPr>
        </p:pic>
        <p:pic>
          <p:nvPicPr>
            <p:cNvPr id="8" name="Graphic 7" descr="Elephant">
              <a:extLst>
                <a:ext uri="{FF2B5EF4-FFF2-40B4-BE49-F238E27FC236}">
                  <a16:creationId xmlns:a16="http://schemas.microsoft.com/office/drawing/2014/main" id="{FC541F9D-DB45-57A7-9D50-732562D08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5763" y="2682782"/>
              <a:ext cx="559318" cy="559318"/>
            </a:xfrm>
            <a:prstGeom prst="rect">
              <a:avLst/>
            </a:prstGeom>
          </p:spPr>
        </p:pic>
        <p:pic>
          <p:nvPicPr>
            <p:cNvPr id="9" name="Graphic 8" descr="Elephant">
              <a:extLst>
                <a:ext uri="{FF2B5EF4-FFF2-40B4-BE49-F238E27FC236}">
                  <a16:creationId xmlns:a16="http://schemas.microsoft.com/office/drawing/2014/main" id="{20D2636C-78AA-7054-7FB4-B157410B5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88753" y="3779510"/>
              <a:ext cx="550877" cy="550877"/>
            </a:xfrm>
            <a:prstGeom prst="rect">
              <a:avLst/>
            </a:prstGeom>
          </p:spPr>
        </p:pic>
        <p:pic>
          <p:nvPicPr>
            <p:cNvPr id="10" name="Graphic 9" descr="Elephant">
              <a:extLst>
                <a:ext uri="{FF2B5EF4-FFF2-40B4-BE49-F238E27FC236}">
                  <a16:creationId xmlns:a16="http://schemas.microsoft.com/office/drawing/2014/main" id="{A619D268-016D-88E1-7CA8-BD3590584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1141" y="3020291"/>
              <a:ext cx="817418" cy="817418"/>
            </a:xfrm>
            <a:prstGeom prst="rect">
              <a:avLst/>
            </a:prstGeom>
          </p:spPr>
        </p:pic>
        <p:pic>
          <p:nvPicPr>
            <p:cNvPr id="11" name="Graphic 10" descr="Elephant">
              <a:extLst>
                <a:ext uri="{FF2B5EF4-FFF2-40B4-BE49-F238E27FC236}">
                  <a16:creationId xmlns:a16="http://schemas.microsoft.com/office/drawing/2014/main" id="{12F0ADBE-47A8-5E45-4676-5D3602DC1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57069" y="3729861"/>
              <a:ext cx="817418" cy="817418"/>
            </a:xfrm>
            <a:prstGeom prst="rect">
              <a:avLst/>
            </a:prstGeom>
          </p:spPr>
        </p:pic>
        <p:pic>
          <p:nvPicPr>
            <p:cNvPr id="12" name="Graphic 11" descr="Elephant">
              <a:extLst>
                <a:ext uri="{FF2B5EF4-FFF2-40B4-BE49-F238E27FC236}">
                  <a16:creationId xmlns:a16="http://schemas.microsoft.com/office/drawing/2014/main" id="{DE62362E-1CF2-CA0B-CFA5-48E82324F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7898" y="3584363"/>
              <a:ext cx="817418" cy="817418"/>
            </a:xfrm>
            <a:prstGeom prst="rect">
              <a:avLst/>
            </a:prstGeom>
          </p:spPr>
        </p:pic>
        <p:pic>
          <p:nvPicPr>
            <p:cNvPr id="13" name="Graphic 12" descr="Elephant">
              <a:extLst>
                <a:ext uri="{FF2B5EF4-FFF2-40B4-BE49-F238E27FC236}">
                  <a16:creationId xmlns:a16="http://schemas.microsoft.com/office/drawing/2014/main" id="{61FAA8C4-5CBC-E134-0120-223CBB9CC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71977" y="3512201"/>
              <a:ext cx="817418" cy="817418"/>
            </a:xfrm>
            <a:prstGeom prst="rect">
              <a:avLst/>
            </a:prstGeom>
          </p:spPr>
        </p:pic>
        <p:pic>
          <p:nvPicPr>
            <p:cNvPr id="14" name="Graphic 13" descr="Elephant">
              <a:extLst>
                <a:ext uri="{FF2B5EF4-FFF2-40B4-BE49-F238E27FC236}">
                  <a16:creationId xmlns:a16="http://schemas.microsoft.com/office/drawing/2014/main" id="{7171A45B-D52A-C8A6-D214-5677EC90E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29000" y="3818313"/>
              <a:ext cx="817418" cy="817418"/>
            </a:xfrm>
            <a:prstGeom prst="rect">
              <a:avLst/>
            </a:prstGeom>
          </p:spPr>
        </p:pic>
        <p:pic>
          <p:nvPicPr>
            <p:cNvPr id="15" name="Graphic 14" descr="Elephant">
              <a:extLst>
                <a:ext uri="{FF2B5EF4-FFF2-40B4-BE49-F238E27FC236}">
                  <a16:creationId xmlns:a16="http://schemas.microsoft.com/office/drawing/2014/main" id="{AECA1F4B-ABA4-EE6D-06ED-D3AD3B5AE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44156" y="3903887"/>
              <a:ext cx="572876" cy="572876"/>
            </a:xfrm>
            <a:prstGeom prst="rect">
              <a:avLst/>
            </a:prstGeom>
          </p:spPr>
        </p:pic>
        <p:pic>
          <p:nvPicPr>
            <p:cNvPr id="16" name="Graphic 15" descr="Elephant">
              <a:extLst>
                <a:ext uri="{FF2B5EF4-FFF2-40B4-BE49-F238E27FC236}">
                  <a16:creationId xmlns:a16="http://schemas.microsoft.com/office/drawing/2014/main" id="{B196D5F0-F076-51EC-66B7-2B6BC78A2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10229" y="4297630"/>
              <a:ext cx="817418" cy="817418"/>
            </a:xfrm>
            <a:prstGeom prst="rect">
              <a:avLst/>
            </a:prstGeom>
          </p:spPr>
        </p:pic>
        <p:pic>
          <p:nvPicPr>
            <p:cNvPr id="17" name="Graphic 16" descr="Elephant">
              <a:extLst>
                <a:ext uri="{FF2B5EF4-FFF2-40B4-BE49-F238E27FC236}">
                  <a16:creationId xmlns:a16="http://schemas.microsoft.com/office/drawing/2014/main" id="{D40A6F0D-F019-08F6-D329-AD9DF37AA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67831" y="3347459"/>
              <a:ext cx="817418" cy="817418"/>
            </a:xfrm>
            <a:prstGeom prst="rect">
              <a:avLst/>
            </a:prstGeom>
          </p:spPr>
        </p:pic>
        <p:pic>
          <p:nvPicPr>
            <p:cNvPr id="18" name="Graphic 17" descr="Elephant">
              <a:extLst>
                <a:ext uri="{FF2B5EF4-FFF2-40B4-BE49-F238E27FC236}">
                  <a16:creationId xmlns:a16="http://schemas.microsoft.com/office/drawing/2014/main" id="{C7D01EEA-7917-79AB-38A9-EDAA3590B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8332" y="3920910"/>
              <a:ext cx="817418" cy="817418"/>
            </a:xfrm>
            <a:prstGeom prst="rect">
              <a:avLst/>
            </a:prstGeom>
          </p:spPr>
        </p:pic>
        <p:pic>
          <p:nvPicPr>
            <p:cNvPr id="19" name="Graphic 18" descr="Elephant">
              <a:extLst>
                <a:ext uri="{FF2B5EF4-FFF2-40B4-BE49-F238E27FC236}">
                  <a16:creationId xmlns:a16="http://schemas.microsoft.com/office/drawing/2014/main" id="{9A71F143-06AA-AC29-6E99-80C11091A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07538" y="4032123"/>
              <a:ext cx="623003" cy="623003"/>
            </a:xfrm>
            <a:prstGeom prst="rect">
              <a:avLst/>
            </a:prstGeom>
          </p:spPr>
        </p:pic>
        <p:pic>
          <p:nvPicPr>
            <p:cNvPr id="20" name="Graphic 19" descr="Elephant">
              <a:extLst>
                <a:ext uri="{FF2B5EF4-FFF2-40B4-BE49-F238E27FC236}">
                  <a16:creationId xmlns:a16="http://schemas.microsoft.com/office/drawing/2014/main" id="{BC7DF400-0FD2-3856-01AD-BD12493E4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27668" y="4559764"/>
              <a:ext cx="585731" cy="585731"/>
            </a:xfrm>
            <a:prstGeom prst="rect">
              <a:avLst/>
            </a:prstGeom>
          </p:spPr>
        </p:pic>
        <p:pic>
          <p:nvPicPr>
            <p:cNvPr id="21" name="Graphic 20" descr="Elephant">
              <a:extLst>
                <a:ext uri="{FF2B5EF4-FFF2-40B4-BE49-F238E27FC236}">
                  <a16:creationId xmlns:a16="http://schemas.microsoft.com/office/drawing/2014/main" id="{376933CF-7160-9724-48D8-8082E90E9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47496" y="4378228"/>
              <a:ext cx="817418" cy="817418"/>
            </a:xfrm>
            <a:prstGeom prst="rect">
              <a:avLst/>
            </a:prstGeom>
          </p:spPr>
        </p:pic>
        <p:pic>
          <p:nvPicPr>
            <p:cNvPr id="22" name="Graphic 21" descr="Elephant">
              <a:extLst>
                <a:ext uri="{FF2B5EF4-FFF2-40B4-BE49-F238E27FC236}">
                  <a16:creationId xmlns:a16="http://schemas.microsoft.com/office/drawing/2014/main" id="{2CAF060E-412A-94EB-A453-6F2978F4C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92990" y="5013760"/>
              <a:ext cx="817418" cy="817418"/>
            </a:xfrm>
            <a:prstGeom prst="rect">
              <a:avLst/>
            </a:prstGeom>
          </p:spPr>
        </p:pic>
        <p:pic>
          <p:nvPicPr>
            <p:cNvPr id="23" name="Graphic 22" descr="Elephant">
              <a:extLst>
                <a:ext uri="{FF2B5EF4-FFF2-40B4-BE49-F238E27FC236}">
                  <a16:creationId xmlns:a16="http://schemas.microsoft.com/office/drawing/2014/main" id="{1D42077F-6612-4B16-677B-BD5DF8CDB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94967" y="4939581"/>
              <a:ext cx="817418" cy="817418"/>
            </a:xfrm>
            <a:prstGeom prst="rect">
              <a:avLst/>
            </a:prstGeom>
          </p:spPr>
        </p:pic>
        <p:pic>
          <p:nvPicPr>
            <p:cNvPr id="24" name="Graphic 23" descr="Elephant">
              <a:extLst>
                <a:ext uri="{FF2B5EF4-FFF2-40B4-BE49-F238E27FC236}">
                  <a16:creationId xmlns:a16="http://schemas.microsoft.com/office/drawing/2014/main" id="{3CE8D71D-E930-7AB4-EC18-98CECB13F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74197" y="3691075"/>
              <a:ext cx="817418" cy="817418"/>
            </a:xfrm>
            <a:prstGeom prst="rect">
              <a:avLst/>
            </a:prstGeom>
          </p:spPr>
        </p:pic>
        <p:pic>
          <p:nvPicPr>
            <p:cNvPr id="25" name="Graphic 24" descr="Elephant">
              <a:extLst>
                <a:ext uri="{FF2B5EF4-FFF2-40B4-BE49-F238E27FC236}">
                  <a16:creationId xmlns:a16="http://schemas.microsoft.com/office/drawing/2014/main" id="{A75FA01B-18F9-EBBA-8BFC-6889536B6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72126" y="4430766"/>
              <a:ext cx="483792" cy="483792"/>
            </a:xfrm>
            <a:prstGeom prst="rect">
              <a:avLst/>
            </a:prstGeom>
          </p:spPr>
        </p:pic>
        <p:pic>
          <p:nvPicPr>
            <p:cNvPr id="26" name="Graphic 25" descr="Elephant">
              <a:extLst>
                <a:ext uri="{FF2B5EF4-FFF2-40B4-BE49-F238E27FC236}">
                  <a16:creationId xmlns:a16="http://schemas.microsoft.com/office/drawing/2014/main" id="{4F279412-5421-3277-66AC-5BE8ACB7F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12385" y="4786937"/>
              <a:ext cx="817418" cy="817418"/>
            </a:xfrm>
            <a:prstGeom prst="rect">
              <a:avLst/>
            </a:prstGeom>
          </p:spPr>
        </p:pic>
        <p:pic>
          <p:nvPicPr>
            <p:cNvPr id="27" name="Graphic 26" descr="Elephant">
              <a:extLst>
                <a:ext uri="{FF2B5EF4-FFF2-40B4-BE49-F238E27FC236}">
                  <a16:creationId xmlns:a16="http://schemas.microsoft.com/office/drawing/2014/main" id="{F738D97B-CE60-DADA-5AC7-5D24A4F6D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82176" y="3646240"/>
              <a:ext cx="817418" cy="817418"/>
            </a:xfrm>
            <a:prstGeom prst="rect">
              <a:avLst/>
            </a:prstGeom>
          </p:spPr>
        </p:pic>
        <p:pic>
          <p:nvPicPr>
            <p:cNvPr id="28" name="Graphic 27" descr="Elephant">
              <a:extLst>
                <a:ext uri="{FF2B5EF4-FFF2-40B4-BE49-F238E27FC236}">
                  <a16:creationId xmlns:a16="http://schemas.microsoft.com/office/drawing/2014/main" id="{60663C7B-8056-2C6E-A1C7-2FB45FD6B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84277" y="4293964"/>
              <a:ext cx="612291" cy="612291"/>
            </a:xfrm>
            <a:prstGeom prst="rect">
              <a:avLst/>
            </a:prstGeom>
          </p:spPr>
        </p:pic>
        <p:pic>
          <p:nvPicPr>
            <p:cNvPr id="29" name="Graphic 28" descr="Elephant">
              <a:extLst>
                <a:ext uri="{FF2B5EF4-FFF2-40B4-BE49-F238E27FC236}">
                  <a16:creationId xmlns:a16="http://schemas.microsoft.com/office/drawing/2014/main" id="{2C6423EB-72B2-34DA-5721-8490DCF82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31839" y="4707725"/>
              <a:ext cx="817418" cy="817418"/>
            </a:xfrm>
            <a:prstGeom prst="rect">
              <a:avLst/>
            </a:prstGeom>
          </p:spPr>
        </p:pic>
        <p:pic>
          <p:nvPicPr>
            <p:cNvPr id="30" name="Graphic 29" descr="Elephant">
              <a:extLst>
                <a:ext uri="{FF2B5EF4-FFF2-40B4-BE49-F238E27FC236}">
                  <a16:creationId xmlns:a16="http://schemas.microsoft.com/office/drawing/2014/main" id="{F487216A-5524-3A08-9A10-CBA3C0C8F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31208" y="4072552"/>
              <a:ext cx="817418" cy="817418"/>
            </a:xfrm>
            <a:prstGeom prst="rect">
              <a:avLst/>
            </a:prstGeom>
          </p:spPr>
        </p:pic>
        <p:pic>
          <p:nvPicPr>
            <p:cNvPr id="32" name="Graphic 31" descr="Elephant">
              <a:extLst>
                <a:ext uri="{FF2B5EF4-FFF2-40B4-BE49-F238E27FC236}">
                  <a16:creationId xmlns:a16="http://schemas.microsoft.com/office/drawing/2014/main" id="{98608E97-0052-21E4-135E-DF34B22E7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82398" y="4581810"/>
              <a:ext cx="817418" cy="817418"/>
            </a:xfrm>
            <a:prstGeom prst="rect">
              <a:avLst/>
            </a:prstGeom>
          </p:spPr>
        </p:pic>
        <p:pic>
          <p:nvPicPr>
            <p:cNvPr id="33" name="Graphic 32" descr="Elephant">
              <a:extLst>
                <a:ext uri="{FF2B5EF4-FFF2-40B4-BE49-F238E27FC236}">
                  <a16:creationId xmlns:a16="http://schemas.microsoft.com/office/drawing/2014/main" id="{7CD6085C-15E6-9138-0ECF-98D585BFB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49013" y="4635731"/>
              <a:ext cx="817418" cy="817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785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Kampen for tilværelsen begynner</a:t>
            </a:r>
          </a:p>
        </p:txBody>
      </p:sp>
      <p:grpSp>
        <p:nvGrpSpPr>
          <p:cNvPr id="4" name="Group 3" descr="Bilde av elefantene på Kypros hvor små elefanter er markert grønne og store elefanter er markert rød for å markere fordelen med å være liten på en øy. ">
            <a:extLst>
              <a:ext uri="{FF2B5EF4-FFF2-40B4-BE49-F238E27FC236}">
                <a16:creationId xmlns:a16="http://schemas.microsoft.com/office/drawing/2014/main" id="{4691E990-3D74-71A7-F82D-CC0ABADFAD0C}"/>
              </a:ext>
            </a:extLst>
          </p:cNvPr>
          <p:cNvGrpSpPr/>
          <p:nvPr/>
        </p:nvGrpSpPr>
        <p:grpSpPr>
          <a:xfrm>
            <a:off x="838200" y="2144684"/>
            <a:ext cx="11051638" cy="3686954"/>
            <a:chOff x="838200" y="2144684"/>
            <a:chExt cx="11051638" cy="3686954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42FBAE6-2F58-663B-5587-E68E6A855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38200" y="2144684"/>
              <a:ext cx="11029349" cy="3686954"/>
            </a:xfrm>
            <a:prstGeom prst="rect">
              <a:avLst/>
            </a:prstGeom>
          </p:spPr>
        </p:pic>
        <p:pic>
          <p:nvPicPr>
            <p:cNvPr id="37" name="Graphic 36" descr="Elephant">
              <a:extLst>
                <a:ext uri="{FF2B5EF4-FFF2-40B4-BE49-F238E27FC236}">
                  <a16:creationId xmlns:a16="http://schemas.microsoft.com/office/drawing/2014/main" id="{3E31928A-FA33-5B98-1E47-1A13120AF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03943" y="3214706"/>
              <a:ext cx="817418" cy="817418"/>
            </a:xfrm>
            <a:prstGeom prst="rect">
              <a:avLst/>
            </a:prstGeom>
          </p:spPr>
        </p:pic>
        <p:pic>
          <p:nvPicPr>
            <p:cNvPr id="38" name="Graphic 37" descr="Elephant">
              <a:extLst>
                <a:ext uri="{FF2B5EF4-FFF2-40B4-BE49-F238E27FC236}">
                  <a16:creationId xmlns:a16="http://schemas.microsoft.com/office/drawing/2014/main" id="{CF8FEF77-3BC4-6D90-8D02-589924F5E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46993" y="3574868"/>
              <a:ext cx="560371" cy="560371"/>
            </a:xfrm>
            <a:prstGeom prst="rect">
              <a:avLst/>
            </a:prstGeom>
          </p:spPr>
        </p:pic>
        <p:pic>
          <p:nvPicPr>
            <p:cNvPr id="39" name="Graphic 38" descr="Elephant">
              <a:extLst>
                <a:ext uri="{FF2B5EF4-FFF2-40B4-BE49-F238E27FC236}">
                  <a16:creationId xmlns:a16="http://schemas.microsoft.com/office/drawing/2014/main" id="{BFEDF5EB-EF3B-5A41-F6E8-2FA07B324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03181" y="3818313"/>
              <a:ext cx="817418" cy="817418"/>
            </a:xfrm>
            <a:prstGeom prst="rect">
              <a:avLst/>
            </a:prstGeom>
          </p:spPr>
        </p:pic>
        <p:pic>
          <p:nvPicPr>
            <p:cNvPr id="40" name="Graphic 39" descr="Elephant">
              <a:extLst>
                <a:ext uri="{FF2B5EF4-FFF2-40B4-BE49-F238E27FC236}">
                  <a16:creationId xmlns:a16="http://schemas.microsoft.com/office/drawing/2014/main" id="{1D72E6DC-3F0C-D589-98EF-F0C794D1D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74181" y="4173101"/>
              <a:ext cx="615657" cy="615657"/>
            </a:xfrm>
            <a:prstGeom prst="rect">
              <a:avLst/>
            </a:prstGeom>
          </p:spPr>
        </p:pic>
        <p:pic>
          <p:nvPicPr>
            <p:cNvPr id="41" name="Graphic 40" descr="Elephant">
              <a:extLst>
                <a:ext uri="{FF2B5EF4-FFF2-40B4-BE49-F238E27FC236}">
                  <a16:creationId xmlns:a16="http://schemas.microsoft.com/office/drawing/2014/main" id="{E2F20A4F-DD73-2C13-B4FF-67E2FD0C9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76639" y="3214706"/>
              <a:ext cx="817418" cy="817418"/>
            </a:xfrm>
            <a:prstGeom prst="rect">
              <a:avLst/>
            </a:prstGeom>
          </p:spPr>
        </p:pic>
        <p:pic>
          <p:nvPicPr>
            <p:cNvPr id="42" name="Graphic 41" descr="Elephant">
              <a:extLst>
                <a:ext uri="{FF2B5EF4-FFF2-40B4-BE49-F238E27FC236}">
                  <a16:creationId xmlns:a16="http://schemas.microsoft.com/office/drawing/2014/main" id="{0FD82246-713F-8DFD-6C1D-6B23BCB6A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02011" y="2962441"/>
              <a:ext cx="817418" cy="817418"/>
            </a:xfrm>
            <a:prstGeom prst="rect">
              <a:avLst/>
            </a:prstGeom>
          </p:spPr>
        </p:pic>
        <p:pic>
          <p:nvPicPr>
            <p:cNvPr id="43" name="Graphic 42" descr="Elephant">
              <a:extLst>
                <a:ext uri="{FF2B5EF4-FFF2-40B4-BE49-F238E27FC236}">
                  <a16:creationId xmlns:a16="http://schemas.microsoft.com/office/drawing/2014/main" id="{F78589C7-F0AF-82C0-4EDA-322FF69ED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42394" y="4286363"/>
              <a:ext cx="817418" cy="817418"/>
            </a:xfrm>
            <a:prstGeom prst="rect">
              <a:avLst/>
            </a:prstGeom>
          </p:spPr>
        </p:pic>
        <p:pic>
          <p:nvPicPr>
            <p:cNvPr id="3" name="Graphic 2" descr="Elephant">
              <a:extLst>
                <a:ext uri="{FF2B5EF4-FFF2-40B4-BE49-F238E27FC236}">
                  <a16:creationId xmlns:a16="http://schemas.microsoft.com/office/drawing/2014/main" id="{FF74C5EE-4277-72C8-F020-37563B2F0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96980" y="2536154"/>
              <a:ext cx="559317" cy="559317"/>
            </a:xfrm>
            <a:prstGeom prst="rect">
              <a:avLst/>
            </a:prstGeom>
          </p:spPr>
        </p:pic>
        <p:pic>
          <p:nvPicPr>
            <p:cNvPr id="5" name="Graphic 4" descr="Elephant">
              <a:extLst>
                <a:ext uri="{FF2B5EF4-FFF2-40B4-BE49-F238E27FC236}">
                  <a16:creationId xmlns:a16="http://schemas.microsoft.com/office/drawing/2014/main" id="{22D45C39-26D3-BB51-D608-751FDD805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02506" y="2962441"/>
              <a:ext cx="817418" cy="817418"/>
            </a:xfrm>
            <a:prstGeom prst="rect">
              <a:avLst/>
            </a:prstGeom>
          </p:spPr>
        </p:pic>
        <p:pic>
          <p:nvPicPr>
            <p:cNvPr id="6" name="Graphic 5" descr="Elephant">
              <a:extLst>
                <a:ext uri="{FF2B5EF4-FFF2-40B4-BE49-F238E27FC236}">
                  <a16:creationId xmlns:a16="http://schemas.microsoft.com/office/drawing/2014/main" id="{1E92D625-97E7-EDEB-E00A-FFC88A56C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78665" y="3532188"/>
              <a:ext cx="505967" cy="505967"/>
            </a:xfrm>
            <a:prstGeom prst="rect">
              <a:avLst/>
            </a:prstGeom>
          </p:spPr>
        </p:pic>
        <p:pic>
          <p:nvPicPr>
            <p:cNvPr id="7" name="Graphic 6" descr="Elephant">
              <a:extLst>
                <a:ext uri="{FF2B5EF4-FFF2-40B4-BE49-F238E27FC236}">
                  <a16:creationId xmlns:a16="http://schemas.microsoft.com/office/drawing/2014/main" id="{C83AAA1B-3776-662C-3DE0-63631A52C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09214" y="5023770"/>
              <a:ext cx="533766" cy="533766"/>
            </a:xfrm>
            <a:prstGeom prst="rect">
              <a:avLst/>
            </a:prstGeom>
          </p:spPr>
        </p:pic>
        <p:pic>
          <p:nvPicPr>
            <p:cNvPr id="8" name="Graphic 7" descr="Elephant">
              <a:extLst>
                <a:ext uri="{FF2B5EF4-FFF2-40B4-BE49-F238E27FC236}">
                  <a16:creationId xmlns:a16="http://schemas.microsoft.com/office/drawing/2014/main" id="{FC541F9D-DB45-57A7-9D50-732562D08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65763" y="2682782"/>
              <a:ext cx="559318" cy="559318"/>
            </a:xfrm>
            <a:prstGeom prst="rect">
              <a:avLst/>
            </a:prstGeom>
          </p:spPr>
        </p:pic>
        <p:pic>
          <p:nvPicPr>
            <p:cNvPr id="9" name="Graphic 8" descr="Elephant">
              <a:extLst>
                <a:ext uri="{FF2B5EF4-FFF2-40B4-BE49-F238E27FC236}">
                  <a16:creationId xmlns:a16="http://schemas.microsoft.com/office/drawing/2014/main" id="{20D2636C-78AA-7054-7FB4-B157410B5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88753" y="3779510"/>
              <a:ext cx="550877" cy="550877"/>
            </a:xfrm>
            <a:prstGeom prst="rect">
              <a:avLst/>
            </a:prstGeom>
          </p:spPr>
        </p:pic>
        <p:pic>
          <p:nvPicPr>
            <p:cNvPr id="10" name="Graphic 9" descr="Elephant">
              <a:extLst>
                <a:ext uri="{FF2B5EF4-FFF2-40B4-BE49-F238E27FC236}">
                  <a16:creationId xmlns:a16="http://schemas.microsoft.com/office/drawing/2014/main" id="{A619D268-016D-88E1-7CA8-BD3590584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1141" y="3020291"/>
              <a:ext cx="817418" cy="817418"/>
            </a:xfrm>
            <a:prstGeom prst="rect">
              <a:avLst/>
            </a:prstGeom>
          </p:spPr>
        </p:pic>
        <p:pic>
          <p:nvPicPr>
            <p:cNvPr id="11" name="Graphic 10" descr="Elephant">
              <a:extLst>
                <a:ext uri="{FF2B5EF4-FFF2-40B4-BE49-F238E27FC236}">
                  <a16:creationId xmlns:a16="http://schemas.microsoft.com/office/drawing/2014/main" id="{12F0ADBE-47A8-5E45-4676-5D3602DC1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40449" y="3779510"/>
              <a:ext cx="817418" cy="817418"/>
            </a:xfrm>
            <a:prstGeom prst="rect">
              <a:avLst/>
            </a:prstGeom>
          </p:spPr>
        </p:pic>
        <p:pic>
          <p:nvPicPr>
            <p:cNvPr id="12" name="Graphic 11" descr="Elephant">
              <a:extLst>
                <a:ext uri="{FF2B5EF4-FFF2-40B4-BE49-F238E27FC236}">
                  <a16:creationId xmlns:a16="http://schemas.microsoft.com/office/drawing/2014/main" id="{DE62362E-1CF2-CA0B-CFA5-48E82324F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7898" y="3584363"/>
              <a:ext cx="817418" cy="817418"/>
            </a:xfrm>
            <a:prstGeom prst="rect">
              <a:avLst/>
            </a:prstGeom>
          </p:spPr>
        </p:pic>
        <p:pic>
          <p:nvPicPr>
            <p:cNvPr id="13" name="Graphic 12" descr="Elephant">
              <a:extLst>
                <a:ext uri="{FF2B5EF4-FFF2-40B4-BE49-F238E27FC236}">
                  <a16:creationId xmlns:a16="http://schemas.microsoft.com/office/drawing/2014/main" id="{61FAA8C4-5CBC-E134-0120-223CBB9CC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71977" y="3512201"/>
              <a:ext cx="817418" cy="817418"/>
            </a:xfrm>
            <a:prstGeom prst="rect">
              <a:avLst/>
            </a:prstGeom>
          </p:spPr>
        </p:pic>
        <p:pic>
          <p:nvPicPr>
            <p:cNvPr id="14" name="Graphic 13" descr="Elephant">
              <a:extLst>
                <a:ext uri="{FF2B5EF4-FFF2-40B4-BE49-F238E27FC236}">
                  <a16:creationId xmlns:a16="http://schemas.microsoft.com/office/drawing/2014/main" id="{7171A45B-D52A-C8A6-D214-5677EC90E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29000" y="3818313"/>
              <a:ext cx="817418" cy="817418"/>
            </a:xfrm>
            <a:prstGeom prst="rect">
              <a:avLst/>
            </a:prstGeom>
          </p:spPr>
        </p:pic>
        <p:pic>
          <p:nvPicPr>
            <p:cNvPr id="15" name="Graphic 14" descr="Elephant">
              <a:extLst>
                <a:ext uri="{FF2B5EF4-FFF2-40B4-BE49-F238E27FC236}">
                  <a16:creationId xmlns:a16="http://schemas.microsoft.com/office/drawing/2014/main" id="{AECA1F4B-ABA4-EE6D-06ED-D3AD3B5AE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44156" y="3903887"/>
              <a:ext cx="572876" cy="572876"/>
            </a:xfrm>
            <a:prstGeom prst="rect">
              <a:avLst/>
            </a:prstGeom>
          </p:spPr>
        </p:pic>
        <p:pic>
          <p:nvPicPr>
            <p:cNvPr id="16" name="Graphic 15" descr="Elephant">
              <a:extLst>
                <a:ext uri="{FF2B5EF4-FFF2-40B4-BE49-F238E27FC236}">
                  <a16:creationId xmlns:a16="http://schemas.microsoft.com/office/drawing/2014/main" id="{B196D5F0-F076-51EC-66B7-2B6BC78A2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0229" y="4297630"/>
              <a:ext cx="817418" cy="817418"/>
            </a:xfrm>
            <a:prstGeom prst="rect">
              <a:avLst/>
            </a:prstGeom>
          </p:spPr>
        </p:pic>
        <p:pic>
          <p:nvPicPr>
            <p:cNvPr id="17" name="Graphic 16" descr="Elephant">
              <a:extLst>
                <a:ext uri="{FF2B5EF4-FFF2-40B4-BE49-F238E27FC236}">
                  <a16:creationId xmlns:a16="http://schemas.microsoft.com/office/drawing/2014/main" id="{D40A6F0D-F019-08F6-D329-AD9DF37AA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7831" y="3347459"/>
              <a:ext cx="817418" cy="817418"/>
            </a:xfrm>
            <a:prstGeom prst="rect">
              <a:avLst/>
            </a:prstGeom>
          </p:spPr>
        </p:pic>
        <p:pic>
          <p:nvPicPr>
            <p:cNvPr id="18" name="Graphic 17" descr="Elephant">
              <a:extLst>
                <a:ext uri="{FF2B5EF4-FFF2-40B4-BE49-F238E27FC236}">
                  <a16:creationId xmlns:a16="http://schemas.microsoft.com/office/drawing/2014/main" id="{C7D01EEA-7917-79AB-38A9-EDAA3590B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8332" y="3920910"/>
              <a:ext cx="817418" cy="817418"/>
            </a:xfrm>
            <a:prstGeom prst="rect">
              <a:avLst/>
            </a:prstGeom>
          </p:spPr>
        </p:pic>
        <p:pic>
          <p:nvPicPr>
            <p:cNvPr id="19" name="Graphic 18" descr="Elephant">
              <a:extLst>
                <a:ext uri="{FF2B5EF4-FFF2-40B4-BE49-F238E27FC236}">
                  <a16:creationId xmlns:a16="http://schemas.microsoft.com/office/drawing/2014/main" id="{9A71F143-06AA-AC29-6E99-80C11091A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44114" y="3949827"/>
              <a:ext cx="623003" cy="623003"/>
            </a:xfrm>
            <a:prstGeom prst="rect">
              <a:avLst/>
            </a:prstGeom>
          </p:spPr>
        </p:pic>
        <p:pic>
          <p:nvPicPr>
            <p:cNvPr id="20" name="Graphic 19" descr="Elephant">
              <a:extLst>
                <a:ext uri="{FF2B5EF4-FFF2-40B4-BE49-F238E27FC236}">
                  <a16:creationId xmlns:a16="http://schemas.microsoft.com/office/drawing/2014/main" id="{BC7DF400-0FD2-3856-01AD-BD12493E4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27668" y="4559764"/>
              <a:ext cx="585731" cy="585731"/>
            </a:xfrm>
            <a:prstGeom prst="rect">
              <a:avLst/>
            </a:prstGeom>
          </p:spPr>
        </p:pic>
        <p:pic>
          <p:nvPicPr>
            <p:cNvPr id="21" name="Graphic 20" descr="Elephant">
              <a:extLst>
                <a:ext uri="{FF2B5EF4-FFF2-40B4-BE49-F238E27FC236}">
                  <a16:creationId xmlns:a16="http://schemas.microsoft.com/office/drawing/2014/main" id="{376933CF-7160-9724-48D8-8082E90E9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47496" y="4378228"/>
              <a:ext cx="817418" cy="817418"/>
            </a:xfrm>
            <a:prstGeom prst="rect">
              <a:avLst/>
            </a:prstGeom>
          </p:spPr>
        </p:pic>
        <p:pic>
          <p:nvPicPr>
            <p:cNvPr id="22" name="Graphic 21" descr="Elephant">
              <a:extLst>
                <a:ext uri="{FF2B5EF4-FFF2-40B4-BE49-F238E27FC236}">
                  <a16:creationId xmlns:a16="http://schemas.microsoft.com/office/drawing/2014/main" id="{2CAF060E-412A-94EB-A453-6F2978F4C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92990" y="5013760"/>
              <a:ext cx="817418" cy="817418"/>
            </a:xfrm>
            <a:prstGeom prst="rect">
              <a:avLst/>
            </a:prstGeom>
          </p:spPr>
        </p:pic>
        <p:pic>
          <p:nvPicPr>
            <p:cNvPr id="23" name="Graphic 22" descr="Elephant">
              <a:extLst>
                <a:ext uri="{FF2B5EF4-FFF2-40B4-BE49-F238E27FC236}">
                  <a16:creationId xmlns:a16="http://schemas.microsoft.com/office/drawing/2014/main" id="{1D42077F-6612-4B16-677B-BD5DF8CDB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94967" y="4939581"/>
              <a:ext cx="817418" cy="817418"/>
            </a:xfrm>
            <a:prstGeom prst="rect">
              <a:avLst/>
            </a:prstGeom>
          </p:spPr>
        </p:pic>
        <p:pic>
          <p:nvPicPr>
            <p:cNvPr id="24" name="Graphic 23" descr="Elephant">
              <a:extLst>
                <a:ext uri="{FF2B5EF4-FFF2-40B4-BE49-F238E27FC236}">
                  <a16:creationId xmlns:a16="http://schemas.microsoft.com/office/drawing/2014/main" id="{3CE8D71D-E930-7AB4-EC18-98CECB13F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74197" y="3691075"/>
              <a:ext cx="817418" cy="817418"/>
            </a:xfrm>
            <a:prstGeom prst="rect">
              <a:avLst/>
            </a:prstGeom>
          </p:spPr>
        </p:pic>
        <p:pic>
          <p:nvPicPr>
            <p:cNvPr id="25" name="Graphic 24" descr="Elephant">
              <a:extLst>
                <a:ext uri="{FF2B5EF4-FFF2-40B4-BE49-F238E27FC236}">
                  <a16:creationId xmlns:a16="http://schemas.microsoft.com/office/drawing/2014/main" id="{A75FA01B-18F9-EBBA-8BFC-6889536B6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72126" y="4430766"/>
              <a:ext cx="483792" cy="483792"/>
            </a:xfrm>
            <a:prstGeom prst="rect">
              <a:avLst/>
            </a:prstGeom>
          </p:spPr>
        </p:pic>
        <p:pic>
          <p:nvPicPr>
            <p:cNvPr id="26" name="Graphic 25" descr="Elephant">
              <a:extLst>
                <a:ext uri="{FF2B5EF4-FFF2-40B4-BE49-F238E27FC236}">
                  <a16:creationId xmlns:a16="http://schemas.microsoft.com/office/drawing/2014/main" id="{4F279412-5421-3277-66AC-5BE8ACB7F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2385" y="4786937"/>
              <a:ext cx="817418" cy="817418"/>
            </a:xfrm>
            <a:prstGeom prst="rect">
              <a:avLst/>
            </a:prstGeom>
          </p:spPr>
        </p:pic>
        <p:pic>
          <p:nvPicPr>
            <p:cNvPr id="27" name="Graphic 26" descr="Elephant">
              <a:extLst>
                <a:ext uri="{FF2B5EF4-FFF2-40B4-BE49-F238E27FC236}">
                  <a16:creationId xmlns:a16="http://schemas.microsoft.com/office/drawing/2014/main" id="{F738D97B-CE60-DADA-5AC7-5D24A4F6D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82176" y="3646240"/>
              <a:ext cx="817418" cy="817418"/>
            </a:xfrm>
            <a:prstGeom prst="rect">
              <a:avLst/>
            </a:prstGeom>
          </p:spPr>
        </p:pic>
        <p:pic>
          <p:nvPicPr>
            <p:cNvPr id="28" name="Graphic 27" descr="Elephant">
              <a:extLst>
                <a:ext uri="{FF2B5EF4-FFF2-40B4-BE49-F238E27FC236}">
                  <a16:creationId xmlns:a16="http://schemas.microsoft.com/office/drawing/2014/main" id="{60663C7B-8056-2C6E-A1C7-2FB45FD6B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84277" y="4293964"/>
              <a:ext cx="612291" cy="612291"/>
            </a:xfrm>
            <a:prstGeom prst="rect">
              <a:avLst/>
            </a:prstGeom>
          </p:spPr>
        </p:pic>
        <p:pic>
          <p:nvPicPr>
            <p:cNvPr id="29" name="Graphic 28" descr="Elephant">
              <a:extLst>
                <a:ext uri="{FF2B5EF4-FFF2-40B4-BE49-F238E27FC236}">
                  <a16:creationId xmlns:a16="http://schemas.microsoft.com/office/drawing/2014/main" id="{2C6423EB-72B2-34DA-5721-8490DCF82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31839" y="4707725"/>
              <a:ext cx="817418" cy="817418"/>
            </a:xfrm>
            <a:prstGeom prst="rect">
              <a:avLst/>
            </a:prstGeom>
          </p:spPr>
        </p:pic>
        <p:pic>
          <p:nvPicPr>
            <p:cNvPr id="30" name="Graphic 29" descr="Elephant">
              <a:extLst>
                <a:ext uri="{FF2B5EF4-FFF2-40B4-BE49-F238E27FC236}">
                  <a16:creationId xmlns:a16="http://schemas.microsoft.com/office/drawing/2014/main" id="{F487216A-5524-3A08-9A10-CBA3C0C8F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31208" y="4072552"/>
              <a:ext cx="817418" cy="817418"/>
            </a:xfrm>
            <a:prstGeom prst="rect">
              <a:avLst/>
            </a:prstGeom>
          </p:spPr>
        </p:pic>
        <p:pic>
          <p:nvPicPr>
            <p:cNvPr id="32" name="Graphic 31" descr="Elephant">
              <a:extLst>
                <a:ext uri="{FF2B5EF4-FFF2-40B4-BE49-F238E27FC236}">
                  <a16:creationId xmlns:a16="http://schemas.microsoft.com/office/drawing/2014/main" id="{98608E97-0052-21E4-135E-DF34B22E7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882398" y="4581810"/>
              <a:ext cx="817418" cy="817418"/>
            </a:xfrm>
            <a:prstGeom prst="rect">
              <a:avLst/>
            </a:prstGeom>
          </p:spPr>
        </p:pic>
        <p:pic>
          <p:nvPicPr>
            <p:cNvPr id="33" name="Graphic 32" descr="Elephant">
              <a:extLst>
                <a:ext uri="{FF2B5EF4-FFF2-40B4-BE49-F238E27FC236}">
                  <a16:creationId xmlns:a16="http://schemas.microsoft.com/office/drawing/2014/main" id="{7CD6085C-15E6-9138-0ECF-98D585BFB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49013" y="4635731"/>
              <a:ext cx="817418" cy="817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1469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Direksjonelt</a:t>
            </a:r>
            <a:r>
              <a:rPr lang="nb-NO" dirty="0"/>
              <a:t> utvalg: Kroppsstørrelse</a:t>
            </a:r>
          </a:p>
        </p:txBody>
      </p:sp>
      <p:grpSp>
        <p:nvGrpSpPr>
          <p:cNvPr id="5" name="Gruppe 4" descr="Nytt bilde av Kypros hvor det fortsatt er variasjon mellom elefantene i størrelse, men ingen av de største er igjen.">
            <a:extLst>
              <a:ext uri="{FF2B5EF4-FFF2-40B4-BE49-F238E27FC236}">
                <a16:creationId xmlns:a16="http://schemas.microsoft.com/office/drawing/2014/main" id="{90E27AC9-006E-4372-7A27-6BEAA5106619}"/>
              </a:ext>
            </a:extLst>
          </p:cNvPr>
          <p:cNvGrpSpPr/>
          <p:nvPr/>
        </p:nvGrpSpPr>
        <p:grpSpPr>
          <a:xfrm>
            <a:off x="838200" y="2144684"/>
            <a:ext cx="11051638" cy="3686954"/>
            <a:chOff x="838200" y="2144684"/>
            <a:chExt cx="11051638" cy="3686954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42FBAE6-2F58-663B-5587-E68E6A855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38200" y="2144684"/>
              <a:ext cx="11029349" cy="3686954"/>
            </a:xfrm>
            <a:prstGeom prst="rect">
              <a:avLst/>
            </a:prstGeom>
          </p:spPr>
        </p:pic>
        <p:pic>
          <p:nvPicPr>
            <p:cNvPr id="38" name="Graphic 37" descr="Elephant">
              <a:extLst>
                <a:ext uri="{FF2B5EF4-FFF2-40B4-BE49-F238E27FC236}">
                  <a16:creationId xmlns:a16="http://schemas.microsoft.com/office/drawing/2014/main" id="{CF8FEF77-3BC4-6D90-8D02-589924F5E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46993" y="3574868"/>
              <a:ext cx="560371" cy="560371"/>
            </a:xfrm>
            <a:prstGeom prst="rect">
              <a:avLst/>
            </a:prstGeom>
          </p:spPr>
        </p:pic>
        <p:pic>
          <p:nvPicPr>
            <p:cNvPr id="40" name="Graphic 39" descr="Elephant">
              <a:extLst>
                <a:ext uri="{FF2B5EF4-FFF2-40B4-BE49-F238E27FC236}">
                  <a16:creationId xmlns:a16="http://schemas.microsoft.com/office/drawing/2014/main" id="{1D72E6DC-3F0C-D589-98EF-F0C794D1D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274181" y="4173101"/>
              <a:ext cx="615657" cy="615657"/>
            </a:xfrm>
            <a:prstGeom prst="rect">
              <a:avLst/>
            </a:prstGeom>
          </p:spPr>
        </p:pic>
        <p:pic>
          <p:nvPicPr>
            <p:cNvPr id="3" name="Graphic 2" descr="Elephant">
              <a:extLst>
                <a:ext uri="{FF2B5EF4-FFF2-40B4-BE49-F238E27FC236}">
                  <a16:creationId xmlns:a16="http://schemas.microsoft.com/office/drawing/2014/main" id="{FF74C5EE-4277-72C8-F020-37563B2F0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96980" y="2536154"/>
              <a:ext cx="559317" cy="559317"/>
            </a:xfrm>
            <a:prstGeom prst="rect">
              <a:avLst/>
            </a:prstGeom>
          </p:spPr>
        </p:pic>
        <p:pic>
          <p:nvPicPr>
            <p:cNvPr id="6" name="Graphic 5" descr="Elephant">
              <a:extLst>
                <a:ext uri="{FF2B5EF4-FFF2-40B4-BE49-F238E27FC236}">
                  <a16:creationId xmlns:a16="http://schemas.microsoft.com/office/drawing/2014/main" id="{1E92D625-97E7-EDEB-E00A-FFC88A56C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78665" y="3532188"/>
              <a:ext cx="505967" cy="505967"/>
            </a:xfrm>
            <a:prstGeom prst="rect">
              <a:avLst/>
            </a:prstGeom>
          </p:spPr>
        </p:pic>
        <p:pic>
          <p:nvPicPr>
            <p:cNvPr id="7" name="Graphic 6" descr="Elephant">
              <a:extLst>
                <a:ext uri="{FF2B5EF4-FFF2-40B4-BE49-F238E27FC236}">
                  <a16:creationId xmlns:a16="http://schemas.microsoft.com/office/drawing/2014/main" id="{C83AAA1B-3776-662C-3DE0-63631A52C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09214" y="5023770"/>
              <a:ext cx="533766" cy="533766"/>
            </a:xfrm>
            <a:prstGeom prst="rect">
              <a:avLst/>
            </a:prstGeom>
          </p:spPr>
        </p:pic>
        <p:pic>
          <p:nvPicPr>
            <p:cNvPr id="8" name="Graphic 7" descr="Elephant">
              <a:extLst>
                <a:ext uri="{FF2B5EF4-FFF2-40B4-BE49-F238E27FC236}">
                  <a16:creationId xmlns:a16="http://schemas.microsoft.com/office/drawing/2014/main" id="{FC541F9D-DB45-57A7-9D50-732562D08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5763" y="2682782"/>
              <a:ext cx="559318" cy="559318"/>
            </a:xfrm>
            <a:prstGeom prst="rect">
              <a:avLst/>
            </a:prstGeom>
          </p:spPr>
        </p:pic>
        <p:pic>
          <p:nvPicPr>
            <p:cNvPr id="15" name="Graphic 14" descr="Elephant">
              <a:extLst>
                <a:ext uri="{FF2B5EF4-FFF2-40B4-BE49-F238E27FC236}">
                  <a16:creationId xmlns:a16="http://schemas.microsoft.com/office/drawing/2014/main" id="{AECA1F4B-ABA4-EE6D-06ED-D3AD3B5AE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44156" y="3903887"/>
              <a:ext cx="572876" cy="572876"/>
            </a:xfrm>
            <a:prstGeom prst="rect">
              <a:avLst/>
            </a:prstGeom>
          </p:spPr>
        </p:pic>
        <p:pic>
          <p:nvPicPr>
            <p:cNvPr id="19" name="Graphic 18" descr="Elephant">
              <a:extLst>
                <a:ext uri="{FF2B5EF4-FFF2-40B4-BE49-F238E27FC236}">
                  <a16:creationId xmlns:a16="http://schemas.microsoft.com/office/drawing/2014/main" id="{9A71F143-06AA-AC29-6E99-80C11091A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07538" y="4032123"/>
              <a:ext cx="623003" cy="623003"/>
            </a:xfrm>
            <a:prstGeom prst="rect">
              <a:avLst/>
            </a:prstGeom>
          </p:spPr>
        </p:pic>
        <p:pic>
          <p:nvPicPr>
            <p:cNvPr id="20" name="Graphic 19" descr="Elephant">
              <a:extLst>
                <a:ext uri="{FF2B5EF4-FFF2-40B4-BE49-F238E27FC236}">
                  <a16:creationId xmlns:a16="http://schemas.microsoft.com/office/drawing/2014/main" id="{BC7DF400-0FD2-3856-01AD-BD12493E4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07015" y="4655126"/>
              <a:ext cx="585731" cy="585731"/>
            </a:xfrm>
            <a:prstGeom prst="rect">
              <a:avLst/>
            </a:prstGeom>
          </p:spPr>
        </p:pic>
        <p:pic>
          <p:nvPicPr>
            <p:cNvPr id="25" name="Graphic 24" descr="Elephant">
              <a:extLst>
                <a:ext uri="{FF2B5EF4-FFF2-40B4-BE49-F238E27FC236}">
                  <a16:creationId xmlns:a16="http://schemas.microsoft.com/office/drawing/2014/main" id="{A75FA01B-18F9-EBBA-8BFC-6889536B6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72126" y="4430766"/>
              <a:ext cx="483792" cy="483792"/>
            </a:xfrm>
            <a:prstGeom prst="rect">
              <a:avLst/>
            </a:prstGeom>
          </p:spPr>
        </p:pic>
        <p:pic>
          <p:nvPicPr>
            <p:cNvPr id="28" name="Graphic 27" descr="Elephant">
              <a:extLst>
                <a:ext uri="{FF2B5EF4-FFF2-40B4-BE49-F238E27FC236}">
                  <a16:creationId xmlns:a16="http://schemas.microsoft.com/office/drawing/2014/main" id="{60663C7B-8056-2C6E-A1C7-2FB45FD6B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84277" y="4293964"/>
              <a:ext cx="612291" cy="612291"/>
            </a:xfrm>
            <a:prstGeom prst="rect">
              <a:avLst/>
            </a:prstGeom>
          </p:spPr>
        </p:pic>
        <p:pic>
          <p:nvPicPr>
            <p:cNvPr id="4" name="Graphic 3" descr="Elephant">
              <a:extLst>
                <a:ext uri="{FF2B5EF4-FFF2-40B4-BE49-F238E27FC236}">
                  <a16:creationId xmlns:a16="http://schemas.microsoft.com/office/drawing/2014/main" id="{23E86F1D-27B5-07D7-AD8E-5DA11F92C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13064" y="4816256"/>
              <a:ext cx="585731" cy="585731"/>
            </a:xfrm>
            <a:prstGeom prst="rect">
              <a:avLst/>
            </a:prstGeom>
          </p:spPr>
        </p:pic>
        <p:pic>
          <p:nvPicPr>
            <p:cNvPr id="31" name="Graphic 30" descr="Elephant">
              <a:extLst>
                <a:ext uri="{FF2B5EF4-FFF2-40B4-BE49-F238E27FC236}">
                  <a16:creationId xmlns:a16="http://schemas.microsoft.com/office/drawing/2014/main" id="{CF448521-3D9B-5FD5-DF4E-6B5BF745A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69290" y="3804873"/>
              <a:ext cx="550877" cy="550877"/>
            </a:xfrm>
            <a:prstGeom prst="rect">
              <a:avLst/>
            </a:prstGeom>
          </p:spPr>
        </p:pic>
        <p:pic>
          <p:nvPicPr>
            <p:cNvPr id="34" name="Graphic 33" descr="Elephant">
              <a:extLst>
                <a:ext uri="{FF2B5EF4-FFF2-40B4-BE49-F238E27FC236}">
                  <a16:creationId xmlns:a16="http://schemas.microsoft.com/office/drawing/2014/main" id="{98611B21-15CF-66F8-C042-EB8E67CFE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94099" y="3125858"/>
              <a:ext cx="559318" cy="559318"/>
            </a:xfrm>
            <a:prstGeom prst="rect">
              <a:avLst/>
            </a:prstGeom>
          </p:spPr>
        </p:pic>
        <p:pic>
          <p:nvPicPr>
            <p:cNvPr id="44" name="Graphic 43" descr="Elephant">
              <a:extLst>
                <a:ext uri="{FF2B5EF4-FFF2-40B4-BE49-F238E27FC236}">
                  <a16:creationId xmlns:a16="http://schemas.microsoft.com/office/drawing/2014/main" id="{69F9888E-A869-2B65-E050-AED21C81B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43767" y="4886596"/>
              <a:ext cx="585731" cy="585731"/>
            </a:xfrm>
            <a:prstGeom prst="rect">
              <a:avLst/>
            </a:prstGeom>
          </p:spPr>
        </p:pic>
        <p:pic>
          <p:nvPicPr>
            <p:cNvPr id="45" name="Graphic 44" descr="Elephant">
              <a:extLst>
                <a:ext uri="{FF2B5EF4-FFF2-40B4-BE49-F238E27FC236}">
                  <a16:creationId xmlns:a16="http://schemas.microsoft.com/office/drawing/2014/main" id="{085A84C4-9B3E-B222-A6BB-106C4D193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245" y="3908798"/>
              <a:ext cx="623003" cy="623003"/>
            </a:xfrm>
            <a:prstGeom prst="rect">
              <a:avLst/>
            </a:prstGeom>
          </p:spPr>
        </p:pic>
        <p:pic>
          <p:nvPicPr>
            <p:cNvPr id="46" name="Graphic 45" descr="Elephant">
              <a:extLst>
                <a:ext uri="{FF2B5EF4-FFF2-40B4-BE49-F238E27FC236}">
                  <a16:creationId xmlns:a16="http://schemas.microsoft.com/office/drawing/2014/main" id="{59B7DCDD-253E-A4CD-5989-40276BCC0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69020" y="3760821"/>
              <a:ext cx="612291" cy="612291"/>
            </a:xfrm>
            <a:prstGeom prst="rect">
              <a:avLst/>
            </a:prstGeom>
          </p:spPr>
        </p:pic>
        <p:pic>
          <p:nvPicPr>
            <p:cNvPr id="47" name="Graphic 46" descr="Elephant">
              <a:extLst>
                <a:ext uri="{FF2B5EF4-FFF2-40B4-BE49-F238E27FC236}">
                  <a16:creationId xmlns:a16="http://schemas.microsoft.com/office/drawing/2014/main" id="{366F58E0-8C9F-DC62-FEB5-9EE471C7A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85178" y="4238935"/>
              <a:ext cx="585731" cy="585731"/>
            </a:xfrm>
            <a:prstGeom prst="rect">
              <a:avLst/>
            </a:prstGeom>
          </p:spPr>
        </p:pic>
        <p:pic>
          <p:nvPicPr>
            <p:cNvPr id="48" name="Graphic 47" descr="Elephant">
              <a:extLst>
                <a:ext uri="{FF2B5EF4-FFF2-40B4-BE49-F238E27FC236}">
                  <a16:creationId xmlns:a16="http://schemas.microsoft.com/office/drawing/2014/main" id="{0960BEFF-18DA-21F4-C4E8-FB3947334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07985" y="4190325"/>
              <a:ext cx="585731" cy="585731"/>
            </a:xfrm>
            <a:prstGeom prst="rect">
              <a:avLst/>
            </a:prstGeom>
          </p:spPr>
        </p:pic>
        <p:pic>
          <p:nvPicPr>
            <p:cNvPr id="49" name="Graphic 48" descr="Elephant">
              <a:extLst>
                <a:ext uri="{FF2B5EF4-FFF2-40B4-BE49-F238E27FC236}">
                  <a16:creationId xmlns:a16="http://schemas.microsoft.com/office/drawing/2014/main" id="{74747E97-919C-F1C3-61CE-B36B6C049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10877" y="5187267"/>
              <a:ext cx="533766" cy="533766"/>
            </a:xfrm>
            <a:prstGeom prst="rect">
              <a:avLst/>
            </a:prstGeom>
          </p:spPr>
        </p:pic>
        <p:pic>
          <p:nvPicPr>
            <p:cNvPr id="50" name="Graphic 49" descr="Elephant">
              <a:extLst>
                <a:ext uri="{FF2B5EF4-FFF2-40B4-BE49-F238E27FC236}">
                  <a16:creationId xmlns:a16="http://schemas.microsoft.com/office/drawing/2014/main" id="{DFFCEC9F-3039-5DD0-F7FB-37E23E040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16596" y="4454030"/>
              <a:ext cx="585731" cy="585731"/>
            </a:xfrm>
            <a:prstGeom prst="rect">
              <a:avLst/>
            </a:prstGeom>
          </p:spPr>
        </p:pic>
        <p:pic>
          <p:nvPicPr>
            <p:cNvPr id="51" name="Graphic 50" descr="Elephant">
              <a:extLst>
                <a:ext uri="{FF2B5EF4-FFF2-40B4-BE49-F238E27FC236}">
                  <a16:creationId xmlns:a16="http://schemas.microsoft.com/office/drawing/2014/main" id="{663F465B-0E23-1614-1739-6FDCDB6B0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296729" y="3714332"/>
              <a:ext cx="505967" cy="505967"/>
            </a:xfrm>
            <a:prstGeom prst="rect">
              <a:avLst/>
            </a:prstGeom>
          </p:spPr>
        </p:pic>
        <p:pic>
          <p:nvPicPr>
            <p:cNvPr id="52" name="Graphic 51" descr="Elephant">
              <a:extLst>
                <a:ext uri="{FF2B5EF4-FFF2-40B4-BE49-F238E27FC236}">
                  <a16:creationId xmlns:a16="http://schemas.microsoft.com/office/drawing/2014/main" id="{A9667C20-C35E-700B-A13B-818E6D918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12562" y="3474383"/>
              <a:ext cx="572876" cy="572876"/>
            </a:xfrm>
            <a:prstGeom prst="rect">
              <a:avLst/>
            </a:prstGeom>
          </p:spPr>
        </p:pic>
        <p:pic>
          <p:nvPicPr>
            <p:cNvPr id="53" name="Graphic 52" descr="Elephant">
              <a:extLst>
                <a:ext uri="{FF2B5EF4-FFF2-40B4-BE49-F238E27FC236}">
                  <a16:creationId xmlns:a16="http://schemas.microsoft.com/office/drawing/2014/main" id="{7F5F5C83-89A2-836F-A4AE-941F9B320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44777" y="3689834"/>
              <a:ext cx="585731" cy="585731"/>
            </a:xfrm>
            <a:prstGeom prst="rect">
              <a:avLst/>
            </a:prstGeom>
          </p:spPr>
        </p:pic>
        <p:pic>
          <p:nvPicPr>
            <p:cNvPr id="54" name="Graphic 53" descr="Elephant">
              <a:extLst>
                <a:ext uri="{FF2B5EF4-FFF2-40B4-BE49-F238E27FC236}">
                  <a16:creationId xmlns:a16="http://schemas.microsoft.com/office/drawing/2014/main" id="{55C0FA27-1BD8-313A-4C0D-3D8CBD89B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75550" y="3729666"/>
              <a:ext cx="550877" cy="550877"/>
            </a:xfrm>
            <a:prstGeom prst="rect">
              <a:avLst/>
            </a:prstGeom>
          </p:spPr>
        </p:pic>
        <p:pic>
          <p:nvPicPr>
            <p:cNvPr id="55" name="Graphic 54" descr="Elephant">
              <a:extLst>
                <a:ext uri="{FF2B5EF4-FFF2-40B4-BE49-F238E27FC236}">
                  <a16:creationId xmlns:a16="http://schemas.microsoft.com/office/drawing/2014/main" id="{7CF3310E-5104-6553-F298-D5CFAECE5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72934" y="3960723"/>
              <a:ext cx="550877" cy="550877"/>
            </a:xfrm>
            <a:prstGeom prst="rect">
              <a:avLst/>
            </a:prstGeom>
          </p:spPr>
        </p:pic>
        <p:pic>
          <p:nvPicPr>
            <p:cNvPr id="56" name="Graphic 55" descr="Elephant">
              <a:extLst>
                <a:ext uri="{FF2B5EF4-FFF2-40B4-BE49-F238E27FC236}">
                  <a16:creationId xmlns:a16="http://schemas.microsoft.com/office/drawing/2014/main" id="{306CF315-42E2-41DC-ECCC-3555045C4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79708" y="4780607"/>
              <a:ext cx="612291" cy="612291"/>
            </a:xfrm>
            <a:prstGeom prst="rect">
              <a:avLst/>
            </a:prstGeom>
          </p:spPr>
        </p:pic>
        <p:pic>
          <p:nvPicPr>
            <p:cNvPr id="58" name="Graphic 57" descr="Elephant">
              <a:extLst>
                <a:ext uri="{FF2B5EF4-FFF2-40B4-BE49-F238E27FC236}">
                  <a16:creationId xmlns:a16="http://schemas.microsoft.com/office/drawing/2014/main" id="{10A21E4F-EA75-0664-AD15-0F02777EE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66976" y="4873315"/>
              <a:ext cx="612291" cy="612291"/>
            </a:xfrm>
            <a:prstGeom prst="rect">
              <a:avLst/>
            </a:prstGeom>
          </p:spPr>
        </p:pic>
        <p:pic>
          <p:nvPicPr>
            <p:cNvPr id="59" name="Graphic 58" descr="Elephant">
              <a:extLst>
                <a:ext uri="{FF2B5EF4-FFF2-40B4-BE49-F238E27FC236}">
                  <a16:creationId xmlns:a16="http://schemas.microsoft.com/office/drawing/2014/main" id="{E5586864-B42A-8001-D4B8-2E3B16F26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5763" y="3665036"/>
              <a:ext cx="559318" cy="559318"/>
            </a:xfrm>
            <a:prstGeom prst="rect">
              <a:avLst/>
            </a:prstGeom>
          </p:spPr>
        </p:pic>
        <p:pic>
          <p:nvPicPr>
            <p:cNvPr id="60" name="Graphic 59" descr="Elephant">
              <a:extLst>
                <a:ext uri="{FF2B5EF4-FFF2-40B4-BE49-F238E27FC236}">
                  <a16:creationId xmlns:a16="http://schemas.microsoft.com/office/drawing/2014/main" id="{A25FC161-5174-821A-65C8-F24B61845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03677" y="3149341"/>
              <a:ext cx="559318" cy="559318"/>
            </a:xfrm>
            <a:prstGeom prst="rect">
              <a:avLst/>
            </a:prstGeom>
          </p:spPr>
        </p:pic>
        <p:pic>
          <p:nvPicPr>
            <p:cNvPr id="61" name="Graphic 60" descr="Elephant">
              <a:extLst>
                <a:ext uri="{FF2B5EF4-FFF2-40B4-BE49-F238E27FC236}">
                  <a16:creationId xmlns:a16="http://schemas.microsoft.com/office/drawing/2014/main" id="{F52C9971-5FBA-134E-4D18-9670D1D3A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92466" y="3127290"/>
              <a:ext cx="559318" cy="559318"/>
            </a:xfrm>
            <a:prstGeom prst="rect">
              <a:avLst/>
            </a:prstGeom>
          </p:spPr>
        </p:pic>
        <p:pic>
          <p:nvPicPr>
            <p:cNvPr id="62" name="Graphic 61" descr="Elephant">
              <a:extLst>
                <a:ext uri="{FF2B5EF4-FFF2-40B4-BE49-F238E27FC236}">
                  <a16:creationId xmlns:a16="http://schemas.microsoft.com/office/drawing/2014/main" id="{45EACB0F-A111-9EDB-A2DA-A92B97AF1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71911" y="3580730"/>
              <a:ext cx="505967" cy="505967"/>
            </a:xfrm>
            <a:prstGeom prst="rect">
              <a:avLst/>
            </a:prstGeom>
          </p:spPr>
        </p:pic>
        <p:pic>
          <p:nvPicPr>
            <p:cNvPr id="63" name="Graphic 62" descr="Elephant">
              <a:extLst>
                <a:ext uri="{FF2B5EF4-FFF2-40B4-BE49-F238E27FC236}">
                  <a16:creationId xmlns:a16="http://schemas.microsoft.com/office/drawing/2014/main" id="{94A4F7BB-7DCB-83B8-24E4-DC62307E6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44362" y="3433462"/>
              <a:ext cx="505967" cy="505967"/>
            </a:xfrm>
            <a:prstGeom prst="rect">
              <a:avLst/>
            </a:prstGeom>
          </p:spPr>
        </p:pic>
        <p:pic>
          <p:nvPicPr>
            <p:cNvPr id="64" name="Graphic 63" descr="Elephant">
              <a:extLst>
                <a:ext uri="{FF2B5EF4-FFF2-40B4-BE49-F238E27FC236}">
                  <a16:creationId xmlns:a16="http://schemas.microsoft.com/office/drawing/2014/main" id="{B0E34FEE-7C04-CC8A-EAB7-9AC836AF5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79594" y="4467303"/>
              <a:ext cx="483792" cy="483792"/>
            </a:xfrm>
            <a:prstGeom prst="rect">
              <a:avLst/>
            </a:prstGeom>
          </p:spPr>
        </p:pic>
        <p:pic>
          <p:nvPicPr>
            <p:cNvPr id="65" name="Graphic 64" descr="Elephant">
              <a:extLst>
                <a:ext uri="{FF2B5EF4-FFF2-40B4-BE49-F238E27FC236}">
                  <a16:creationId xmlns:a16="http://schemas.microsoft.com/office/drawing/2014/main" id="{B90722B5-C33D-18D5-1802-0CBD14877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74763" y="4709199"/>
              <a:ext cx="505967" cy="505967"/>
            </a:xfrm>
            <a:prstGeom prst="rect">
              <a:avLst/>
            </a:prstGeom>
          </p:spPr>
        </p:pic>
        <p:pic>
          <p:nvPicPr>
            <p:cNvPr id="66" name="Graphic 65" descr="Elephant">
              <a:extLst>
                <a:ext uri="{FF2B5EF4-FFF2-40B4-BE49-F238E27FC236}">
                  <a16:creationId xmlns:a16="http://schemas.microsoft.com/office/drawing/2014/main" id="{1D54F387-3835-393C-636A-04B12EA80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16049" y="4500920"/>
              <a:ext cx="505967" cy="505967"/>
            </a:xfrm>
            <a:prstGeom prst="rect">
              <a:avLst/>
            </a:prstGeom>
          </p:spPr>
        </p:pic>
        <p:pic>
          <p:nvPicPr>
            <p:cNvPr id="67" name="Graphic 66" descr="Elephant">
              <a:extLst>
                <a:ext uri="{FF2B5EF4-FFF2-40B4-BE49-F238E27FC236}">
                  <a16:creationId xmlns:a16="http://schemas.microsoft.com/office/drawing/2014/main" id="{9DCEFA7F-1DD1-63F7-7825-EBB4C01F8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70931" y="3785171"/>
              <a:ext cx="623003" cy="6230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621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Direksjonelt</a:t>
            </a:r>
            <a:r>
              <a:rPr lang="nb-NO" dirty="0"/>
              <a:t> utvalg: Kroppsstørrelse (ii)</a:t>
            </a:r>
          </a:p>
        </p:txBody>
      </p:sp>
      <p:pic>
        <p:nvPicPr>
          <p:cNvPr id="35" name="Picture 34" descr="Nytt bilde av grønne små elefanter og røde litt større elefanter. ">
            <a:extLst>
              <a:ext uri="{FF2B5EF4-FFF2-40B4-BE49-F238E27FC236}">
                <a16:creationId xmlns:a16="http://schemas.microsoft.com/office/drawing/2014/main" id="{942FBAE6-2F58-663B-5587-E68E6A8554D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8200" y="2144684"/>
            <a:ext cx="11029349" cy="3686954"/>
          </a:xfrm>
          <a:prstGeom prst="rect">
            <a:avLst/>
          </a:prstGeom>
        </p:spPr>
      </p:pic>
      <p:grpSp>
        <p:nvGrpSpPr>
          <p:cNvPr id="5" name="Gruppe 4" descr="Nytt bilde av røde og grønne elefanter for å markere fordelene ved mindre kroppstørrelse. ">
            <a:extLst>
              <a:ext uri="{FF2B5EF4-FFF2-40B4-BE49-F238E27FC236}">
                <a16:creationId xmlns:a16="http://schemas.microsoft.com/office/drawing/2014/main" id="{B0192888-DFA5-AF0F-3B8D-6ADAC98F73B0}"/>
              </a:ext>
            </a:extLst>
          </p:cNvPr>
          <p:cNvGrpSpPr/>
          <p:nvPr/>
        </p:nvGrpSpPr>
        <p:grpSpPr>
          <a:xfrm>
            <a:off x="1165763" y="2536154"/>
            <a:ext cx="10724075" cy="3184879"/>
            <a:chOff x="1165763" y="2536154"/>
            <a:chExt cx="10724075" cy="3184879"/>
          </a:xfrm>
        </p:grpSpPr>
        <p:pic>
          <p:nvPicPr>
            <p:cNvPr id="38" name="Graphic 37" descr="Elephant">
              <a:extLst>
                <a:ext uri="{FF2B5EF4-FFF2-40B4-BE49-F238E27FC236}">
                  <a16:creationId xmlns:a16="http://schemas.microsoft.com/office/drawing/2014/main" id="{CF8FEF77-3BC4-6D90-8D02-589924F5E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46993" y="3574868"/>
              <a:ext cx="560371" cy="560371"/>
            </a:xfrm>
            <a:prstGeom prst="rect">
              <a:avLst/>
            </a:prstGeom>
          </p:spPr>
        </p:pic>
        <p:pic>
          <p:nvPicPr>
            <p:cNvPr id="40" name="Graphic 39" descr="Elephant">
              <a:extLst>
                <a:ext uri="{FF2B5EF4-FFF2-40B4-BE49-F238E27FC236}">
                  <a16:creationId xmlns:a16="http://schemas.microsoft.com/office/drawing/2014/main" id="{1D72E6DC-3F0C-D589-98EF-F0C794D1D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74181" y="4173101"/>
              <a:ext cx="615657" cy="615657"/>
            </a:xfrm>
            <a:prstGeom prst="rect">
              <a:avLst/>
            </a:prstGeom>
          </p:spPr>
        </p:pic>
        <p:pic>
          <p:nvPicPr>
            <p:cNvPr id="3" name="Graphic 2" descr="Elephant">
              <a:extLst>
                <a:ext uri="{FF2B5EF4-FFF2-40B4-BE49-F238E27FC236}">
                  <a16:creationId xmlns:a16="http://schemas.microsoft.com/office/drawing/2014/main" id="{FF74C5EE-4277-72C8-F020-37563B2F0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96980" y="2536154"/>
              <a:ext cx="559317" cy="559317"/>
            </a:xfrm>
            <a:prstGeom prst="rect">
              <a:avLst/>
            </a:prstGeom>
          </p:spPr>
        </p:pic>
        <p:pic>
          <p:nvPicPr>
            <p:cNvPr id="6" name="Graphic 5" descr="Elephant">
              <a:extLst>
                <a:ext uri="{FF2B5EF4-FFF2-40B4-BE49-F238E27FC236}">
                  <a16:creationId xmlns:a16="http://schemas.microsoft.com/office/drawing/2014/main" id="{1E92D625-97E7-EDEB-E00A-FFC88A56C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78665" y="3532188"/>
              <a:ext cx="505967" cy="505967"/>
            </a:xfrm>
            <a:prstGeom prst="rect">
              <a:avLst/>
            </a:prstGeom>
          </p:spPr>
        </p:pic>
        <p:pic>
          <p:nvPicPr>
            <p:cNvPr id="7" name="Graphic 6" descr="Elephant">
              <a:extLst>
                <a:ext uri="{FF2B5EF4-FFF2-40B4-BE49-F238E27FC236}">
                  <a16:creationId xmlns:a16="http://schemas.microsoft.com/office/drawing/2014/main" id="{C83AAA1B-3776-662C-3DE0-63631A52C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09214" y="5023770"/>
              <a:ext cx="533766" cy="533766"/>
            </a:xfrm>
            <a:prstGeom prst="rect">
              <a:avLst/>
            </a:prstGeom>
          </p:spPr>
        </p:pic>
        <p:pic>
          <p:nvPicPr>
            <p:cNvPr id="8" name="Graphic 7" descr="Elephant">
              <a:extLst>
                <a:ext uri="{FF2B5EF4-FFF2-40B4-BE49-F238E27FC236}">
                  <a16:creationId xmlns:a16="http://schemas.microsoft.com/office/drawing/2014/main" id="{FC541F9D-DB45-57A7-9D50-732562D08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65763" y="2682782"/>
              <a:ext cx="559318" cy="559318"/>
            </a:xfrm>
            <a:prstGeom prst="rect">
              <a:avLst/>
            </a:prstGeom>
          </p:spPr>
        </p:pic>
        <p:pic>
          <p:nvPicPr>
            <p:cNvPr id="15" name="Graphic 14" descr="Elephant">
              <a:extLst>
                <a:ext uri="{FF2B5EF4-FFF2-40B4-BE49-F238E27FC236}">
                  <a16:creationId xmlns:a16="http://schemas.microsoft.com/office/drawing/2014/main" id="{AECA1F4B-ABA4-EE6D-06ED-D3AD3B5AE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44156" y="3903887"/>
              <a:ext cx="572876" cy="572876"/>
            </a:xfrm>
            <a:prstGeom prst="rect">
              <a:avLst/>
            </a:prstGeom>
          </p:spPr>
        </p:pic>
        <p:pic>
          <p:nvPicPr>
            <p:cNvPr id="19" name="Graphic 18" descr="Elephant">
              <a:extLst>
                <a:ext uri="{FF2B5EF4-FFF2-40B4-BE49-F238E27FC236}">
                  <a16:creationId xmlns:a16="http://schemas.microsoft.com/office/drawing/2014/main" id="{9A71F143-06AA-AC29-6E99-80C11091A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07538" y="4032123"/>
              <a:ext cx="623003" cy="623003"/>
            </a:xfrm>
            <a:prstGeom prst="rect">
              <a:avLst/>
            </a:prstGeom>
          </p:spPr>
        </p:pic>
        <p:pic>
          <p:nvPicPr>
            <p:cNvPr id="20" name="Graphic 19" descr="Elephant">
              <a:extLst>
                <a:ext uri="{FF2B5EF4-FFF2-40B4-BE49-F238E27FC236}">
                  <a16:creationId xmlns:a16="http://schemas.microsoft.com/office/drawing/2014/main" id="{BC7DF400-0FD2-3856-01AD-BD12493E4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07015" y="4655126"/>
              <a:ext cx="585731" cy="585731"/>
            </a:xfrm>
            <a:prstGeom prst="rect">
              <a:avLst/>
            </a:prstGeom>
          </p:spPr>
        </p:pic>
        <p:pic>
          <p:nvPicPr>
            <p:cNvPr id="25" name="Graphic 24" descr="Elephant">
              <a:extLst>
                <a:ext uri="{FF2B5EF4-FFF2-40B4-BE49-F238E27FC236}">
                  <a16:creationId xmlns:a16="http://schemas.microsoft.com/office/drawing/2014/main" id="{A75FA01B-18F9-EBBA-8BFC-6889536B6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72126" y="4430766"/>
              <a:ext cx="483792" cy="483792"/>
            </a:xfrm>
            <a:prstGeom prst="rect">
              <a:avLst/>
            </a:prstGeom>
          </p:spPr>
        </p:pic>
        <p:pic>
          <p:nvPicPr>
            <p:cNvPr id="28" name="Graphic 27" descr="Elephant">
              <a:extLst>
                <a:ext uri="{FF2B5EF4-FFF2-40B4-BE49-F238E27FC236}">
                  <a16:creationId xmlns:a16="http://schemas.microsoft.com/office/drawing/2014/main" id="{60663C7B-8056-2C6E-A1C7-2FB45FD6B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84277" y="4293964"/>
              <a:ext cx="612291" cy="612291"/>
            </a:xfrm>
            <a:prstGeom prst="rect">
              <a:avLst/>
            </a:prstGeom>
          </p:spPr>
        </p:pic>
        <p:pic>
          <p:nvPicPr>
            <p:cNvPr id="4" name="Graphic 3" descr="Elephant">
              <a:extLst>
                <a:ext uri="{FF2B5EF4-FFF2-40B4-BE49-F238E27FC236}">
                  <a16:creationId xmlns:a16="http://schemas.microsoft.com/office/drawing/2014/main" id="{23E86F1D-27B5-07D7-AD8E-5DA11F92C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13064" y="4816256"/>
              <a:ext cx="585731" cy="585731"/>
            </a:xfrm>
            <a:prstGeom prst="rect">
              <a:avLst/>
            </a:prstGeom>
          </p:spPr>
        </p:pic>
        <p:pic>
          <p:nvPicPr>
            <p:cNvPr id="31" name="Graphic 30" descr="Elephant">
              <a:extLst>
                <a:ext uri="{FF2B5EF4-FFF2-40B4-BE49-F238E27FC236}">
                  <a16:creationId xmlns:a16="http://schemas.microsoft.com/office/drawing/2014/main" id="{CF448521-3D9B-5FD5-DF4E-6B5BF745A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69290" y="3804873"/>
              <a:ext cx="550877" cy="550877"/>
            </a:xfrm>
            <a:prstGeom prst="rect">
              <a:avLst/>
            </a:prstGeom>
          </p:spPr>
        </p:pic>
        <p:pic>
          <p:nvPicPr>
            <p:cNvPr id="34" name="Graphic 33" descr="Elephant">
              <a:extLst>
                <a:ext uri="{FF2B5EF4-FFF2-40B4-BE49-F238E27FC236}">
                  <a16:creationId xmlns:a16="http://schemas.microsoft.com/office/drawing/2014/main" id="{98611B21-15CF-66F8-C042-EB8E67CFE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94099" y="3125858"/>
              <a:ext cx="559318" cy="559318"/>
            </a:xfrm>
            <a:prstGeom prst="rect">
              <a:avLst/>
            </a:prstGeom>
          </p:spPr>
        </p:pic>
        <p:pic>
          <p:nvPicPr>
            <p:cNvPr id="44" name="Graphic 43" descr="Elephant">
              <a:extLst>
                <a:ext uri="{FF2B5EF4-FFF2-40B4-BE49-F238E27FC236}">
                  <a16:creationId xmlns:a16="http://schemas.microsoft.com/office/drawing/2014/main" id="{69F9888E-A869-2B65-E050-AED21C81B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43767" y="4886596"/>
              <a:ext cx="585731" cy="585731"/>
            </a:xfrm>
            <a:prstGeom prst="rect">
              <a:avLst/>
            </a:prstGeom>
          </p:spPr>
        </p:pic>
        <p:pic>
          <p:nvPicPr>
            <p:cNvPr id="45" name="Graphic 44" descr="Elephant">
              <a:extLst>
                <a:ext uri="{FF2B5EF4-FFF2-40B4-BE49-F238E27FC236}">
                  <a16:creationId xmlns:a16="http://schemas.microsoft.com/office/drawing/2014/main" id="{085A84C4-9B3E-B222-A6BB-106C4D193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73245" y="3908798"/>
              <a:ext cx="623003" cy="623003"/>
            </a:xfrm>
            <a:prstGeom prst="rect">
              <a:avLst/>
            </a:prstGeom>
          </p:spPr>
        </p:pic>
        <p:pic>
          <p:nvPicPr>
            <p:cNvPr id="46" name="Graphic 45" descr="Elephant">
              <a:extLst>
                <a:ext uri="{FF2B5EF4-FFF2-40B4-BE49-F238E27FC236}">
                  <a16:creationId xmlns:a16="http://schemas.microsoft.com/office/drawing/2014/main" id="{59B7DCDD-253E-A4CD-5989-40276BCC0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969020" y="3760821"/>
              <a:ext cx="612291" cy="612291"/>
            </a:xfrm>
            <a:prstGeom prst="rect">
              <a:avLst/>
            </a:prstGeom>
          </p:spPr>
        </p:pic>
        <p:pic>
          <p:nvPicPr>
            <p:cNvPr id="47" name="Graphic 46" descr="Elephant">
              <a:extLst>
                <a:ext uri="{FF2B5EF4-FFF2-40B4-BE49-F238E27FC236}">
                  <a16:creationId xmlns:a16="http://schemas.microsoft.com/office/drawing/2014/main" id="{366F58E0-8C9F-DC62-FEB5-9EE471C7A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85178" y="4238935"/>
              <a:ext cx="585731" cy="585731"/>
            </a:xfrm>
            <a:prstGeom prst="rect">
              <a:avLst/>
            </a:prstGeom>
          </p:spPr>
        </p:pic>
        <p:pic>
          <p:nvPicPr>
            <p:cNvPr id="48" name="Graphic 47" descr="Elephant">
              <a:extLst>
                <a:ext uri="{FF2B5EF4-FFF2-40B4-BE49-F238E27FC236}">
                  <a16:creationId xmlns:a16="http://schemas.microsoft.com/office/drawing/2014/main" id="{0960BEFF-18DA-21F4-C4E8-FB3947334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07985" y="4190325"/>
              <a:ext cx="585731" cy="585731"/>
            </a:xfrm>
            <a:prstGeom prst="rect">
              <a:avLst/>
            </a:prstGeom>
          </p:spPr>
        </p:pic>
        <p:pic>
          <p:nvPicPr>
            <p:cNvPr id="49" name="Graphic 48" descr="Elephant">
              <a:extLst>
                <a:ext uri="{FF2B5EF4-FFF2-40B4-BE49-F238E27FC236}">
                  <a16:creationId xmlns:a16="http://schemas.microsoft.com/office/drawing/2014/main" id="{74747E97-919C-F1C3-61CE-B36B6C049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710877" y="5187267"/>
              <a:ext cx="533766" cy="533766"/>
            </a:xfrm>
            <a:prstGeom prst="rect">
              <a:avLst/>
            </a:prstGeom>
          </p:spPr>
        </p:pic>
        <p:pic>
          <p:nvPicPr>
            <p:cNvPr id="50" name="Graphic 49" descr="Elephant">
              <a:extLst>
                <a:ext uri="{FF2B5EF4-FFF2-40B4-BE49-F238E27FC236}">
                  <a16:creationId xmlns:a16="http://schemas.microsoft.com/office/drawing/2014/main" id="{DFFCEC9F-3039-5DD0-F7FB-37E23E040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16596" y="4454030"/>
              <a:ext cx="585731" cy="585731"/>
            </a:xfrm>
            <a:prstGeom prst="rect">
              <a:avLst/>
            </a:prstGeom>
          </p:spPr>
        </p:pic>
        <p:pic>
          <p:nvPicPr>
            <p:cNvPr id="51" name="Graphic 50" descr="Elephant">
              <a:extLst>
                <a:ext uri="{FF2B5EF4-FFF2-40B4-BE49-F238E27FC236}">
                  <a16:creationId xmlns:a16="http://schemas.microsoft.com/office/drawing/2014/main" id="{663F465B-0E23-1614-1739-6FDCDB6B0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96729" y="3714332"/>
              <a:ext cx="505967" cy="505967"/>
            </a:xfrm>
            <a:prstGeom prst="rect">
              <a:avLst/>
            </a:prstGeom>
          </p:spPr>
        </p:pic>
        <p:pic>
          <p:nvPicPr>
            <p:cNvPr id="52" name="Graphic 51" descr="Elephant">
              <a:extLst>
                <a:ext uri="{FF2B5EF4-FFF2-40B4-BE49-F238E27FC236}">
                  <a16:creationId xmlns:a16="http://schemas.microsoft.com/office/drawing/2014/main" id="{A9667C20-C35E-700B-A13B-818E6D918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12562" y="3474383"/>
              <a:ext cx="572876" cy="572876"/>
            </a:xfrm>
            <a:prstGeom prst="rect">
              <a:avLst/>
            </a:prstGeom>
          </p:spPr>
        </p:pic>
        <p:pic>
          <p:nvPicPr>
            <p:cNvPr id="53" name="Graphic 52" descr="Elephant">
              <a:extLst>
                <a:ext uri="{FF2B5EF4-FFF2-40B4-BE49-F238E27FC236}">
                  <a16:creationId xmlns:a16="http://schemas.microsoft.com/office/drawing/2014/main" id="{7F5F5C83-89A2-836F-A4AE-941F9B320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44777" y="3689834"/>
              <a:ext cx="585731" cy="585731"/>
            </a:xfrm>
            <a:prstGeom prst="rect">
              <a:avLst/>
            </a:prstGeom>
          </p:spPr>
        </p:pic>
        <p:pic>
          <p:nvPicPr>
            <p:cNvPr id="54" name="Graphic 53" descr="Elephant">
              <a:extLst>
                <a:ext uri="{FF2B5EF4-FFF2-40B4-BE49-F238E27FC236}">
                  <a16:creationId xmlns:a16="http://schemas.microsoft.com/office/drawing/2014/main" id="{55C0FA27-1BD8-313A-4C0D-3D8CBD89B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75550" y="3729666"/>
              <a:ext cx="550877" cy="550877"/>
            </a:xfrm>
            <a:prstGeom prst="rect">
              <a:avLst/>
            </a:prstGeom>
          </p:spPr>
        </p:pic>
        <p:pic>
          <p:nvPicPr>
            <p:cNvPr id="55" name="Graphic 54" descr="Elephant">
              <a:extLst>
                <a:ext uri="{FF2B5EF4-FFF2-40B4-BE49-F238E27FC236}">
                  <a16:creationId xmlns:a16="http://schemas.microsoft.com/office/drawing/2014/main" id="{7CF3310E-5104-6553-F298-D5CFAECE5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72934" y="3960723"/>
              <a:ext cx="550877" cy="550877"/>
            </a:xfrm>
            <a:prstGeom prst="rect">
              <a:avLst/>
            </a:prstGeom>
          </p:spPr>
        </p:pic>
        <p:pic>
          <p:nvPicPr>
            <p:cNvPr id="56" name="Graphic 55" descr="Elephant">
              <a:extLst>
                <a:ext uri="{FF2B5EF4-FFF2-40B4-BE49-F238E27FC236}">
                  <a16:creationId xmlns:a16="http://schemas.microsoft.com/office/drawing/2014/main" id="{306CF315-42E2-41DC-ECCC-3555045C4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979708" y="4780607"/>
              <a:ext cx="612291" cy="612291"/>
            </a:xfrm>
            <a:prstGeom prst="rect">
              <a:avLst/>
            </a:prstGeom>
          </p:spPr>
        </p:pic>
        <p:pic>
          <p:nvPicPr>
            <p:cNvPr id="58" name="Graphic 57" descr="Elephant">
              <a:extLst>
                <a:ext uri="{FF2B5EF4-FFF2-40B4-BE49-F238E27FC236}">
                  <a16:creationId xmlns:a16="http://schemas.microsoft.com/office/drawing/2014/main" id="{10A21E4F-EA75-0664-AD15-0F02777EE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966976" y="4873315"/>
              <a:ext cx="612291" cy="612291"/>
            </a:xfrm>
            <a:prstGeom prst="rect">
              <a:avLst/>
            </a:prstGeom>
          </p:spPr>
        </p:pic>
        <p:pic>
          <p:nvPicPr>
            <p:cNvPr id="59" name="Graphic 58" descr="Elephant">
              <a:extLst>
                <a:ext uri="{FF2B5EF4-FFF2-40B4-BE49-F238E27FC236}">
                  <a16:creationId xmlns:a16="http://schemas.microsoft.com/office/drawing/2014/main" id="{E5586864-B42A-8001-D4B8-2E3B16F26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65763" y="3665036"/>
              <a:ext cx="559318" cy="559318"/>
            </a:xfrm>
            <a:prstGeom prst="rect">
              <a:avLst/>
            </a:prstGeom>
          </p:spPr>
        </p:pic>
        <p:pic>
          <p:nvPicPr>
            <p:cNvPr id="60" name="Graphic 59" descr="Elephant">
              <a:extLst>
                <a:ext uri="{FF2B5EF4-FFF2-40B4-BE49-F238E27FC236}">
                  <a16:creationId xmlns:a16="http://schemas.microsoft.com/office/drawing/2014/main" id="{A25FC161-5174-821A-65C8-F24B61845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03677" y="3149341"/>
              <a:ext cx="559318" cy="559318"/>
            </a:xfrm>
            <a:prstGeom prst="rect">
              <a:avLst/>
            </a:prstGeom>
          </p:spPr>
        </p:pic>
        <p:pic>
          <p:nvPicPr>
            <p:cNvPr id="61" name="Graphic 60" descr="Elephant">
              <a:extLst>
                <a:ext uri="{FF2B5EF4-FFF2-40B4-BE49-F238E27FC236}">
                  <a16:creationId xmlns:a16="http://schemas.microsoft.com/office/drawing/2014/main" id="{F52C9971-5FBA-134E-4D18-9670D1D3A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92466" y="3127290"/>
              <a:ext cx="559318" cy="559318"/>
            </a:xfrm>
            <a:prstGeom prst="rect">
              <a:avLst/>
            </a:prstGeom>
          </p:spPr>
        </p:pic>
        <p:pic>
          <p:nvPicPr>
            <p:cNvPr id="62" name="Graphic 61" descr="Elephant">
              <a:extLst>
                <a:ext uri="{FF2B5EF4-FFF2-40B4-BE49-F238E27FC236}">
                  <a16:creationId xmlns:a16="http://schemas.microsoft.com/office/drawing/2014/main" id="{45EACB0F-A111-9EDB-A2DA-A92B97AF1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71911" y="3580730"/>
              <a:ext cx="505967" cy="505967"/>
            </a:xfrm>
            <a:prstGeom prst="rect">
              <a:avLst/>
            </a:prstGeom>
          </p:spPr>
        </p:pic>
        <p:pic>
          <p:nvPicPr>
            <p:cNvPr id="63" name="Graphic 62" descr="Elephant">
              <a:extLst>
                <a:ext uri="{FF2B5EF4-FFF2-40B4-BE49-F238E27FC236}">
                  <a16:creationId xmlns:a16="http://schemas.microsoft.com/office/drawing/2014/main" id="{94A4F7BB-7DCB-83B8-24E4-DC62307E6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44362" y="3433462"/>
              <a:ext cx="505967" cy="505967"/>
            </a:xfrm>
            <a:prstGeom prst="rect">
              <a:avLst/>
            </a:prstGeom>
          </p:spPr>
        </p:pic>
        <p:pic>
          <p:nvPicPr>
            <p:cNvPr id="64" name="Graphic 63" descr="Elephant">
              <a:extLst>
                <a:ext uri="{FF2B5EF4-FFF2-40B4-BE49-F238E27FC236}">
                  <a16:creationId xmlns:a16="http://schemas.microsoft.com/office/drawing/2014/main" id="{B0E34FEE-7C04-CC8A-EAB7-9AC836AF5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79594" y="4467303"/>
              <a:ext cx="483792" cy="483792"/>
            </a:xfrm>
            <a:prstGeom prst="rect">
              <a:avLst/>
            </a:prstGeom>
          </p:spPr>
        </p:pic>
        <p:pic>
          <p:nvPicPr>
            <p:cNvPr id="65" name="Graphic 64" descr="Elephant">
              <a:extLst>
                <a:ext uri="{FF2B5EF4-FFF2-40B4-BE49-F238E27FC236}">
                  <a16:creationId xmlns:a16="http://schemas.microsoft.com/office/drawing/2014/main" id="{B90722B5-C33D-18D5-1802-0CBD14877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74763" y="4709199"/>
              <a:ext cx="505967" cy="505967"/>
            </a:xfrm>
            <a:prstGeom prst="rect">
              <a:avLst/>
            </a:prstGeom>
          </p:spPr>
        </p:pic>
        <p:pic>
          <p:nvPicPr>
            <p:cNvPr id="66" name="Graphic 65" descr="Elephant">
              <a:extLst>
                <a:ext uri="{FF2B5EF4-FFF2-40B4-BE49-F238E27FC236}">
                  <a16:creationId xmlns:a16="http://schemas.microsoft.com/office/drawing/2014/main" id="{1D54F387-3835-393C-636A-04B12EA80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816049" y="4500920"/>
              <a:ext cx="505967" cy="505967"/>
            </a:xfrm>
            <a:prstGeom prst="rect">
              <a:avLst/>
            </a:prstGeom>
          </p:spPr>
        </p:pic>
        <p:pic>
          <p:nvPicPr>
            <p:cNvPr id="67" name="Graphic 66" descr="Elephant">
              <a:extLst>
                <a:ext uri="{FF2B5EF4-FFF2-40B4-BE49-F238E27FC236}">
                  <a16:creationId xmlns:a16="http://schemas.microsoft.com/office/drawing/2014/main" id="{9DCEFA7F-1DD1-63F7-7825-EBB4C01F8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70931" y="3785171"/>
              <a:ext cx="623003" cy="6230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0604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29349" cy="1325563"/>
          </a:xfrm>
        </p:spPr>
        <p:txBody>
          <a:bodyPr/>
          <a:lstStyle/>
          <a:p>
            <a:r>
              <a:rPr lang="nb-NO" dirty="0"/>
              <a:t>Mindre kroppsstørrelse vinner kampen for tilværelsen</a:t>
            </a:r>
          </a:p>
        </p:txBody>
      </p:sp>
      <p:grpSp>
        <p:nvGrpSpPr>
          <p:cNvPr id="36" name="Group 35" descr="Bilde kun grønne små elefanter. ">
            <a:extLst>
              <a:ext uri="{FF2B5EF4-FFF2-40B4-BE49-F238E27FC236}">
                <a16:creationId xmlns:a16="http://schemas.microsoft.com/office/drawing/2014/main" id="{23FC7D64-ADA9-5D14-32FB-C85E176468E7}"/>
              </a:ext>
            </a:extLst>
          </p:cNvPr>
          <p:cNvGrpSpPr/>
          <p:nvPr/>
        </p:nvGrpSpPr>
        <p:grpSpPr>
          <a:xfrm>
            <a:off x="838200" y="2144684"/>
            <a:ext cx="11029349" cy="3686954"/>
            <a:chOff x="838200" y="2144684"/>
            <a:chExt cx="11029349" cy="3686954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42FBAE6-2F58-663B-5587-E68E6A855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38200" y="2144684"/>
              <a:ext cx="11029349" cy="3686954"/>
            </a:xfrm>
            <a:prstGeom prst="rect">
              <a:avLst/>
            </a:prstGeom>
          </p:spPr>
        </p:pic>
        <p:pic>
          <p:nvPicPr>
            <p:cNvPr id="6" name="Graphic 5" descr="Elephant">
              <a:extLst>
                <a:ext uri="{FF2B5EF4-FFF2-40B4-BE49-F238E27FC236}">
                  <a16:creationId xmlns:a16="http://schemas.microsoft.com/office/drawing/2014/main" id="{1E92D625-97E7-EDEB-E00A-FFC88A56C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70714" y="4063067"/>
              <a:ext cx="505967" cy="505967"/>
            </a:xfrm>
            <a:prstGeom prst="rect">
              <a:avLst/>
            </a:prstGeom>
          </p:spPr>
        </p:pic>
        <p:pic>
          <p:nvPicPr>
            <p:cNvPr id="25" name="Graphic 24" descr="Elephant">
              <a:extLst>
                <a:ext uri="{FF2B5EF4-FFF2-40B4-BE49-F238E27FC236}">
                  <a16:creationId xmlns:a16="http://schemas.microsoft.com/office/drawing/2014/main" id="{A75FA01B-18F9-EBBA-8BFC-6889536B6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3637" y="4313397"/>
              <a:ext cx="483792" cy="483792"/>
            </a:xfrm>
            <a:prstGeom prst="rect">
              <a:avLst/>
            </a:prstGeom>
          </p:spPr>
        </p:pic>
        <p:pic>
          <p:nvPicPr>
            <p:cNvPr id="34" name="Graphic 33" descr="Elephant">
              <a:extLst>
                <a:ext uri="{FF2B5EF4-FFF2-40B4-BE49-F238E27FC236}">
                  <a16:creationId xmlns:a16="http://schemas.microsoft.com/office/drawing/2014/main" id="{98611B21-15CF-66F8-C042-EB8E67CFE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51271" y="3021412"/>
              <a:ext cx="559318" cy="559318"/>
            </a:xfrm>
            <a:prstGeom prst="rect">
              <a:avLst/>
            </a:prstGeom>
          </p:spPr>
        </p:pic>
        <p:pic>
          <p:nvPicPr>
            <p:cNvPr id="51" name="Graphic 50" descr="Elephant">
              <a:extLst>
                <a:ext uri="{FF2B5EF4-FFF2-40B4-BE49-F238E27FC236}">
                  <a16:creationId xmlns:a16="http://schemas.microsoft.com/office/drawing/2014/main" id="{663F465B-0E23-1614-1739-6FDCDB6B0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30159" y="3698180"/>
              <a:ext cx="505967" cy="505967"/>
            </a:xfrm>
            <a:prstGeom prst="rect">
              <a:avLst/>
            </a:prstGeom>
          </p:spPr>
        </p:pic>
        <p:pic>
          <p:nvPicPr>
            <p:cNvPr id="54" name="Graphic 53" descr="Elephant">
              <a:extLst>
                <a:ext uri="{FF2B5EF4-FFF2-40B4-BE49-F238E27FC236}">
                  <a16:creationId xmlns:a16="http://schemas.microsoft.com/office/drawing/2014/main" id="{55C0FA27-1BD8-313A-4C0D-3D8CBD89B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69498" y="3664508"/>
              <a:ext cx="550877" cy="550877"/>
            </a:xfrm>
            <a:prstGeom prst="rect">
              <a:avLst/>
            </a:prstGeom>
          </p:spPr>
        </p:pic>
        <p:pic>
          <p:nvPicPr>
            <p:cNvPr id="59" name="Graphic 58" descr="Elephant">
              <a:extLst>
                <a:ext uri="{FF2B5EF4-FFF2-40B4-BE49-F238E27FC236}">
                  <a16:creationId xmlns:a16="http://schemas.microsoft.com/office/drawing/2014/main" id="{E5586864-B42A-8001-D4B8-2E3B16F26D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41917" y="3635675"/>
              <a:ext cx="559318" cy="559318"/>
            </a:xfrm>
            <a:prstGeom prst="rect">
              <a:avLst/>
            </a:prstGeom>
          </p:spPr>
        </p:pic>
        <p:pic>
          <p:nvPicPr>
            <p:cNvPr id="60" name="Graphic 59" descr="Elephant">
              <a:extLst>
                <a:ext uri="{FF2B5EF4-FFF2-40B4-BE49-F238E27FC236}">
                  <a16:creationId xmlns:a16="http://schemas.microsoft.com/office/drawing/2014/main" id="{A25FC161-5174-821A-65C8-F24B61845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03677" y="3149341"/>
              <a:ext cx="559318" cy="559318"/>
            </a:xfrm>
            <a:prstGeom prst="rect">
              <a:avLst/>
            </a:prstGeom>
          </p:spPr>
        </p:pic>
        <p:pic>
          <p:nvPicPr>
            <p:cNvPr id="62" name="Graphic 61" descr="Elephant">
              <a:extLst>
                <a:ext uri="{FF2B5EF4-FFF2-40B4-BE49-F238E27FC236}">
                  <a16:creationId xmlns:a16="http://schemas.microsoft.com/office/drawing/2014/main" id="{45EACB0F-A111-9EDB-A2DA-A92B97AF1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71911" y="3580730"/>
              <a:ext cx="505967" cy="505967"/>
            </a:xfrm>
            <a:prstGeom prst="rect">
              <a:avLst/>
            </a:prstGeom>
          </p:spPr>
        </p:pic>
        <p:pic>
          <p:nvPicPr>
            <p:cNvPr id="63" name="Graphic 62" descr="Elephant">
              <a:extLst>
                <a:ext uri="{FF2B5EF4-FFF2-40B4-BE49-F238E27FC236}">
                  <a16:creationId xmlns:a16="http://schemas.microsoft.com/office/drawing/2014/main" id="{94A4F7BB-7DCB-83B8-24E4-DC62307E6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60656" y="3807430"/>
              <a:ext cx="505967" cy="505967"/>
            </a:xfrm>
            <a:prstGeom prst="rect">
              <a:avLst/>
            </a:prstGeom>
          </p:spPr>
        </p:pic>
        <p:pic>
          <p:nvPicPr>
            <p:cNvPr id="64" name="Graphic 63" descr="Elephant">
              <a:extLst>
                <a:ext uri="{FF2B5EF4-FFF2-40B4-BE49-F238E27FC236}">
                  <a16:creationId xmlns:a16="http://schemas.microsoft.com/office/drawing/2014/main" id="{B0E34FEE-7C04-CC8A-EAB7-9AC836AF5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08974" y="4031389"/>
              <a:ext cx="483792" cy="483792"/>
            </a:xfrm>
            <a:prstGeom prst="rect">
              <a:avLst/>
            </a:prstGeom>
          </p:spPr>
        </p:pic>
        <p:pic>
          <p:nvPicPr>
            <p:cNvPr id="65" name="Graphic 64" descr="Elephant">
              <a:extLst>
                <a:ext uri="{FF2B5EF4-FFF2-40B4-BE49-F238E27FC236}">
                  <a16:creationId xmlns:a16="http://schemas.microsoft.com/office/drawing/2014/main" id="{B90722B5-C33D-18D5-1802-0CBD14877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74763" y="4709199"/>
              <a:ext cx="505967" cy="505967"/>
            </a:xfrm>
            <a:prstGeom prst="rect">
              <a:avLst/>
            </a:prstGeom>
          </p:spPr>
        </p:pic>
        <p:pic>
          <p:nvPicPr>
            <p:cNvPr id="66" name="Graphic 65" descr="Elephant">
              <a:extLst>
                <a:ext uri="{FF2B5EF4-FFF2-40B4-BE49-F238E27FC236}">
                  <a16:creationId xmlns:a16="http://schemas.microsoft.com/office/drawing/2014/main" id="{1D54F387-3835-393C-636A-04B12EA80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16049" y="4500920"/>
              <a:ext cx="505967" cy="505967"/>
            </a:xfrm>
            <a:prstGeom prst="rect">
              <a:avLst/>
            </a:prstGeom>
          </p:spPr>
        </p:pic>
        <p:pic>
          <p:nvPicPr>
            <p:cNvPr id="5" name="Graphic 4" descr="Elephant">
              <a:extLst>
                <a:ext uri="{FF2B5EF4-FFF2-40B4-BE49-F238E27FC236}">
                  <a16:creationId xmlns:a16="http://schemas.microsoft.com/office/drawing/2014/main" id="{86ABE278-71A8-0E17-7D19-840540E0A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96055" y="3871079"/>
              <a:ext cx="483792" cy="483792"/>
            </a:xfrm>
            <a:prstGeom prst="rect">
              <a:avLst/>
            </a:prstGeom>
          </p:spPr>
        </p:pic>
        <p:pic>
          <p:nvPicPr>
            <p:cNvPr id="9" name="Graphic 8" descr="Elephant">
              <a:extLst>
                <a:ext uri="{FF2B5EF4-FFF2-40B4-BE49-F238E27FC236}">
                  <a16:creationId xmlns:a16="http://schemas.microsoft.com/office/drawing/2014/main" id="{94392FB1-2440-2A21-B22C-1ECBE40E5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65995" y="4509182"/>
              <a:ext cx="483792" cy="483792"/>
            </a:xfrm>
            <a:prstGeom prst="rect">
              <a:avLst/>
            </a:prstGeom>
          </p:spPr>
        </p:pic>
        <p:pic>
          <p:nvPicPr>
            <p:cNvPr id="10" name="Graphic 9" descr="Elephant">
              <a:extLst>
                <a:ext uri="{FF2B5EF4-FFF2-40B4-BE49-F238E27FC236}">
                  <a16:creationId xmlns:a16="http://schemas.microsoft.com/office/drawing/2014/main" id="{271351C6-DFE4-8657-4813-EE7D8243C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51044" y="4444515"/>
              <a:ext cx="483792" cy="483792"/>
            </a:xfrm>
            <a:prstGeom prst="rect">
              <a:avLst/>
            </a:prstGeom>
          </p:spPr>
        </p:pic>
        <p:pic>
          <p:nvPicPr>
            <p:cNvPr id="11" name="Graphic 10" descr="Elephant">
              <a:extLst>
                <a:ext uri="{FF2B5EF4-FFF2-40B4-BE49-F238E27FC236}">
                  <a16:creationId xmlns:a16="http://schemas.microsoft.com/office/drawing/2014/main" id="{149795E3-D242-3551-F8AC-BAFF376EB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67078" y="5085580"/>
              <a:ext cx="483792" cy="483792"/>
            </a:xfrm>
            <a:prstGeom prst="rect">
              <a:avLst/>
            </a:prstGeom>
          </p:spPr>
        </p:pic>
        <p:pic>
          <p:nvPicPr>
            <p:cNvPr id="12" name="Graphic 11" descr="Elephant">
              <a:extLst>
                <a:ext uri="{FF2B5EF4-FFF2-40B4-BE49-F238E27FC236}">
                  <a16:creationId xmlns:a16="http://schemas.microsoft.com/office/drawing/2014/main" id="{37F5B350-FA8D-8753-18CE-5A41222C5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67426" y="5152214"/>
              <a:ext cx="483792" cy="483792"/>
            </a:xfrm>
            <a:prstGeom prst="rect">
              <a:avLst/>
            </a:prstGeom>
          </p:spPr>
        </p:pic>
        <p:pic>
          <p:nvPicPr>
            <p:cNvPr id="13" name="Graphic 12" descr="Elephant">
              <a:extLst>
                <a:ext uri="{FF2B5EF4-FFF2-40B4-BE49-F238E27FC236}">
                  <a16:creationId xmlns:a16="http://schemas.microsoft.com/office/drawing/2014/main" id="{14941DC9-3193-7117-80E7-790F155C1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80772" y="4327138"/>
              <a:ext cx="483792" cy="483792"/>
            </a:xfrm>
            <a:prstGeom prst="rect">
              <a:avLst/>
            </a:prstGeom>
          </p:spPr>
        </p:pic>
        <p:pic>
          <p:nvPicPr>
            <p:cNvPr id="14" name="Graphic 13" descr="Elephant">
              <a:extLst>
                <a:ext uri="{FF2B5EF4-FFF2-40B4-BE49-F238E27FC236}">
                  <a16:creationId xmlns:a16="http://schemas.microsoft.com/office/drawing/2014/main" id="{7D050317-A7C4-5187-3080-1C2630E9B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44873" y="3960723"/>
              <a:ext cx="483792" cy="483792"/>
            </a:xfrm>
            <a:prstGeom prst="rect">
              <a:avLst/>
            </a:prstGeom>
          </p:spPr>
        </p:pic>
        <p:pic>
          <p:nvPicPr>
            <p:cNvPr id="16" name="Graphic 15" descr="Elephant">
              <a:extLst>
                <a:ext uri="{FF2B5EF4-FFF2-40B4-BE49-F238E27FC236}">
                  <a16:creationId xmlns:a16="http://schemas.microsoft.com/office/drawing/2014/main" id="{3CC5E9FB-A5C2-84BA-9FD0-10188F487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80064" y="3938632"/>
              <a:ext cx="483792" cy="483792"/>
            </a:xfrm>
            <a:prstGeom prst="rect">
              <a:avLst/>
            </a:prstGeom>
          </p:spPr>
        </p:pic>
        <p:pic>
          <p:nvPicPr>
            <p:cNvPr id="17" name="Graphic 16" descr="Elephant">
              <a:extLst>
                <a:ext uri="{FF2B5EF4-FFF2-40B4-BE49-F238E27FC236}">
                  <a16:creationId xmlns:a16="http://schemas.microsoft.com/office/drawing/2014/main" id="{FDC5C3DB-8BBE-B8A4-B977-EFE38FDF6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23797" y="3790688"/>
              <a:ext cx="483792" cy="483792"/>
            </a:xfrm>
            <a:prstGeom prst="rect">
              <a:avLst/>
            </a:prstGeom>
          </p:spPr>
        </p:pic>
        <p:pic>
          <p:nvPicPr>
            <p:cNvPr id="18" name="Graphic 17" descr="Elephant">
              <a:extLst>
                <a:ext uri="{FF2B5EF4-FFF2-40B4-BE49-F238E27FC236}">
                  <a16:creationId xmlns:a16="http://schemas.microsoft.com/office/drawing/2014/main" id="{36132600-CF26-07FA-C24D-D7332DD7E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3637" y="5006887"/>
              <a:ext cx="483792" cy="483792"/>
            </a:xfrm>
            <a:prstGeom prst="rect">
              <a:avLst/>
            </a:prstGeom>
          </p:spPr>
        </p:pic>
        <p:pic>
          <p:nvPicPr>
            <p:cNvPr id="22" name="Graphic 21" descr="Elephant">
              <a:extLst>
                <a:ext uri="{FF2B5EF4-FFF2-40B4-BE49-F238E27FC236}">
                  <a16:creationId xmlns:a16="http://schemas.microsoft.com/office/drawing/2014/main" id="{759C2C98-D583-FA2F-0C5C-187975DC4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58878" y="4618951"/>
              <a:ext cx="483792" cy="483792"/>
            </a:xfrm>
            <a:prstGeom prst="rect">
              <a:avLst/>
            </a:prstGeom>
          </p:spPr>
        </p:pic>
        <p:pic>
          <p:nvPicPr>
            <p:cNvPr id="23" name="Graphic 22" descr="Elephant">
              <a:extLst>
                <a:ext uri="{FF2B5EF4-FFF2-40B4-BE49-F238E27FC236}">
                  <a16:creationId xmlns:a16="http://schemas.microsoft.com/office/drawing/2014/main" id="{DBE2BDD4-7C2A-C1EC-0588-DC3B39161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99170" y="4444515"/>
              <a:ext cx="483792" cy="483792"/>
            </a:xfrm>
            <a:prstGeom prst="rect">
              <a:avLst/>
            </a:prstGeom>
          </p:spPr>
        </p:pic>
        <p:pic>
          <p:nvPicPr>
            <p:cNvPr id="24" name="Graphic 23" descr="Elephant">
              <a:extLst>
                <a:ext uri="{FF2B5EF4-FFF2-40B4-BE49-F238E27FC236}">
                  <a16:creationId xmlns:a16="http://schemas.microsoft.com/office/drawing/2014/main" id="{4C0AB974-E6E6-B9F7-9E30-485FEBB54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63856" y="4928307"/>
              <a:ext cx="483792" cy="483792"/>
            </a:xfrm>
            <a:prstGeom prst="rect">
              <a:avLst/>
            </a:prstGeom>
          </p:spPr>
        </p:pic>
        <p:pic>
          <p:nvPicPr>
            <p:cNvPr id="26" name="Graphic 25" descr="Elephant">
              <a:extLst>
                <a:ext uri="{FF2B5EF4-FFF2-40B4-BE49-F238E27FC236}">
                  <a16:creationId xmlns:a16="http://schemas.microsoft.com/office/drawing/2014/main" id="{96BD4C65-1084-ABAC-7C8C-50308EA0C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51218" y="4776815"/>
              <a:ext cx="483792" cy="483792"/>
            </a:xfrm>
            <a:prstGeom prst="rect">
              <a:avLst/>
            </a:prstGeom>
          </p:spPr>
        </p:pic>
        <p:pic>
          <p:nvPicPr>
            <p:cNvPr id="27" name="Graphic 26" descr="Elephant">
              <a:extLst>
                <a:ext uri="{FF2B5EF4-FFF2-40B4-BE49-F238E27FC236}">
                  <a16:creationId xmlns:a16="http://schemas.microsoft.com/office/drawing/2014/main" id="{B30F133B-7102-2B1B-0087-64A7104EF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79649" y="4235933"/>
              <a:ext cx="483792" cy="483792"/>
            </a:xfrm>
            <a:prstGeom prst="rect">
              <a:avLst/>
            </a:prstGeom>
          </p:spPr>
        </p:pic>
        <p:pic>
          <p:nvPicPr>
            <p:cNvPr id="32" name="Graphic 31" descr="Elephant">
              <a:extLst>
                <a:ext uri="{FF2B5EF4-FFF2-40B4-BE49-F238E27FC236}">
                  <a16:creationId xmlns:a16="http://schemas.microsoft.com/office/drawing/2014/main" id="{F1D2A700-570B-EE2B-63B8-9CF6A34FB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94677" y="3301071"/>
              <a:ext cx="483792" cy="483792"/>
            </a:xfrm>
            <a:prstGeom prst="rect">
              <a:avLst/>
            </a:prstGeom>
          </p:spPr>
        </p:pic>
        <p:pic>
          <p:nvPicPr>
            <p:cNvPr id="33" name="Graphic 32" descr="Elephant">
              <a:extLst>
                <a:ext uri="{FF2B5EF4-FFF2-40B4-BE49-F238E27FC236}">
                  <a16:creationId xmlns:a16="http://schemas.microsoft.com/office/drawing/2014/main" id="{3E3776DE-472C-4DA4-8325-F61311EE8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87662" y="3869523"/>
              <a:ext cx="483792" cy="4837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0210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Tre betingelser for naturlig utvalg</a:t>
            </a:r>
            <a:endParaRPr lang="en-NO" dirty="0"/>
          </a:p>
        </p:txBody>
      </p:sp>
      <p:grpSp>
        <p:nvGrpSpPr>
          <p:cNvPr id="138" name="Group 137" descr="Bilde som illustrerer begrepene variasjon, fitness-forskjeller og arvelighet ved bruk av elefantsymboler">
            <a:extLst>
              <a:ext uri="{FF2B5EF4-FFF2-40B4-BE49-F238E27FC236}">
                <a16:creationId xmlns:a16="http://schemas.microsoft.com/office/drawing/2014/main" id="{7469F6EA-AECB-97EB-B1CA-F8C11A32A888}"/>
              </a:ext>
            </a:extLst>
          </p:cNvPr>
          <p:cNvGrpSpPr/>
          <p:nvPr/>
        </p:nvGrpSpPr>
        <p:grpSpPr>
          <a:xfrm>
            <a:off x="843550" y="1750472"/>
            <a:ext cx="10892975" cy="4622874"/>
            <a:chOff x="843550" y="1750472"/>
            <a:chExt cx="10892975" cy="4622874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1936CDDC-4348-19B7-206D-105CAF8BA04D}"/>
                </a:ext>
              </a:extLst>
            </p:cNvPr>
            <p:cNvGrpSpPr/>
            <p:nvPr/>
          </p:nvGrpSpPr>
          <p:grpSpPr>
            <a:xfrm>
              <a:off x="10170071" y="2176759"/>
              <a:ext cx="1566454" cy="4193156"/>
              <a:chOff x="10170071" y="2176759"/>
              <a:chExt cx="1566454" cy="419315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6052505-6F40-E9C0-9905-8EDA35B4E365}"/>
                  </a:ext>
                </a:extLst>
              </p:cNvPr>
              <p:cNvGrpSpPr/>
              <p:nvPr/>
            </p:nvGrpSpPr>
            <p:grpSpPr>
              <a:xfrm>
                <a:off x="10458738" y="2176759"/>
                <a:ext cx="897750" cy="3462230"/>
                <a:chOff x="10458738" y="2247099"/>
                <a:chExt cx="897750" cy="3462230"/>
              </a:xfrm>
            </p:grpSpPr>
            <p:pic>
              <p:nvPicPr>
                <p:cNvPr id="143" name="Graphic 142" descr="Elephant">
                  <a:extLst>
                    <a:ext uri="{FF2B5EF4-FFF2-40B4-BE49-F238E27FC236}">
                      <a16:creationId xmlns:a16="http://schemas.microsoft.com/office/drawing/2014/main" id="{D09604A2-27EC-068B-4683-0FA5AEF6EA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/>
                <a:stretch/>
              </p:blipFill>
              <p:spPr>
                <a:xfrm>
                  <a:off x="10458738" y="2247099"/>
                  <a:ext cx="897750" cy="897750"/>
                </a:xfrm>
                <a:prstGeom prst="rect">
                  <a:avLst/>
                </a:prstGeom>
              </p:spPr>
            </p:pic>
            <p:pic>
              <p:nvPicPr>
                <p:cNvPr id="144" name="Graphic 143" descr="Elephant">
                  <a:extLst>
                    <a:ext uri="{FF2B5EF4-FFF2-40B4-BE49-F238E27FC236}">
                      <a16:creationId xmlns:a16="http://schemas.microsoft.com/office/drawing/2014/main" id="{AF7B3390-D51B-9DB0-8655-386F5E92BB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/>
                <a:stretch/>
              </p:blipFill>
              <p:spPr>
                <a:xfrm>
                  <a:off x="10458738" y="3487224"/>
                  <a:ext cx="897750" cy="897750"/>
                </a:xfrm>
                <a:prstGeom prst="rect">
                  <a:avLst/>
                </a:prstGeom>
              </p:spPr>
            </p:pic>
            <p:pic>
              <p:nvPicPr>
                <p:cNvPr id="145" name="Graphic 144" descr="Elephant">
                  <a:extLst>
                    <a:ext uri="{FF2B5EF4-FFF2-40B4-BE49-F238E27FC236}">
                      <a16:creationId xmlns:a16="http://schemas.microsoft.com/office/drawing/2014/main" id="{BAF9F753-D3B5-BB3D-A584-217D5AC5C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/>
                <a:stretch/>
              </p:blipFill>
              <p:spPr>
                <a:xfrm>
                  <a:off x="10458738" y="4811579"/>
                  <a:ext cx="897750" cy="897750"/>
                </a:xfrm>
                <a:prstGeom prst="rect">
                  <a:avLst/>
                </a:prstGeom>
              </p:spPr>
            </p:pic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D1643483-EB62-7F42-05DF-A60555D853F5}"/>
                    </a:ext>
                  </a:extLst>
                </p:cNvPr>
                <p:cNvCxnSpPr>
                  <a:cxnSpLocks/>
                  <a:stCxn id="143" idx="2"/>
                  <a:endCxn id="144" idx="0"/>
                </p:cNvCxnSpPr>
                <p:nvPr/>
              </p:nvCxnSpPr>
              <p:spPr>
                <a:xfrm>
                  <a:off x="10907613" y="3144849"/>
                  <a:ext cx="0" cy="342374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901374CF-82ED-7382-E9AF-5B393EF4D694}"/>
                    </a:ext>
                  </a:extLst>
                </p:cNvPr>
                <p:cNvCxnSpPr>
                  <a:cxnSpLocks/>
                  <a:stCxn id="144" idx="2"/>
                  <a:endCxn id="145" idx="0"/>
                </p:cNvCxnSpPr>
                <p:nvPr/>
              </p:nvCxnSpPr>
              <p:spPr>
                <a:xfrm>
                  <a:off x="10907613" y="4384974"/>
                  <a:ext cx="0" cy="426603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3758B244-0A8C-5B3A-CC09-8AAF6347128E}"/>
                  </a:ext>
                </a:extLst>
              </p:cNvPr>
              <p:cNvSpPr txBox="1"/>
              <p:nvPr/>
            </p:nvSpPr>
            <p:spPr>
              <a:xfrm>
                <a:off x="10170071" y="5939028"/>
                <a:ext cx="156645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O" sz="22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Arvelighet</a:t>
                </a: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B3228B4B-6A13-71C1-2E27-8E0623D777A6}"/>
                </a:ext>
              </a:extLst>
            </p:cNvPr>
            <p:cNvGrpSpPr/>
            <p:nvPr/>
          </p:nvGrpSpPr>
          <p:grpSpPr>
            <a:xfrm>
              <a:off x="4864066" y="3818371"/>
              <a:ext cx="4810846" cy="2554975"/>
              <a:chOff x="4864066" y="3818371"/>
              <a:chExt cx="4810846" cy="2554975"/>
            </a:xfrm>
          </p:grpSpPr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F3A9DE0-A03C-C0EE-3F64-3C0AF44C9C1D}"/>
                  </a:ext>
                </a:extLst>
              </p:cNvPr>
              <p:cNvSpPr txBox="1"/>
              <p:nvPr/>
            </p:nvSpPr>
            <p:spPr>
              <a:xfrm>
                <a:off x="6226956" y="5942459"/>
                <a:ext cx="261962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O" sz="22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Fitness-forskjeller</a:t>
                </a:r>
              </a:p>
            </p:txBody>
          </p: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9A90EB0A-1CE3-5992-3E16-35BC9AF31041}"/>
                  </a:ext>
                </a:extLst>
              </p:cNvPr>
              <p:cNvGrpSpPr/>
              <p:nvPr/>
            </p:nvGrpSpPr>
            <p:grpSpPr>
              <a:xfrm>
                <a:off x="4864066" y="3818371"/>
                <a:ext cx="4810846" cy="1711615"/>
                <a:chOff x="5075083" y="3449092"/>
                <a:chExt cx="4810846" cy="1711615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CC834FFC-8D7E-D8E5-B03D-85D62D263C40}"/>
                    </a:ext>
                  </a:extLst>
                </p:cNvPr>
                <p:cNvGrpSpPr/>
                <p:nvPr/>
              </p:nvGrpSpPr>
              <p:grpSpPr>
                <a:xfrm>
                  <a:off x="5075083" y="3469003"/>
                  <a:ext cx="1680288" cy="1645864"/>
                  <a:chOff x="4825205" y="2750454"/>
                  <a:chExt cx="1680288" cy="1645864"/>
                </a:xfrm>
              </p:grpSpPr>
              <p:pic>
                <p:nvPicPr>
                  <p:cNvPr id="42" name="Graphic 41" descr="Elephant">
                    <a:extLst>
                      <a:ext uri="{FF2B5EF4-FFF2-40B4-BE49-F238E27FC236}">
                        <a16:creationId xmlns:a16="http://schemas.microsoft.com/office/drawing/2014/main" id="{839650E3-EEE7-E348-B622-A9BDE3EAA7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rcRect/>
                  <a:stretch/>
                </p:blipFill>
                <p:spPr>
                  <a:xfrm>
                    <a:off x="5387260" y="2750454"/>
                    <a:ext cx="563194" cy="563194"/>
                  </a:xfrm>
                  <a:prstGeom prst="rect">
                    <a:avLst/>
                  </a:prstGeom>
                </p:spPr>
              </p:pic>
              <p:pic>
                <p:nvPicPr>
                  <p:cNvPr id="43" name="Graphic 42" descr="Elephant">
                    <a:extLst>
                      <a:ext uri="{FF2B5EF4-FFF2-40B4-BE49-F238E27FC236}">
                        <a16:creationId xmlns:a16="http://schemas.microsoft.com/office/drawing/2014/main" id="{02AFCF3A-4300-7BE7-8E79-4D28EAED9D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rcRect/>
                  <a:stretch/>
                </p:blipFill>
                <p:spPr>
                  <a:xfrm>
                    <a:off x="5942299" y="3833124"/>
                    <a:ext cx="563194" cy="563194"/>
                  </a:xfrm>
                  <a:prstGeom prst="rect">
                    <a:avLst/>
                  </a:prstGeom>
                </p:spPr>
              </p:pic>
              <p:pic>
                <p:nvPicPr>
                  <p:cNvPr id="44" name="Graphic 43" descr="Elephant">
                    <a:extLst>
                      <a:ext uri="{FF2B5EF4-FFF2-40B4-BE49-F238E27FC236}">
                        <a16:creationId xmlns:a16="http://schemas.microsoft.com/office/drawing/2014/main" id="{07684912-EAC6-69E9-CE56-E2543EC554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rcRect/>
                  <a:stretch/>
                </p:blipFill>
                <p:spPr>
                  <a:xfrm>
                    <a:off x="5378821" y="3816238"/>
                    <a:ext cx="563477" cy="563477"/>
                  </a:xfrm>
                  <a:prstGeom prst="rect">
                    <a:avLst/>
                  </a:prstGeom>
                </p:spPr>
              </p:pic>
              <p:pic>
                <p:nvPicPr>
                  <p:cNvPr id="45" name="Graphic 44" descr="Elephant">
                    <a:extLst>
                      <a:ext uri="{FF2B5EF4-FFF2-40B4-BE49-F238E27FC236}">
                        <a16:creationId xmlns:a16="http://schemas.microsoft.com/office/drawing/2014/main" id="{FD053994-34A2-6044-1477-CDBC85A67F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rcRect/>
                  <a:stretch/>
                </p:blipFill>
                <p:spPr>
                  <a:xfrm>
                    <a:off x="4825205" y="3801056"/>
                    <a:ext cx="562056" cy="562056"/>
                  </a:xfrm>
                  <a:prstGeom prst="rect">
                    <a:avLst/>
                  </a:prstGeom>
                </p:spPr>
              </p:pic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EB86DA05-BD4B-8F80-3149-05E0778396AC}"/>
                      </a:ext>
                    </a:extLst>
                  </p:cNvPr>
                  <p:cNvCxnSpPr>
                    <a:cxnSpLocks/>
                    <a:stCxn id="42" idx="2"/>
                    <a:endCxn id="43" idx="0"/>
                  </p:cNvCxnSpPr>
                  <p:nvPr/>
                </p:nvCxnSpPr>
                <p:spPr>
                  <a:xfrm>
                    <a:off x="5668857" y="3313648"/>
                    <a:ext cx="555039" cy="519476"/>
                  </a:xfrm>
                  <a:prstGeom prst="line">
                    <a:avLst/>
                  </a:prstGeom>
                  <a:ln w="6350">
                    <a:solidFill>
                      <a:schemeClr val="accent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C9BFEBAD-BCFB-D670-E918-E6DB2A80F2C5}"/>
                      </a:ext>
                    </a:extLst>
                  </p:cNvPr>
                  <p:cNvCxnSpPr>
                    <a:cxnSpLocks/>
                    <a:stCxn id="44" idx="0"/>
                    <a:endCxn id="42" idx="2"/>
                  </p:cNvCxnSpPr>
                  <p:nvPr/>
                </p:nvCxnSpPr>
                <p:spPr>
                  <a:xfrm flipV="1">
                    <a:off x="5660560" y="3313648"/>
                    <a:ext cx="8297" cy="502590"/>
                  </a:xfrm>
                  <a:prstGeom prst="line">
                    <a:avLst/>
                  </a:prstGeom>
                  <a:ln w="6350">
                    <a:solidFill>
                      <a:schemeClr val="accent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015C78BA-D755-592F-45DD-56337023B746}"/>
                      </a:ext>
                    </a:extLst>
                  </p:cNvPr>
                  <p:cNvCxnSpPr>
                    <a:cxnSpLocks/>
                    <a:stCxn id="45" idx="0"/>
                    <a:endCxn id="42" idx="2"/>
                  </p:cNvCxnSpPr>
                  <p:nvPr/>
                </p:nvCxnSpPr>
                <p:spPr>
                  <a:xfrm flipV="1">
                    <a:off x="5106233" y="3313648"/>
                    <a:ext cx="562624" cy="487408"/>
                  </a:xfrm>
                  <a:prstGeom prst="line">
                    <a:avLst/>
                  </a:prstGeom>
                  <a:ln w="6350">
                    <a:solidFill>
                      <a:schemeClr val="accent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9B1B6930-5BE3-FF6E-BFF5-8F1271192526}"/>
                    </a:ext>
                  </a:extLst>
                </p:cNvPr>
                <p:cNvGrpSpPr/>
                <p:nvPr/>
              </p:nvGrpSpPr>
              <p:grpSpPr>
                <a:xfrm>
                  <a:off x="6876349" y="3469003"/>
                  <a:ext cx="563194" cy="1617653"/>
                  <a:chOff x="6876349" y="3469003"/>
                  <a:chExt cx="563194" cy="1617653"/>
                </a:xfrm>
              </p:grpSpPr>
              <p:cxnSp>
                <p:nvCxnSpPr>
                  <p:cNvPr id="111" name="Straight Connector 110">
                    <a:extLst>
                      <a:ext uri="{FF2B5EF4-FFF2-40B4-BE49-F238E27FC236}">
                        <a16:creationId xmlns:a16="http://schemas.microsoft.com/office/drawing/2014/main" id="{2F57B014-2B7C-B398-F51E-957AFDAB2101}"/>
                      </a:ext>
                    </a:extLst>
                  </p:cNvPr>
                  <p:cNvCxnSpPr>
                    <a:cxnSpLocks/>
                    <a:stCxn id="88" idx="2"/>
                    <a:endCxn id="115" idx="0"/>
                  </p:cNvCxnSpPr>
                  <p:nvPr/>
                </p:nvCxnSpPr>
                <p:spPr>
                  <a:xfrm>
                    <a:off x="7157946" y="4032197"/>
                    <a:ext cx="0" cy="496331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15" name="Graphic 114">
                    <a:extLst>
                      <a:ext uri="{FF2B5EF4-FFF2-40B4-BE49-F238E27FC236}">
                        <a16:creationId xmlns:a16="http://schemas.microsoft.com/office/drawing/2014/main" id="{74E533E7-FABA-DD2D-5572-F163159B31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/>
                  <a:stretch/>
                </p:blipFill>
                <p:spPr>
                  <a:xfrm>
                    <a:off x="6911264" y="4528528"/>
                    <a:ext cx="493363" cy="558128"/>
                  </a:xfrm>
                  <a:prstGeom prst="rect">
                    <a:avLst/>
                  </a:prstGeom>
                </p:spPr>
              </p:pic>
              <p:pic>
                <p:nvPicPr>
                  <p:cNvPr id="88" name="Graphic 87" descr="Elephant">
                    <a:extLst>
                      <a:ext uri="{FF2B5EF4-FFF2-40B4-BE49-F238E27FC236}">
                        <a16:creationId xmlns:a16="http://schemas.microsoft.com/office/drawing/2014/main" id="{22EFAC8B-393E-10EE-E36A-DEFCD9BB11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/>
                  <a:stretch/>
                </p:blipFill>
                <p:spPr>
                  <a:xfrm>
                    <a:off x="6876349" y="3469003"/>
                    <a:ext cx="563194" cy="56319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DDBC860E-2C0F-0850-3331-FE962A247DC8}"/>
                    </a:ext>
                  </a:extLst>
                </p:cNvPr>
                <p:cNvGrpSpPr/>
                <p:nvPr/>
              </p:nvGrpSpPr>
              <p:grpSpPr>
                <a:xfrm>
                  <a:off x="7620639" y="3488409"/>
                  <a:ext cx="564830" cy="1665776"/>
                  <a:chOff x="7617513" y="3449091"/>
                  <a:chExt cx="564830" cy="1665776"/>
                </a:xfrm>
              </p:grpSpPr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88C58760-379C-D465-D453-09424D36C8D4}"/>
                      </a:ext>
                    </a:extLst>
                  </p:cNvPr>
                  <p:cNvCxnSpPr>
                    <a:cxnSpLocks/>
                    <a:stCxn id="100" idx="2"/>
                    <a:endCxn id="101" idx="0"/>
                  </p:cNvCxnSpPr>
                  <p:nvPr/>
                </p:nvCxnSpPr>
                <p:spPr>
                  <a:xfrm>
                    <a:off x="7899110" y="4012285"/>
                    <a:ext cx="1636" cy="539388"/>
                  </a:xfrm>
                  <a:prstGeom prst="line">
                    <a:avLst/>
                  </a:prstGeom>
                  <a:ln>
                    <a:solidFill>
                      <a:schemeClr val="accent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00" name="Graphic 99" descr="Elephant">
                    <a:extLst>
                      <a:ext uri="{FF2B5EF4-FFF2-40B4-BE49-F238E27FC236}">
                        <a16:creationId xmlns:a16="http://schemas.microsoft.com/office/drawing/2014/main" id="{FF78DB2B-F925-CB80-FD56-E8D9EAFCE3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rcRect/>
                  <a:stretch/>
                </p:blipFill>
                <p:spPr>
                  <a:xfrm>
                    <a:off x="7617513" y="3449091"/>
                    <a:ext cx="563194" cy="563194"/>
                  </a:xfrm>
                  <a:prstGeom prst="rect">
                    <a:avLst/>
                  </a:prstGeom>
                </p:spPr>
              </p:pic>
              <p:pic>
                <p:nvPicPr>
                  <p:cNvPr id="101" name="Graphic 100" descr="Elephant">
                    <a:extLst>
                      <a:ext uri="{FF2B5EF4-FFF2-40B4-BE49-F238E27FC236}">
                        <a16:creationId xmlns:a16="http://schemas.microsoft.com/office/drawing/2014/main" id="{2D766EB9-1069-8DB4-9506-294E773C8B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rcRect/>
                  <a:stretch/>
                </p:blipFill>
                <p:spPr>
                  <a:xfrm>
                    <a:off x="7619149" y="4551673"/>
                    <a:ext cx="563194" cy="56319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E8EFA31B-0942-EA32-6B69-2AF5467D466D}"/>
                    </a:ext>
                  </a:extLst>
                </p:cNvPr>
                <p:cNvGrpSpPr/>
                <p:nvPr/>
              </p:nvGrpSpPr>
              <p:grpSpPr>
                <a:xfrm>
                  <a:off x="8401481" y="3449092"/>
                  <a:ext cx="1484448" cy="1711615"/>
                  <a:chOff x="8401481" y="3449092"/>
                  <a:chExt cx="1484448" cy="1711615"/>
                </a:xfrm>
              </p:grpSpPr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4DD98783-E58D-785A-EC3A-DF2C4070F058}"/>
                      </a:ext>
                    </a:extLst>
                  </p:cNvPr>
                  <p:cNvCxnSpPr>
                    <a:cxnSpLocks/>
                    <a:stCxn id="105" idx="2"/>
                    <a:endCxn id="107" idx="0"/>
                  </p:cNvCxnSpPr>
                  <p:nvPr/>
                </p:nvCxnSpPr>
                <p:spPr>
                  <a:xfrm>
                    <a:off x="9134164" y="4012286"/>
                    <a:ext cx="470168" cy="585227"/>
                  </a:xfrm>
                  <a:prstGeom prst="line">
                    <a:avLst/>
                  </a:prstGeom>
                  <a:ln w="6350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74DAC1E2-6AD3-C226-BD9C-7987895823D4}"/>
                      </a:ext>
                    </a:extLst>
                  </p:cNvPr>
                  <p:cNvCxnSpPr>
                    <a:cxnSpLocks/>
                    <a:stCxn id="106" idx="0"/>
                    <a:endCxn id="105" idx="2"/>
                  </p:cNvCxnSpPr>
                  <p:nvPr/>
                </p:nvCxnSpPr>
                <p:spPr>
                  <a:xfrm flipV="1">
                    <a:off x="8683078" y="4012286"/>
                    <a:ext cx="451086" cy="575509"/>
                  </a:xfrm>
                  <a:prstGeom prst="line">
                    <a:avLst/>
                  </a:prstGeom>
                  <a:ln w="6350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105" name="Graphic 104" descr="Elephant">
                    <a:extLst>
                      <a:ext uri="{FF2B5EF4-FFF2-40B4-BE49-F238E27FC236}">
                        <a16:creationId xmlns:a16="http://schemas.microsoft.com/office/drawing/2014/main" id="{5103B773-2619-6652-88F9-61851CC0C60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rcRect/>
                  <a:stretch/>
                </p:blipFill>
                <p:spPr>
                  <a:xfrm>
                    <a:off x="8852567" y="3449092"/>
                    <a:ext cx="563194" cy="563194"/>
                  </a:xfrm>
                  <a:prstGeom prst="rect">
                    <a:avLst/>
                  </a:prstGeom>
                </p:spPr>
              </p:pic>
              <p:pic>
                <p:nvPicPr>
                  <p:cNvPr id="106" name="Graphic 105" descr="Elephant">
                    <a:extLst>
                      <a:ext uri="{FF2B5EF4-FFF2-40B4-BE49-F238E27FC236}">
                        <a16:creationId xmlns:a16="http://schemas.microsoft.com/office/drawing/2014/main" id="{ACC7BC27-B2CD-7255-E525-BC7418931E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rcRect/>
                  <a:stretch/>
                </p:blipFill>
                <p:spPr>
                  <a:xfrm>
                    <a:off x="8401481" y="4587795"/>
                    <a:ext cx="563194" cy="563194"/>
                  </a:xfrm>
                  <a:prstGeom prst="rect">
                    <a:avLst/>
                  </a:prstGeom>
                </p:spPr>
              </p:pic>
              <p:pic>
                <p:nvPicPr>
                  <p:cNvPr id="107" name="Graphic 106" descr="Elephant">
                    <a:extLst>
                      <a:ext uri="{FF2B5EF4-FFF2-40B4-BE49-F238E27FC236}">
                        <a16:creationId xmlns:a16="http://schemas.microsoft.com/office/drawing/2014/main" id="{F334C3E6-7DF3-297D-406F-521AB36570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>
                    <a:extLst>
                      <a:ext uri="{96DAC541-7B7A-43D3-8B79-37D633B846F1}">
                        <asvg:svgBlip xmlns:asvg="http://schemas.microsoft.com/office/drawing/2016/SVG/main" r:embed="rId13"/>
                      </a:ext>
                    </a:extLst>
                  </a:blip>
                  <a:srcRect/>
                  <a:stretch/>
                </p:blipFill>
                <p:spPr>
                  <a:xfrm>
                    <a:off x="9322735" y="4597513"/>
                    <a:ext cx="563194" cy="563194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9C9EB7B2-B3B3-9F43-ED6F-ADC1C65F41D2}"/>
                </a:ext>
              </a:extLst>
            </p:cNvPr>
            <p:cNvGrpSpPr/>
            <p:nvPr/>
          </p:nvGrpSpPr>
          <p:grpSpPr>
            <a:xfrm>
              <a:off x="843550" y="1750472"/>
              <a:ext cx="3619803" cy="4619444"/>
              <a:chOff x="843550" y="1750472"/>
              <a:chExt cx="3619803" cy="4619444"/>
            </a:xfrm>
          </p:grpSpPr>
          <p:pic>
            <p:nvPicPr>
              <p:cNvPr id="13" name="Graphic 12" descr="Elephant">
                <a:extLst>
                  <a:ext uri="{FF2B5EF4-FFF2-40B4-BE49-F238E27FC236}">
                    <a16:creationId xmlns:a16="http://schemas.microsoft.com/office/drawing/2014/main" id="{0EB55098-8908-CD29-9274-3C63B790F7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3765489" y="3407012"/>
                <a:ext cx="653938" cy="653938"/>
              </a:xfrm>
              <a:prstGeom prst="rect">
                <a:avLst/>
              </a:prstGeom>
            </p:spPr>
          </p:pic>
          <p:pic>
            <p:nvPicPr>
              <p:cNvPr id="18" name="Graphic 17" descr="Elephant">
                <a:extLst>
                  <a:ext uri="{FF2B5EF4-FFF2-40B4-BE49-F238E27FC236}">
                    <a16:creationId xmlns:a16="http://schemas.microsoft.com/office/drawing/2014/main" id="{64FA7CE4-BA73-94BD-B162-B667B6443E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3613335" y="2787100"/>
                <a:ext cx="850018" cy="850018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CA0807-FB48-F849-D3A7-88AE5ECCAE12}"/>
                  </a:ext>
                </a:extLst>
              </p:cNvPr>
              <p:cNvSpPr txBox="1"/>
              <p:nvPr/>
            </p:nvSpPr>
            <p:spPr>
              <a:xfrm>
                <a:off x="1959700" y="5939029"/>
                <a:ext cx="144026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O" sz="22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Variasjon</a:t>
                </a:r>
              </a:p>
            </p:txBody>
          </p:sp>
          <p:pic>
            <p:nvPicPr>
              <p:cNvPr id="8" name="Graphic 7" descr="Elephant">
                <a:extLst>
                  <a:ext uri="{FF2B5EF4-FFF2-40B4-BE49-F238E27FC236}">
                    <a16:creationId xmlns:a16="http://schemas.microsoft.com/office/drawing/2014/main" id="{60A43B37-656D-5B72-0801-9BF502F1B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3561156" y="2370285"/>
                <a:ext cx="647020" cy="647020"/>
              </a:xfrm>
              <a:prstGeom prst="rect">
                <a:avLst/>
              </a:prstGeom>
            </p:spPr>
          </p:pic>
          <p:pic>
            <p:nvPicPr>
              <p:cNvPr id="10" name="Graphic 9" descr="Elephant">
                <a:extLst>
                  <a:ext uri="{FF2B5EF4-FFF2-40B4-BE49-F238E27FC236}">
                    <a16:creationId xmlns:a16="http://schemas.microsoft.com/office/drawing/2014/main" id="{95D2F17E-1D2C-9693-28ED-8E5FE48D4C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1805407" y="3367580"/>
                <a:ext cx="445132" cy="445132"/>
              </a:xfrm>
              <a:prstGeom prst="rect">
                <a:avLst/>
              </a:prstGeom>
            </p:spPr>
          </p:pic>
          <p:pic>
            <p:nvPicPr>
              <p:cNvPr id="11" name="Graphic 10" descr="Elephant">
                <a:extLst>
                  <a:ext uri="{FF2B5EF4-FFF2-40B4-BE49-F238E27FC236}">
                    <a16:creationId xmlns:a16="http://schemas.microsoft.com/office/drawing/2014/main" id="{513DDD04-30C7-57BF-610B-A8AAB95A1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217639" y="3133766"/>
                <a:ext cx="386759" cy="386759"/>
              </a:xfrm>
              <a:prstGeom prst="rect">
                <a:avLst/>
              </a:prstGeom>
            </p:spPr>
          </p:pic>
          <p:pic>
            <p:nvPicPr>
              <p:cNvPr id="12" name="Graphic 11" descr="Elephant">
                <a:extLst>
                  <a:ext uri="{FF2B5EF4-FFF2-40B4-BE49-F238E27FC236}">
                    <a16:creationId xmlns:a16="http://schemas.microsoft.com/office/drawing/2014/main" id="{693E4BB5-BF96-1178-67A8-CE22D1B784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1339549" y="3730584"/>
                <a:ext cx="850018" cy="850018"/>
              </a:xfrm>
              <a:prstGeom prst="rect">
                <a:avLst/>
              </a:prstGeom>
            </p:spPr>
          </p:pic>
          <p:pic>
            <p:nvPicPr>
              <p:cNvPr id="14" name="Graphic 13" descr="Elephant">
                <a:extLst>
                  <a:ext uri="{FF2B5EF4-FFF2-40B4-BE49-F238E27FC236}">
                    <a16:creationId xmlns:a16="http://schemas.microsoft.com/office/drawing/2014/main" id="{73BF7932-9C95-BFDD-7CD7-FE10A40576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191375" y="5011921"/>
                <a:ext cx="850018" cy="850018"/>
              </a:xfrm>
              <a:prstGeom prst="rect">
                <a:avLst/>
              </a:prstGeom>
            </p:spPr>
          </p:pic>
          <p:pic>
            <p:nvPicPr>
              <p:cNvPr id="15" name="Graphic 14" descr="Elephant">
                <a:extLst>
                  <a:ext uri="{FF2B5EF4-FFF2-40B4-BE49-F238E27FC236}">
                    <a16:creationId xmlns:a16="http://schemas.microsoft.com/office/drawing/2014/main" id="{2531CD64-3EC6-84F9-DCAE-67E65805C8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94084" y="3317467"/>
                <a:ext cx="689867" cy="689867"/>
              </a:xfrm>
              <a:prstGeom prst="rect">
                <a:avLst/>
              </a:prstGeom>
            </p:spPr>
          </p:pic>
          <p:pic>
            <p:nvPicPr>
              <p:cNvPr id="16" name="Graphic 15" descr="Elephant">
                <a:extLst>
                  <a:ext uri="{FF2B5EF4-FFF2-40B4-BE49-F238E27FC236}">
                    <a16:creationId xmlns:a16="http://schemas.microsoft.com/office/drawing/2014/main" id="{F2308C1F-FD52-F2B0-1EA4-7A590B1E31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2682701" y="3409924"/>
                <a:ext cx="647020" cy="647020"/>
              </a:xfrm>
              <a:prstGeom prst="rect">
                <a:avLst/>
              </a:prstGeom>
            </p:spPr>
          </p:pic>
          <p:pic>
            <p:nvPicPr>
              <p:cNvPr id="17" name="Graphic 16" descr="Elephant">
                <a:extLst>
                  <a:ext uri="{FF2B5EF4-FFF2-40B4-BE49-F238E27FC236}">
                    <a16:creationId xmlns:a16="http://schemas.microsoft.com/office/drawing/2014/main" id="{6E11A032-A61D-6D3B-D61E-938DF820F8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2243578" y="2855242"/>
                <a:ext cx="850018" cy="850018"/>
              </a:xfrm>
              <a:prstGeom prst="rect">
                <a:avLst/>
              </a:prstGeom>
            </p:spPr>
          </p:pic>
          <p:pic>
            <p:nvPicPr>
              <p:cNvPr id="19" name="Graphic 18" descr="Elephant">
                <a:extLst>
                  <a:ext uri="{FF2B5EF4-FFF2-40B4-BE49-F238E27FC236}">
                    <a16:creationId xmlns:a16="http://schemas.microsoft.com/office/drawing/2014/main" id="{0A7FEC7C-D314-5332-9653-FDDF61487A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2644883" y="4648672"/>
                <a:ext cx="653972" cy="653972"/>
              </a:xfrm>
              <a:prstGeom prst="rect">
                <a:avLst/>
              </a:prstGeom>
            </p:spPr>
          </p:pic>
          <p:pic>
            <p:nvPicPr>
              <p:cNvPr id="20" name="Graphic 19" descr="Elephant">
                <a:extLst>
                  <a:ext uri="{FF2B5EF4-FFF2-40B4-BE49-F238E27FC236}">
                    <a16:creationId xmlns:a16="http://schemas.microsoft.com/office/drawing/2014/main" id="{620C6B3F-B7B5-E53D-4E5E-FEFBE9E3D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3125250" y="1750472"/>
                <a:ext cx="835305" cy="835305"/>
              </a:xfrm>
              <a:prstGeom prst="rect">
                <a:avLst/>
              </a:prstGeom>
            </p:spPr>
          </p:pic>
          <p:pic>
            <p:nvPicPr>
              <p:cNvPr id="21" name="Graphic 20" descr="Elephant">
                <a:extLst>
                  <a:ext uri="{FF2B5EF4-FFF2-40B4-BE49-F238E27FC236}">
                    <a16:creationId xmlns:a16="http://schemas.microsoft.com/office/drawing/2014/main" id="{EB11F366-01FB-AF21-84DE-CD08B2435D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1678003" y="2841346"/>
                <a:ext cx="584840" cy="584840"/>
              </a:xfrm>
              <a:prstGeom prst="rect">
                <a:avLst/>
              </a:prstGeom>
            </p:spPr>
          </p:pic>
          <p:pic>
            <p:nvPicPr>
              <p:cNvPr id="22" name="Graphic 21" descr="Elephant">
                <a:extLst>
                  <a:ext uri="{FF2B5EF4-FFF2-40B4-BE49-F238E27FC236}">
                    <a16:creationId xmlns:a16="http://schemas.microsoft.com/office/drawing/2014/main" id="{D39674EA-8009-C57D-4284-5D0253988A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1787069" y="2348530"/>
                <a:ext cx="707753" cy="707753"/>
              </a:xfrm>
              <a:prstGeom prst="rect">
                <a:avLst/>
              </a:prstGeom>
            </p:spPr>
          </p:pic>
          <p:pic>
            <p:nvPicPr>
              <p:cNvPr id="23" name="Graphic 22" descr="Elephant">
                <a:extLst>
                  <a:ext uri="{FF2B5EF4-FFF2-40B4-BE49-F238E27FC236}">
                    <a16:creationId xmlns:a16="http://schemas.microsoft.com/office/drawing/2014/main" id="{EFD0C04B-DF13-D02F-9135-5B548E150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2144148" y="3804893"/>
                <a:ext cx="1139457" cy="1139457"/>
              </a:xfrm>
              <a:prstGeom prst="rect">
                <a:avLst/>
              </a:prstGeom>
            </p:spPr>
          </p:pic>
          <p:pic>
            <p:nvPicPr>
              <p:cNvPr id="24" name="Graphic 23" descr="Elephant">
                <a:extLst>
                  <a:ext uri="{FF2B5EF4-FFF2-40B4-BE49-F238E27FC236}">
                    <a16:creationId xmlns:a16="http://schemas.microsoft.com/office/drawing/2014/main" id="{E322B4D7-A438-EFF4-DBC7-713AEE05BF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843550" y="2702407"/>
                <a:ext cx="850018" cy="850018"/>
              </a:xfrm>
              <a:prstGeom prst="rect">
                <a:avLst/>
              </a:prstGeom>
            </p:spPr>
          </p:pic>
          <p:pic>
            <p:nvPicPr>
              <p:cNvPr id="25" name="Graphic 24" descr="Elephant">
                <a:extLst>
                  <a:ext uri="{FF2B5EF4-FFF2-40B4-BE49-F238E27FC236}">
                    <a16:creationId xmlns:a16="http://schemas.microsoft.com/office/drawing/2014/main" id="{F058E9E7-3E8A-DFF0-5DC2-E19F19A040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249800" y="4084813"/>
                <a:ext cx="850018" cy="850018"/>
              </a:xfrm>
              <a:prstGeom prst="rect">
                <a:avLst/>
              </a:prstGeom>
            </p:spPr>
          </p:pic>
          <p:pic>
            <p:nvPicPr>
              <p:cNvPr id="26" name="Graphic 25" descr="Elephant">
                <a:extLst>
                  <a:ext uri="{FF2B5EF4-FFF2-40B4-BE49-F238E27FC236}">
                    <a16:creationId xmlns:a16="http://schemas.microsoft.com/office/drawing/2014/main" id="{DFBDB002-7617-BE4B-13B6-3F40D2991F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1181668" y="4397264"/>
                <a:ext cx="559927" cy="559927"/>
              </a:xfrm>
              <a:prstGeom prst="rect">
                <a:avLst/>
              </a:prstGeom>
            </p:spPr>
          </p:pic>
          <p:pic>
            <p:nvPicPr>
              <p:cNvPr id="27" name="Graphic 26" descr="Elephant">
                <a:extLst>
                  <a:ext uri="{FF2B5EF4-FFF2-40B4-BE49-F238E27FC236}">
                    <a16:creationId xmlns:a16="http://schemas.microsoft.com/office/drawing/2014/main" id="{E91996CF-0D6C-AC1D-5B98-ADA6B8117B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2355129" y="1868897"/>
                <a:ext cx="765450" cy="765450"/>
              </a:xfrm>
              <a:prstGeom prst="rect">
                <a:avLst/>
              </a:prstGeom>
            </p:spPr>
          </p:pic>
          <p:pic>
            <p:nvPicPr>
              <p:cNvPr id="28" name="Graphic 27" descr="Elephant">
                <a:extLst>
                  <a:ext uri="{FF2B5EF4-FFF2-40B4-BE49-F238E27FC236}">
                    <a16:creationId xmlns:a16="http://schemas.microsoft.com/office/drawing/2014/main" id="{67FABBF4-F88F-2318-A50B-D5973342C9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1706127" y="4515546"/>
                <a:ext cx="559927" cy="559927"/>
              </a:xfrm>
              <a:prstGeom prst="rect">
                <a:avLst/>
              </a:prstGeom>
            </p:spPr>
          </p:pic>
          <p:pic>
            <p:nvPicPr>
              <p:cNvPr id="29" name="Graphic 28" descr="Elephant">
                <a:extLst>
                  <a:ext uri="{FF2B5EF4-FFF2-40B4-BE49-F238E27FC236}">
                    <a16:creationId xmlns:a16="http://schemas.microsoft.com/office/drawing/2014/main" id="{F9F6B0E4-70F0-CCFD-EAD4-846CB643B5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141964" y="2299351"/>
                <a:ext cx="559927" cy="559927"/>
              </a:xfrm>
              <a:prstGeom prst="rect">
                <a:avLst/>
              </a:prstGeom>
            </p:spPr>
          </p:pic>
          <p:pic>
            <p:nvPicPr>
              <p:cNvPr id="30" name="Graphic 29" descr="Elephant">
                <a:extLst>
                  <a:ext uri="{FF2B5EF4-FFF2-40B4-BE49-F238E27FC236}">
                    <a16:creationId xmlns:a16="http://schemas.microsoft.com/office/drawing/2014/main" id="{8EB17367-2D19-9E20-6487-078EE9277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249985" y="3758965"/>
                <a:ext cx="559927" cy="559927"/>
              </a:xfrm>
              <a:prstGeom prst="rect">
                <a:avLst/>
              </a:prstGeom>
            </p:spPr>
          </p:pic>
          <p:pic>
            <p:nvPicPr>
              <p:cNvPr id="31" name="Graphic 30" descr="Elephant">
                <a:extLst>
                  <a:ext uri="{FF2B5EF4-FFF2-40B4-BE49-F238E27FC236}">
                    <a16:creationId xmlns:a16="http://schemas.microsoft.com/office/drawing/2014/main" id="{7D6A1E83-A5CB-0169-7457-3EEA7844AE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2590429" y="2625706"/>
                <a:ext cx="408285" cy="408285"/>
              </a:xfrm>
              <a:prstGeom prst="rect">
                <a:avLst/>
              </a:prstGeom>
            </p:spPr>
          </p:pic>
          <p:pic>
            <p:nvPicPr>
              <p:cNvPr id="32" name="Graphic 31" descr="Elephant">
                <a:extLst>
                  <a:ext uri="{FF2B5EF4-FFF2-40B4-BE49-F238E27FC236}">
                    <a16:creationId xmlns:a16="http://schemas.microsoft.com/office/drawing/2014/main" id="{0F7236B4-124F-FA04-790D-EF1659881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2097989" y="4834860"/>
                <a:ext cx="559927" cy="559927"/>
              </a:xfrm>
              <a:prstGeom prst="rect">
                <a:avLst/>
              </a:prstGeom>
            </p:spPr>
          </p:pic>
          <p:pic>
            <p:nvPicPr>
              <p:cNvPr id="33" name="Graphic 32" descr="Elephant">
                <a:extLst>
                  <a:ext uri="{FF2B5EF4-FFF2-40B4-BE49-F238E27FC236}">
                    <a16:creationId xmlns:a16="http://schemas.microsoft.com/office/drawing/2014/main" id="{CB196769-5AE0-38A8-3DE9-174687B405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1200760" y="4884044"/>
                <a:ext cx="850018" cy="850018"/>
              </a:xfrm>
              <a:prstGeom prst="rect">
                <a:avLst/>
              </a:prstGeom>
            </p:spPr>
          </p:pic>
          <p:pic>
            <p:nvPicPr>
              <p:cNvPr id="34" name="Graphic 33" descr="Elephant">
                <a:extLst>
                  <a:ext uri="{FF2B5EF4-FFF2-40B4-BE49-F238E27FC236}">
                    <a16:creationId xmlns:a16="http://schemas.microsoft.com/office/drawing/2014/main" id="{EEE72649-F5AB-C0B1-D8F2-FB34EE5720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2953059" y="2332978"/>
                <a:ext cx="563476" cy="563476"/>
              </a:xfrm>
              <a:prstGeom prst="rect">
                <a:avLst/>
              </a:prstGeom>
            </p:spPr>
          </p:pic>
          <p:pic>
            <p:nvPicPr>
              <p:cNvPr id="36" name="Graphic 35" descr="Elephant">
                <a:extLst>
                  <a:ext uri="{FF2B5EF4-FFF2-40B4-BE49-F238E27FC236}">
                    <a16:creationId xmlns:a16="http://schemas.microsoft.com/office/drawing/2014/main" id="{F3103484-441D-6EF9-CB0C-4E1FDF1C8B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066968" y="2751320"/>
                <a:ext cx="505428" cy="505428"/>
              </a:xfrm>
              <a:prstGeom prst="rect">
                <a:avLst/>
              </a:prstGeom>
            </p:spPr>
          </p:pic>
          <p:pic>
            <p:nvPicPr>
              <p:cNvPr id="37" name="Graphic 36" descr="Elephant">
                <a:extLst>
                  <a:ext uri="{FF2B5EF4-FFF2-40B4-BE49-F238E27FC236}">
                    <a16:creationId xmlns:a16="http://schemas.microsoft.com/office/drawing/2014/main" id="{47F5305D-CCE5-5CD3-FD37-9B277AA82B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3347742" y="4691025"/>
                <a:ext cx="563476" cy="563476"/>
              </a:xfrm>
              <a:prstGeom prst="rect">
                <a:avLst/>
              </a:prstGeom>
            </p:spPr>
          </p:pic>
          <p:pic>
            <p:nvPicPr>
              <p:cNvPr id="38" name="Graphic 37" descr="Elephant">
                <a:extLst>
                  <a:ext uri="{FF2B5EF4-FFF2-40B4-BE49-F238E27FC236}">
                    <a16:creationId xmlns:a16="http://schemas.microsoft.com/office/drawing/2014/main" id="{1DEBD5D1-2EF9-30C0-01A1-E1FF686CD3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2172462" y="3581296"/>
                <a:ext cx="505428" cy="505428"/>
              </a:xfrm>
              <a:prstGeom prst="rect">
                <a:avLst/>
              </a:prstGeom>
            </p:spPr>
          </p:pic>
          <p:pic>
            <p:nvPicPr>
              <p:cNvPr id="40" name="Graphic 39" descr="Elephant">
                <a:extLst>
                  <a:ext uri="{FF2B5EF4-FFF2-40B4-BE49-F238E27FC236}">
                    <a16:creationId xmlns:a16="http://schemas.microsoft.com/office/drawing/2014/main" id="{F589CD4E-E850-5FD1-B688-CE614988EF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811175" y="1970039"/>
                <a:ext cx="559927" cy="559927"/>
              </a:xfrm>
              <a:prstGeom prst="rect">
                <a:avLst/>
              </a:prstGeom>
            </p:spPr>
          </p:pic>
          <p:pic>
            <p:nvPicPr>
              <p:cNvPr id="41" name="Graphic 40" descr="Elephant">
                <a:extLst>
                  <a:ext uri="{FF2B5EF4-FFF2-40B4-BE49-F238E27FC236}">
                    <a16:creationId xmlns:a16="http://schemas.microsoft.com/office/drawing/2014/main" id="{89881BD4-C18F-7296-0C54-F3E6E0A0A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2776498" y="5244747"/>
                <a:ext cx="408285" cy="408285"/>
              </a:xfrm>
              <a:prstGeom prst="rect">
                <a:avLst/>
              </a:prstGeom>
            </p:spPr>
          </p:pic>
          <p:pic>
            <p:nvPicPr>
              <p:cNvPr id="130" name="Graphic 129" descr="Elephant">
                <a:extLst>
                  <a:ext uri="{FF2B5EF4-FFF2-40B4-BE49-F238E27FC236}">
                    <a16:creationId xmlns:a16="http://schemas.microsoft.com/office/drawing/2014/main" id="{F6FB51B6-808D-9F1C-366F-8A1146912C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2156169" y="5245011"/>
                <a:ext cx="505428" cy="505428"/>
              </a:xfrm>
              <a:prstGeom prst="rect">
                <a:avLst/>
              </a:prstGeom>
            </p:spPr>
          </p:pic>
          <p:pic>
            <p:nvPicPr>
              <p:cNvPr id="131" name="Graphic 130" descr="Elephant">
                <a:extLst>
                  <a:ext uri="{FF2B5EF4-FFF2-40B4-BE49-F238E27FC236}">
                    <a16:creationId xmlns:a16="http://schemas.microsoft.com/office/drawing/2014/main" id="{E7C4CDE2-75C5-822F-DA02-0B9FCF2B7E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836399" y="3902999"/>
                <a:ext cx="386759" cy="386759"/>
              </a:xfrm>
              <a:prstGeom prst="rect">
                <a:avLst/>
              </a:prstGeom>
            </p:spPr>
          </p:pic>
          <p:pic>
            <p:nvPicPr>
              <p:cNvPr id="132" name="Graphic 131" descr="Elephant">
                <a:extLst>
                  <a:ext uri="{FF2B5EF4-FFF2-40B4-BE49-F238E27FC236}">
                    <a16:creationId xmlns:a16="http://schemas.microsoft.com/office/drawing/2014/main" id="{CD841891-4DC9-8AE9-9E65-92F3D74FD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>
                <a:off x="3312956" y="3414552"/>
                <a:ext cx="445132" cy="44513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17624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Hvorfor trenger vi variasjon?</a:t>
            </a:r>
          </a:p>
        </p:txBody>
      </p:sp>
      <p:grpSp>
        <p:nvGrpSpPr>
          <p:cNvPr id="137" name="Group 136" descr="Bilde som bruker ulike elefantsymbol til å illustrere begrepet variasjon">
            <a:extLst>
              <a:ext uri="{FF2B5EF4-FFF2-40B4-BE49-F238E27FC236}">
                <a16:creationId xmlns:a16="http://schemas.microsoft.com/office/drawing/2014/main" id="{9C9EB7B2-B3B3-9F43-ED6F-ADC1C65F41D2}"/>
              </a:ext>
            </a:extLst>
          </p:cNvPr>
          <p:cNvGrpSpPr/>
          <p:nvPr/>
        </p:nvGrpSpPr>
        <p:grpSpPr>
          <a:xfrm>
            <a:off x="843550" y="1750472"/>
            <a:ext cx="3619803" cy="4619444"/>
            <a:chOff x="843550" y="1750472"/>
            <a:chExt cx="3619803" cy="4619444"/>
          </a:xfrm>
        </p:grpSpPr>
        <p:pic>
          <p:nvPicPr>
            <p:cNvPr id="13" name="Graphic 12" descr="Elephant">
              <a:extLst>
                <a:ext uri="{FF2B5EF4-FFF2-40B4-BE49-F238E27FC236}">
                  <a16:creationId xmlns:a16="http://schemas.microsoft.com/office/drawing/2014/main" id="{0EB55098-8908-CD29-9274-3C63B790F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765489" y="3407012"/>
              <a:ext cx="653938" cy="653938"/>
            </a:xfrm>
            <a:prstGeom prst="rect">
              <a:avLst/>
            </a:prstGeom>
          </p:spPr>
        </p:pic>
        <p:pic>
          <p:nvPicPr>
            <p:cNvPr id="18" name="Graphic 17" descr="Elephant">
              <a:extLst>
                <a:ext uri="{FF2B5EF4-FFF2-40B4-BE49-F238E27FC236}">
                  <a16:creationId xmlns:a16="http://schemas.microsoft.com/office/drawing/2014/main" id="{64FA7CE4-BA73-94BD-B162-B667B6443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613335" y="2787100"/>
              <a:ext cx="850018" cy="850018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4CA0807-FB48-F849-D3A7-88AE5ECCAE12}"/>
                </a:ext>
              </a:extLst>
            </p:cNvPr>
            <p:cNvSpPr txBox="1"/>
            <p:nvPr/>
          </p:nvSpPr>
          <p:spPr>
            <a:xfrm>
              <a:off x="1959700" y="5939029"/>
              <a:ext cx="14403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2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Variasjon</a:t>
              </a:r>
            </a:p>
          </p:txBody>
        </p:sp>
        <p:pic>
          <p:nvPicPr>
            <p:cNvPr id="8" name="Graphic 7" descr="Elephant">
              <a:extLst>
                <a:ext uri="{FF2B5EF4-FFF2-40B4-BE49-F238E27FC236}">
                  <a16:creationId xmlns:a16="http://schemas.microsoft.com/office/drawing/2014/main" id="{60A43B37-656D-5B72-0801-9BF502F1B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561156" y="2370285"/>
              <a:ext cx="647020" cy="647020"/>
            </a:xfrm>
            <a:prstGeom prst="rect">
              <a:avLst/>
            </a:prstGeom>
          </p:spPr>
        </p:pic>
        <p:pic>
          <p:nvPicPr>
            <p:cNvPr id="10" name="Graphic 9" descr="Elephant">
              <a:extLst>
                <a:ext uri="{FF2B5EF4-FFF2-40B4-BE49-F238E27FC236}">
                  <a16:creationId xmlns:a16="http://schemas.microsoft.com/office/drawing/2014/main" id="{95D2F17E-1D2C-9693-28ED-8E5FE48D4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805407" y="3367580"/>
              <a:ext cx="445132" cy="445132"/>
            </a:xfrm>
            <a:prstGeom prst="rect">
              <a:avLst/>
            </a:prstGeom>
          </p:spPr>
        </p:pic>
        <p:pic>
          <p:nvPicPr>
            <p:cNvPr id="11" name="Graphic 10" descr="Elephant">
              <a:extLst>
                <a:ext uri="{FF2B5EF4-FFF2-40B4-BE49-F238E27FC236}">
                  <a16:creationId xmlns:a16="http://schemas.microsoft.com/office/drawing/2014/main" id="{513DDD04-30C7-57BF-610B-A8AAB95A1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217639" y="3133766"/>
              <a:ext cx="386759" cy="386759"/>
            </a:xfrm>
            <a:prstGeom prst="rect">
              <a:avLst/>
            </a:prstGeom>
          </p:spPr>
        </p:pic>
        <p:pic>
          <p:nvPicPr>
            <p:cNvPr id="12" name="Graphic 11" descr="Elephant">
              <a:extLst>
                <a:ext uri="{FF2B5EF4-FFF2-40B4-BE49-F238E27FC236}">
                  <a16:creationId xmlns:a16="http://schemas.microsoft.com/office/drawing/2014/main" id="{693E4BB5-BF96-1178-67A8-CE22D1B78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39549" y="3730584"/>
              <a:ext cx="850018" cy="850018"/>
            </a:xfrm>
            <a:prstGeom prst="rect">
              <a:avLst/>
            </a:prstGeom>
          </p:spPr>
        </p:pic>
        <p:pic>
          <p:nvPicPr>
            <p:cNvPr id="14" name="Graphic 13" descr="Elephant">
              <a:extLst>
                <a:ext uri="{FF2B5EF4-FFF2-40B4-BE49-F238E27FC236}">
                  <a16:creationId xmlns:a16="http://schemas.microsoft.com/office/drawing/2014/main" id="{73BF7932-9C95-BFDD-7CD7-FE10A4057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3191375" y="5011921"/>
              <a:ext cx="850018" cy="850018"/>
            </a:xfrm>
            <a:prstGeom prst="rect">
              <a:avLst/>
            </a:prstGeom>
          </p:spPr>
        </p:pic>
        <p:pic>
          <p:nvPicPr>
            <p:cNvPr id="15" name="Graphic 14" descr="Elephant">
              <a:extLst>
                <a:ext uri="{FF2B5EF4-FFF2-40B4-BE49-F238E27FC236}">
                  <a16:creationId xmlns:a16="http://schemas.microsoft.com/office/drawing/2014/main" id="{2531CD64-3EC6-84F9-DCAE-67E65805C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094084" y="3317467"/>
              <a:ext cx="689867" cy="689867"/>
            </a:xfrm>
            <a:prstGeom prst="rect">
              <a:avLst/>
            </a:prstGeom>
          </p:spPr>
        </p:pic>
        <p:pic>
          <p:nvPicPr>
            <p:cNvPr id="16" name="Graphic 15" descr="Elephant">
              <a:extLst>
                <a:ext uri="{FF2B5EF4-FFF2-40B4-BE49-F238E27FC236}">
                  <a16:creationId xmlns:a16="http://schemas.microsoft.com/office/drawing/2014/main" id="{F2308C1F-FD52-F2B0-1EA4-7A590B1E3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682701" y="3409924"/>
              <a:ext cx="647020" cy="647020"/>
            </a:xfrm>
            <a:prstGeom prst="rect">
              <a:avLst/>
            </a:prstGeom>
          </p:spPr>
        </p:pic>
        <p:pic>
          <p:nvPicPr>
            <p:cNvPr id="17" name="Graphic 16" descr="Elephant">
              <a:extLst>
                <a:ext uri="{FF2B5EF4-FFF2-40B4-BE49-F238E27FC236}">
                  <a16:creationId xmlns:a16="http://schemas.microsoft.com/office/drawing/2014/main" id="{6E11A032-A61D-6D3B-D61E-938DF820F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243578" y="2855242"/>
              <a:ext cx="850018" cy="850018"/>
            </a:xfrm>
            <a:prstGeom prst="rect">
              <a:avLst/>
            </a:prstGeom>
          </p:spPr>
        </p:pic>
        <p:pic>
          <p:nvPicPr>
            <p:cNvPr id="19" name="Graphic 18" descr="Elephant">
              <a:extLst>
                <a:ext uri="{FF2B5EF4-FFF2-40B4-BE49-F238E27FC236}">
                  <a16:creationId xmlns:a16="http://schemas.microsoft.com/office/drawing/2014/main" id="{0A7FEC7C-D314-5332-9653-FDDF61487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644883" y="4648672"/>
              <a:ext cx="653972" cy="653972"/>
            </a:xfrm>
            <a:prstGeom prst="rect">
              <a:avLst/>
            </a:prstGeom>
          </p:spPr>
        </p:pic>
        <p:pic>
          <p:nvPicPr>
            <p:cNvPr id="20" name="Graphic 19" descr="Elephant">
              <a:extLst>
                <a:ext uri="{FF2B5EF4-FFF2-40B4-BE49-F238E27FC236}">
                  <a16:creationId xmlns:a16="http://schemas.microsoft.com/office/drawing/2014/main" id="{620C6B3F-B7B5-E53D-4E5E-FEFBE9E3D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125250" y="1750472"/>
              <a:ext cx="835305" cy="835305"/>
            </a:xfrm>
            <a:prstGeom prst="rect">
              <a:avLst/>
            </a:prstGeom>
          </p:spPr>
        </p:pic>
        <p:pic>
          <p:nvPicPr>
            <p:cNvPr id="21" name="Graphic 20" descr="Elephant">
              <a:extLst>
                <a:ext uri="{FF2B5EF4-FFF2-40B4-BE49-F238E27FC236}">
                  <a16:creationId xmlns:a16="http://schemas.microsoft.com/office/drawing/2014/main" id="{EB11F366-01FB-AF21-84DE-CD08B2435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678003" y="2841346"/>
              <a:ext cx="584840" cy="584840"/>
            </a:xfrm>
            <a:prstGeom prst="rect">
              <a:avLst/>
            </a:prstGeom>
          </p:spPr>
        </p:pic>
        <p:pic>
          <p:nvPicPr>
            <p:cNvPr id="22" name="Graphic 21" descr="Elephant">
              <a:extLst>
                <a:ext uri="{FF2B5EF4-FFF2-40B4-BE49-F238E27FC236}">
                  <a16:creationId xmlns:a16="http://schemas.microsoft.com/office/drawing/2014/main" id="{D39674EA-8009-C57D-4284-5D0253988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787069" y="2348530"/>
              <a:ext cx="707753" cy="707753"/>
            </a:xfrm>
            <a:prstGeom prst="rect">
              <a:avLst/>
            </a:prstGeom>
          </p:spPr>
        </p:pic>
        <p:pic>
          <p:nvPicPr>
            <p:cNvPr id="23" name="Graphic 22" descr="Elephant">
              <a:extLst>
                <a:ext uri="{FF2B5EF4-FFF2-40B4-BE49-F238E27FC236}">
                  <a16:creationId xmlns:a16="http://schemas.microsoft.com/office/drawing/2014/main" id="{EFD0C04B-DF13-D02F-9135-5B548E150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144148" y="3804893"/>
              <a:ext cx="1139457" cy="1139457"/>
            </a:xfrm>
            <a:prstGeom prst="rect">
              <a:avLst/>
            </a:prstGeom>
          </p:spPr>
        </p:pic>
        <p:pic>
          <p:nvPicPr>
            <p:cNvPr id="24" name="Graphic 23" descr="Elephant">
              <a:extLst>
                <a:ext uri="{FF2B5EF4-FFF2-40B4-BE49-F238E27FC236}">
                  <a16:creationId xmlns:a16="http://schemas.microsoft.com/office/drawing/2014/main" id="{E322B4D7-A438-EFF4-DBC7-713AEE05B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43550" y="2702407"/>
              <a:ext cx="850018" cy="850018"/>
            </a:xfrm>
            <a:prstGeom prst="rect">
              <a:avLst/>
            </a:prstGeom>
          </p:spPr>
        </p:pic>
        <p:pic>
          <p:nvPicPr>
            <p:cNvPr id="25" name="Graphic 24" descr="Elephant">
              <a:extLst>
                <a:ext uri="{FF2B5EF4-FFF2-40B4-BE49-F238E27FC236}">
                  <a16:creationId xmlns:a16="http://schemas.microsoft.com/office/drawing/2014/main" id="{F058E9E7-3E8A-DFF0-5DC2-E19F19A04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3249800" y="4084813"/>
              <a:ext cx="850018" cy="850018"/>
            </a:xfrm>
            <a:prstGeom prst="rect">
              <a:avLst/>
            </a:prstGeom>
          </p:spPr>
        </p:pic>
        <p:pic>
          <p:nvPicPr>
            <p:cNvPr id="26" name="Graphic 25" descr="Elephant">
              <a:extLst>
                <a:ext uri="{FF2B5EF4-FFF2-40B4-BE49-F238E27FC236}">
                  <a16:creationId xmlns:a16="http://schemas.microsoft.com/office/drawing/2014/main" id="{DFBDB002-7617-BE4B-13B6-3F40D2991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181668" y="4397264"/>
              <a:ext cx="559927" cy="559927"/>
            </a:xfrm>
            <a:prstGeom prst="rect">
              <a:avLst/>
            </a:prstGeom>
          </p:spPr>
        </p:pic>
        <p:pic>
          <p:nvPicPr>
            <p:cNvPr id="27" name="Graphic 26" descr="Elephant">
              <a:extLst>
                <a:ext uri="{FF2B5EF4-FFF2-40B4-BE49-F238E27FC236}">
                  <a16:creationId xmlns:a16="http://schemas.microsoft.com/office/drawing/2014/main" id="{E91996CF-0D6C-AC1D-5B98-ADA6B8117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355129" y="1868897"/>
              <a:ext cx="765450" cy="765450"/>
            </a:xfrm>
            <a:prstGeom prst="rect">
              <a:avLst/>
            </a:prstGeom>
          </p:spPr>
        </p:pic>
        <p:pic>
          <p:nvPicPr>
            <p:cNvPr id="28" name="Graphic 27" descr="Elephant">
              <a:extLst>
                <a:ext uri="{FF2B5EF4-FFF2-40B4-BE49-F238E27FC236}">
                  <a16:creationId xmlns:a16="http://schemas.microsoft.com/office/drawing/2014/main" id="{67FABBF4-F88F-2318-A50B-D5973342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706127" y="4515546"/>
              <a:ext cx="559927" cy="559927"/>
            </a:xfrm>
            <a:prstGeom prst="rect">
              <a:avLst/>
            </a:prstGeom>
          </p:spPr>
        </p:pic>
        <p:pic>
          <p:nvPicPr>
            <p:cNvPr id="29" name="Graphic 28" descr="Elephant">
              <a:extLst>
                <a:ext uri="{FF2B5EF4-FFF2-40B4-BE49-F238E27FC236}">
                  <a16:creationId xmlns:a16="http://schemas.microsoft.com/office/drawing/2014/main" id="{F9F6B0E4-70F0-CCFD-EAD4-846CB643B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141964" y="2299351"/>
              <a:ext cx="559927" cy="559927"/>
            </a:xfrm>
            <a:prstGeom prst="rect">
              <a:avLst/>
            </a:prstGeom>
          </p:spPr>
        </p:pic>
        <p:pic>
          <p:nvPicPr>
            <p:cNvPr id="30" name="Graphic 29" descr="Elephant">
              <a:extLst>
                <a:ext uri="{FF2B5EF4-FFF2-40B4-BE49-F238E27FC236}">
                  <a16:creationId xmlns:a16="http://schemas.microsoft.com/office/drawing/2014/main" id="{8EB17367-2D19-9E20-6487-078EE9277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3249985" y="3758965"/>
              <a:ext cx="559927" cy="559927"/>
            </a:xfrm>
            <a:prstGeom prst="rect">
              <a:avLst/>
            </a:prstGeom>
          </p:spPr>
        </p:pic>
        <p:pic>
          <p:nvPicPr>
            <p:cNvPr id="31" name="Graphic 30" descr="Elephant">
              <a:extLst>
                <a:ext uri="{FF2B5EF4-FFF2-40B4-BE49-F238E27FC236}">
                  <a16:creationId xmlns:a16="http://schemas.microsoft.com/office/drawing/2014/main" id="{7D6A1E83-A5CB-0169-7457-3EEA7844A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590429" y="2625706"/>
              <a:ext cx="408285" cy="408285"/>
            </a:xfrm>
            <a:prstGeom prst="rect">
              <a:avLst/>
            </a:prstGeom>
          </p:spPr>
        </p:pic>
        <p:pic>
          <p:nvPicPr>
            <p:cNvPr id="32" name="Graphic 31" descr="Elephant">
              <a:extLst>
                <a:ext uri="{FF2B5EF4-FFF2-40B4-BE49-F238E27FC236}">
                  <a16:creationId xmlns:a16="http://schemas.microsoft.com/office/drawing/2014/main" id="{0F7236B4-124F-FA04-790D-EF1659881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097989" y="4834860"/>
              <a:ext cx="559927" cy="559927"/>
            </a:xfrm>
            <a:prstGeom prst="rect">
              <a:avLst/>
            </a:prstGeom>
          </p:spPr>
        </p:pic>
        <p:pic>
          <p:nvPicPr>
            <p:cNvPr id="33" name="Graphic 32" descr="Elephant">
              <a:extLst>
                <a:ext uri="{FF2B5EF4-FFF2-40B4-BE49-F238E27FC236}">
                  <a16:creationId xmlns:a16="http://schemas.microsoft.com/office/drawing/2014/main" id="{CB196769-5AE0-38A8-3DE9-174687B40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200760" y="4884044"/>
              <a:ext cx="850018" cy="850018"/>
            </a:xfrm>
            <a:prstGeom prst="rect">
              <a:avLst/>
            </a:prstGeom>
          </p:spPr>
        </p:pic>
        <p:pic>
          <p:nvPicPr>
            <p:cNvPr id="34" name="Graphic 33" descr="Elephant">
              <a:extLst>
                <a:ext uri="{FF2B5EF4-FFF2-40B4-BE49-F238E27FC236}">
                  <a16:creationId xmlns:a16="http://schemas.microsoft.com/office/drawing/2014/main" id="{EEE72649-F5AB-C0B1-D8F2-FB34EE572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953059" y="2332978"/>
              <a:ext cx="563476" cy="563476"/>
            </a:xfrm>
            <a:prstGeom prst="rect">
              <a:avLst/>
            </a:prstGeom>
          </p:spPr>
        </p:pic>
        <p:pic>
          <p:nvPicPr>
            <p:cNvPr id="36" name="Graphic 35" descr="Elephant">
              <a:extLst>
                <a:ext uri="{FF2B5EF4-FFF2-40B4-BE49-F238E27FC236}">
                  <a16:creationId xmlns:a16="http://schemas.microsoft.com/office/drawing/2014/main" id="{F3103484-441D-6EF9-CB0C-4E1FDF1C8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066968" y="2751320"/>
              <a:ext cx="505428" cy="505428"/>
            </a:xfrm>
            <a:prstGeom prst="rect">
              <a:avLst/>
            </a:prstGeom>
          </p:spPr>
        </p:pic>
        <p:pic>
          <p:nvPicPr>
            <p:cNvPr id="37" name="Graphic 36" descr="Elephant">
              <a:extLst>
                <a:ext uri="{FF2B5EF4-FFF2-40B4-BE49-F238E27FC236}">
                  <a16:creationId xmlns:a16="http://schemas.microsoft.com/office/drawing/2014/main" id="{47F5305D-CCE5-5CD3-FD37-9B277AA82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3347742" y="4691025"/>
              <a:ext cx="563476" cy="563476"/>
            </a:xfrm>
            <a:prstGeom prst="rect">
              <a:avLst/>
            </a:prstGeom>
          </p:spPr>
        </p:pic>
        <p:pic>
          <p:nvPicPr>
            <p:cNvPr id="38" name="Graphic 37" descr="Elephant">
              <a:extLst>
                <a:ext uri="{FF2B5EF4-FFF2-40B4-BE49-F238E27FC236}">
                  <a16:creationId xmlns:a16="http://schemas.microsoft.com/office/drawing/2014/main" id="{1DEBD5D1-2EF9-30C0-01A1-E1FF686CD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172462" y="3581296"/>
              <a:ext cx="505428" cy="505428"/>
            </a:xfrm>
            <a:prstGeom prst="rect">
              <a:avLst/>
            </a:prstGeom>
          </p:spPr>
        </p:pic>
        <p:pic>
          <p:nvPicPr>
            <p:cNvPr id="40" name="Graphic 39" descr="Elephant">
              <a:extLst>
                <a:ext uri="{FF2B5EF4-FFF2-40B4-BE49-F238E27FC236}">
                  <a16:creationId xmlns:a16="http://schemas.microsoft.com/office/drawing/2014/main" id="{F589CD4E-E850-5FD1-B688-CE614988E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811175" y="1970039"/>
              <a:ext cx="559927" cy="559927"/>
            </a:xfrm>
            <a:prstGeom prst="rect">
              <a:avLst/>
            </a:prstGeom>
          </p:spPr>
        </p:pic>
        <p:pic>
          <p:nvPicPr>
            <p:cNvPr id="41" name="Graphic 40" descr="Elephant">
              <a:extLst>
                <a:ext uri="{FF2B5EF4-FFF2-40B4-BE49-F238E27FC236}">
                  <a16:creationId xmlns:a16="http://schemas.microsoft.com/office/drawing/2014/main" id="{89881BD4-C18F-7296-0C54-F3E6E0A0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776498" y="5244747"/>
              <a:ext cx="408285" cy="408285"/>
            </a:xfrm>
            <a:prstGeom prst="rect">
              <a:avLst/>
            </a:prstGeom>
          </p:spPr>
        </p:pic>
        <p:pic>
          <p:nvPicPr>
            <p:cNvPr id="130" name="Graphic 129" descr="Elephant">
              <a:extLst>
                <a:ext uri="{FF2B5EF4-FFF2-40B4-BE49-F238E27FC236}">
                  <a16:creationId xmlns:a16="http://schemas.microsoft.com/office/drawing/2014/main" id="{F6FB51B6-808D-9F1C-366F-8A1146912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2156169" y="5245011"/>
              <a:ext cx="505428" cy="505428"/>
            </a:xfrm>
            <a:prstGeom prst="rect">
              <a:avLst/>
            </a:prstGeom>
          </p:spPr>
        </p:pic>
        <p:pic>
          <p:nvPicPr>
            <p:cNvPr id="131" name="Graphic 130" descr="Elephant">
              <a:extLst>
                <a:ext uri="{FF2B5EF4-FFF2-40B4-BE49-F238E27FC236}">
                  <a16:creationId xmlns:a16="http://schemas.microsoft.com/office/drawing/2014/main" id="{E7C4CDE2-75C5-822F-DA02-0B9FCF2B7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836399" y="3902999"/>
              <a:ext cx="386759" cy="386759"/>
            </a:xfrm>
            <a:prstGeom prst="rect">
              <a:avLst/>
            </a:prstGeom>
          </p:spPr>
        </p:pic>
        <p:pic>
          <p:nvPicPr>
            <p:cNvPr id="132" name="Graphic 131" descr="Elephant">
              <a:extLst>
                <a:ext uri="{FF2B5EF4-FFF2-40B4-BE49-F238E27FC236}">
                  <a16:creationId xmlns:a16="http://schemas.microsoft.com/office/drawing/2014/main" id="{CD841891-4DC9-8AE9-9E65-92F3D74FD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3312956" y="3414552"/>
              <a:ext cx="445132" cy="445132"/>
            </a:xfrm>
            <a:prstGeom prst="rect">
              <a:avLst/>
            </a:prstGeom>
          </p:spPr>
        </p:pic>
      </p:grpSp>
      <p:sp>
        <p:nvSpPr>
          <p:cNvPr id="4" name="TekstSylinder 3">
            <a:extLst>
              <a:ext uri="{FF2B5EF4-FFF2-40B4-BE49-F238E27FC236}">
                <a16:creationId xmlns:a16="http://schemas.microsoft.com/office/drawing/2014/main" id="{2FA8D6F8-6C5F-8834-8618-3D7FDE55D9D7}"/>
              </a:ext>
            </a:extLst>
          </p:cNvPr>
          <p:cNvSpPr txBox="1"/>
          <p:nvPr/>
        </p:nvSpPr>
        <p:spPr>
          <a:xfrm>
            <a:off x="4775201" y="2000952"/>
            <a:ext cx="7053942" cy="469013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Uten variasjon vil det ikke være noe for naturlig utvalg å velge mellom!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2000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Naturlig utvalg er en </a:t>
            </a:r>
            <a:r>
              <a:rPr lang="nb-NO" b="1" dirty="0">
                <a:latin typeface="Helvetica" pitchFamily="2" charset="0"/>
              </a:rPr>
              <a:t>sorteringsprosess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latin typeface="Helvetica" pitchFamily="2" charset="0"/>
              </a:rPr>
              <a:t>Hvis alle individene i populasjon er identiske, så er det det ikke noe å sortere blant!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b-NO" sz="2000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Den variasjonen som er relevant for naturlig utvalg er </a:t>
            </a:r>
            <a:r>
              <a:rPr lang="nb-NO" b="1" dirty="0">
                <a:latin typeface="Helvetica" pitchFamily="2" charset="0"/>
              </a:rPr>
              <a:t>fenotypisk variasjon</a:t>
            </a:r>
            <a:endParaRPr lang="nb-NO" dirty="0"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latin typeface="Helvetica" pitchFamily="2" charset="0"/>
              </a:rPr>
              <a:t>Variasjon i de observerbare trekkene til organismene i en populasjon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latin typeface="Helvetica" pitchFamily="2" charset="0"/>
              </a:rPr>
              <a:t>Morfologi, fysiologi, og atferd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b-NO" sz="2000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Den </a:t>
            </a:r>
            <a:r>
              <a:rPr lang="nb-NO" b="1" dirty="0">
                <a:latin typeface="Helvetica" pitchFamily="2" charset="0"/>
              </a:rPr>
              <a:t>mest relevante </a:t>
            </a:r>
            <a:r>
              <a:rPr lang="nb-NO" dirty="0">
                <a:latin typeface="Helvetica" pitchFamily="2" charset="0"/>
              </a:rPr>
              <a:t>variasjonen er den som påvirker «</a:t>
            </a:r>
            <a:r>
              <a:rPr lang="nb-NO" dirty="0" err="1">
                <a:latin typeface="Helvetica" pitchFamily="2" charset="0"/>
              </a:rPr>
              <a:t>fitness</a:t>
            </a:r>
            <a:r>
              <a:rPr lang="nb-NO" dirty="0">
                <a:latin typeface="Helvetica" pitchFamily="2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289102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Hvorfor trenger vi fitness-forskjeller?</a:t>
            </a:r>
          </a:p>
        </p:txBody>
      </p:sp>
      <p:grpSp>
        <p:nvGrpSpPr>
          <p:cNvPr id="135" name="Group 134" descr="Bilde som bruker ulike elefantsymbol for å illustrere begrepet «fitness-forskjeller». ">
            <a:extLst>
              <a:ext uri="{FF2B5EF4-FFF2-40B4-BE49-F238E27FC236}">
                <a16:creationId xmlns:a16="http://schemas.microsoft.com/office/drawing/2014/main" id="{B3228B4B-6A13-71C1-2E27-8E0623D777A6}"/>
              </a:ext>
            </a:extLst>
          </p:cNvPr>
          <p:cNvGrpSpPr/>
          <p:nvPr/>
        </p:nvGrpSpPr>
        <p:grpSpPr>
          <a:xfrm>
            <a:off x="408181" y="2816886"/>
            <a:ext cx="4047705" cy="2255962"/>
            <a:chOff x="4864066" y="3818371"/>
            <a:chExt cx="4810846" cy="2659778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F3A9DE0-A03C-C0EE-3F64-3C0AF44C9C1D}"/>
                </a:ext>
              </a:extLst>
            </p:cNvPr>
            <p:cNvSpPr txBox="1"/>
            <p:nvPr/>
          </p:nvSpPr>
          <p:spPr>
            <a:xfrm>
              <a:off x="5847378" y="5970133"/>
              <a:ext cx="3113524" cy="508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2200" b="1">
                  <a:latin typeface="Helvetica" panose="020B0604020202020204" pitchFamily="34" charset="0"/>
                  <a:cs typeface="Helvetica" panose="020B0604020202020204" pitchFamily="34" charset="0"/>
                </a:rPr>
                <a:t>Fitness-forskjeller</a:t>
              </a:r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9A90EB0A-1CE3-5992-3E16-35BC9AF31041}"/>
                </a:ext>
              </a:extLst>
            </p:cNvPr>
            <p:cNvGrpSpPr/>
            <p:nvPr/>
          </p:nvGrpSpPr>
          <p:grpSpPr>
            <a:xfrm>
              <a:off x="4864066" y="3818371"/>
              <a:ext cx="4810846" cy="1711615"/>
              <a:chOff x="5075083" y="3449092"/>
              <a:chExt cx="4810846" cy="1711615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CC834FFC-8D7E-D8E5-B03D-85D62D263C40}"/>
                  </a:ext>
                </a:extLst>
              </p:cNvPr>
              <p:cNvGrpSpPr/>
              <p:nvPr/>
            </p:nvGrpSpPr>
            <p:grpSpPr>
              <a:xfrm>
                <a:off x="5075083" y="3469003"/>
                <a:ext cx="1680288" cy="1645864"/>
                <a:chOff x="4825205" y="2750454"/>
                <a:chExt cx="1680288" cy="1645864"/>
              </a:xfrm>
            </p:grpSpPr>
            <p:pic>
              <p:nvPicPr>
                <p:cNvPr id="42" name="Graphic 41" descr="Elephant">
                  <a:extLst>
                    <a:ext uri="{FF2B5EF4-FFF2-40B4-BE49-F238E27FC236}">
                      <a16:creationId xmlns:a16="http://schemas.microsoft.com/office/drawing/2014/main" id="{839650E3-EEE7-E348-B622-A9BDE3EAA7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/>
                <a:stretch/>
              </p:blipFill>
              <p:spPr>
                <a:xfrm>
                  <a:off x="5387260" y="2750454"/>
                  <a:ext cx="563194" cy="563194"/>
                </a:xfrm>
                <a:prstGeom prst="rect">
                  <a:avLst/>
                </a:prstGeom>
              </p:spPr>
            </p:pic>
            <p:pic>
              <p:nvPicPr>
                <p:cNvPr id="43" name="Graphic 42" descr="Elephant">
                  <a:extLst>
                    <a:ext uri="{FF2B5EF4-FFF2-40B4-BE49-F238E27FC236}">
                      <a16:creationId xmlns:a16="http://schemas.microsoft.com/office/drawing/2014/main" id="{02AFCF3A-4300-7BE7-8E79-4D28EAED9D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/>
                <a:stretch/>
              </p:blipFill>
              <p:spPr>
                <a:xfrm>
                  <a:off x="5942299" y="3833124"/>
                  <a:ext cx="563194" cy="563194"/>
                </a:xfrm>
                <a:prstGeom prst="rect">
                  <a:avLst/>
                </a:prstGeom>
              </p:spPr>
            </p:pic>
            <p:pic>
              <p:nvPicPr>
                <p:cNvPr id="44" name="Graphic 43" descr="Elephant">
                  <a:extLst>
                    <a:ext uri="{FF2B5EF4-FFF2-40B4-BE49-F238E27FC236}">
                      <a16:creationId xmlns:a16="http://schemas.microsoft.com/office/drawing/2014/main" id="{07684912-EAC6-69E9-CE56-E2543EC554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/>
                <a:stretch/>
              </p:blipFill>
              <p:spPr>
                <a:xfrm>
                  <a:off x="5378821" y="3816238"/>
                  <a:ext cx="563477" cy="563477"/>
                </a:xfrm>
                <a:prstGeom prst="rect">
                  <a:avLst/>
                </a:prstGeom>
              </p:spPr>
            </p:pic>
            <p:pic>
              <p:nvPicPr>
                <p:cNvPr id="45" name="Graphic 44" descr="Elephant">
                  <a:extLst>
                    <a:ext uri="{FF2B5EF4-FFF2-40B4-BE49-F238E27FC236}">
                      <a16:creationId xmlns:a16="http://schemas.microsoft.com/office/drawing/2014/main" id="{FD053994-34A2-6044-1477-CDBC85A67F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/>
                <a:stretch/>
              </p:blipFill>
              <p:spPr>
                <a:xfrm>
                  <a:off x="4825205" y="3801056"/>
                  <a:ext cx="562056" cy="562056"/>
                </a:xfrm>
                <a:prstGeom prst="rect">
                  <a:avLst/>
                </a:prstGeom>
              </p:spPr>
            </p:pic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EB86DA05-BD4B-8F80-3149-05E0778396AC}"/>
                    </a:ext>
                  </a:extLst>
                </p:cNvPr>
                <p:cNvCxnSpPr>
                  <a:cxnSpLocks/>
                  <a:stCxn id="42" idx="2"/>
                  <a:endCxn id="43" idx="0"/>
                </p:cNvCxnSpPr>
                <p:nvPr/>
              </p:nvCxnSpPr>
              <p:spPr>
                <a:xfrm>
                  <a:off x="5668857" y="3313648"/>
                  <a:ext cx="555039" cy="519476"/>
                </a:xfrm>
                <a:prstGeom prst="line">
                  <a:avLst/>
                </a:prstGeom>
                <a:ln w="6350">
                  <a:solidFill>
                    <a:schemeClr val="accent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C9BFEBAD-BCFB-D670-E918-E6DB2A80F2C5}"/>
                    </a:ext>
                  </a:extLst>
                </p:cNvPr>
                <p:cNvCxnSpPr>
                  <a:cxnSpLocks/>
                  <a:stCxn id="44" idx="0"/>
                  <a:endCxn id="42" idx="2"/>
                </p:cNvCxnSpPr>
                <p:nvPr/>
              </p:nvCxnSpPr>
              <p:spPr>
                <a:xfrm flipV="1">
                  <a:off x="5660560" y="3313648"/>
                  <a:ext cx="8297" cy="502590"/>
                </a:xfrm>
                <a:prstGeom prst="line">
                  <a:avLst/>
                </a:prstGeom>
                <a:ln w="6350">
                  <a:solidFill>
                    <a:schemeClr val="accent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015C78BA-D755-592F-45DD-56337023B746}"/>
                    </a:ext>
                  </a:extLst>
                </p:cNvPr>
                <p:cNvCxnSpPr>
                  <a:cxnSpLocks/>
                  <a:stCxn id="45" idx="0"/>
                  <a:endCxn id="42" idx="2"/>
                </p:cNvCxnSpPr>
                <p:nvPr/>
              </p:nvCxnSpPr>
              <p:spPr>
                <a:xfrm flipV="1">
                  <a:off x="5106233" y="3313648"/>
                  <a:ext cx="562624" cy="487408"/>
                </a:xfrm>
                <a:prstGeom prst="line">
                  <a:avLst/>
                </a:prstGeom>
                <a:ln w="6350">
                  <a:solidFill>
                    <a:schemeClr val="accent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9B1B6930-5BE3-FF6E-BFF5-8F1271192526}"/>
                  </a:ext>
                </a:extLst>
              </p:cNvPr>
              <p:cNvGrpSpPr/>
              <p:nvPr/>
            </p:nvGrpSpPr>
            <p:grpSpPr>
              <a:xfrm>
                <a:off x="6876349" y="3469003"/>
                <a:ext cx="563194" cy="1617653"/>
                <a:chOff x="6876349" y="3469003"/>
                <a:chExt cx="563194" cy="1617653"/>
              </a:xfrm>
            </p:grpSpPr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2F57B014-2B7C-B398-F51E-957AFDAB2101}"/>
                    </a:ext>
                  </a:extLst>
                </p:cNvPr>
                <p:cNvCxnSpPr>
                  <a:cxnSpLocks/>
                  <a:stCxn id="88" idx="2"/>
                  <a:endCxn id="115" idx="0"/>
                </p:cNvCxnSpPr>
                <p:nvPr/>
              </p:nvCxnSpPr>
              <p:spPr>
                <a:xfrm>
                  <a:off x="7157946" y="4032197"/>
                  <a:ext cx="0" cy="496331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15" name="Graphic 114">
                  <a:extLst>
                    <a:ext uri="{FF2B5EF4-FFF2-40B4-BE49-F238E27FC236}">
                      <a16:creationId xmlns:a16="http://schemas.microsoft.com/office/drawing/2014/main" id="{74E533E7-FABA-DD2D-5572-F163159B31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/>
                <a:stretch/>
              </p:blipFill>
              <p:spPr>
                <a:xfrm>
                  <a:off x="6911264" y="4528528"/>
                  <a:ext cx="493363" cy="558128"/>
                </a:xfrm>
                <a:prstGeom prst="rect">
                  <a:avLst/>
                </a:prstGeom>
              </p:spPr>
            </p:pic>
            <p:pic>
              <p:nvPicPr>
                <p:cNvPr id="88" name="Graphic 87" descr="Elephant">
                  <a:extLst>
                    <a:ext uri="{FF2B5EF4-FFF2-40B4-BE49-F238E27FC236}">
                      <a16:creationId xmlns:a16="http://schemas.microsoft.com/office/drawing/2014/main" id="{22EFAC8B-393E-10EE-E36A-DEFCD9BB11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/>
                <a:stretch/>
              </p:blipFill>
              <p:spPr>
                <a:xfrm>
                  <a:off x="6876349" y="3469003"/>
                  <a:ext cx="563194" cy="563194"/>
                </a:xfrm>
                <a:prstGeom prst="rect">
                  <a:avLst/>
                </a:prstGeom>
              </p:spPr>
            </p:pic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DDBC860E-2C0F-0850-3331-FE962A247DC8}"/>
                  </a:ext>
                </a:extLst>
              </p:cNvPr>
              <p:cNvGrpSpPr/>
              <p:nvPr/>
            </p:nvGrpSpPr>
            <p:grpSpPr>
              <a:xfrm>
                <a:off x="7620639" y="3488409"/>
                <a:ext cx="564830" cy="1665776"/>
                <a:chOff x="7617513" y="3449091"/>
                <a:chExt cx="564830" cy="1665776"/>
              </a:xfrm>
            </p:grpSpPr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88C58760-379C-D465-D453-09424D36C8D4}"/>
                    </a:ext>
                  </a:extLst>
                </p:cNvPr>
                <p:cNvCxnSpPr>
                  <a:cxnSpLocks/>
                  <a:stCxn id="100" idx="2"/>
                  <a:endCxn id="101" idx="0"/>
                </p:cNvCxnSpPr>
                <p:nvPr/>
              </p:nvCxnSpPr>
              <p:spPr>
                <a:xfrm>
                  <a:off x="7899110" y="4012285"/>
                  <a:ext cx="1636" cy="539388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0" name="Graphic 99" descr="Elephant">
                  <a:extLst>
                    <a:ext uri="{FF2B5EF4-FFF2-40B4-BE49-F238E27FC236}">
                      <a16:creationId xmlns:a16="http://schemas.microsoft.com/office/drawing/2014/main" id="{FF78DB2B-F925-CB80-FD56-E8D9EAFCE3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/>
                <a:stretch/>
              </p:blipFill>
              <p:spPr>
                <a:xfrm>
                  <a:off x="7617513" y="3449091"/>
                  <a:ext cx="563194" cy="563194"/>
                </a:xfrm>
                <a:prstGeom prst="rect">
                  <a:avLst/>
                </a:prstGeom>
              </p:spPr>
            </p:pic>
            <p:pic>
              <p:nvPicPr>
                <p:cNvPr id="101" name="Graphic 100" descr="Elephant">
                  <a:extLst>
                    <a:ext uri="{FF2B5EF4-FFF2-40B4-BE49-F238E27FC236}">
                      <a16:creationId xmlns:a16="http://schemas.microsoft.com/office/drawing/2014/main" id="{2D766EB9-1069-8DB4-9506-294E773C8B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/>
                <a:stretch/>
              </p:blipFill>
              <p:spPr>
                <a:xfrm>
                  <a:off x="7619149" y="4551673"/>
                  <a:ext cx="563194" cy="563194"/>
                </a:xfrm>
                <a:prstGeom prst="rect">
                  <a:avLst/>
                </a:prstGeom>
              </p:spPr>
            </p:pic>
          </p:grp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E8EFA31B-0942-EA32-6B69-2AF5467D466D}"/>
                  </a:ext>
                </a:extLst>
              </p:cNvPr>
              <p:cNvGrpSpPr/>
              <p:nvPr/>
            </p:nvGrpSpPr>
            <p:grpSpPr>
              <a:xfrm>
                <a:off x="8401481" y="3449092"/>
                <a:ext cx="1484448" cy="1711615"/>
                <a:chOff x="8401481" y="3449092"/>
                <a:chExt cx="1484448" cy="1711615"/>
              </a:xfrm>
            </p:grpSpPr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DD98783-E58D-785A-EC3A-DF2C4070F058}"/>
                    </a:ext>
                  </a:extLst>
                </p:cNvPr>
                <p:cNvCxnSpPr>
                  <a:cxnSpLocks/>
                  <a:stCxn id="105" idx="2"/>
                  <a:endCxn id="107" idx="0"/>
                </p:cNvCxnSpPr>
                <p:nvPr/>
              </p:nvCxnSpPr>
              <p:spPr>
                <a:xfrm>
                  <a:off x="9134164" y="4012286"/>
                  <a:ext cx="470168" cy="585227"/>
                </a:xfrm>
                <a:prstGeom prst="line">
                  <a:avLst/>
                </a:prstGeom>
                <a:ln w="635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74DAC1E2-6AD3-C226-BD9C-7987895823D4}"/>
                    </a:ext>
                  </a:extLst>
                </p:cNvPr>
                <p:cNvCxnSpPr>
                  <a:cxnSpLocks/>
                  <a:stCxn id="106" idx="0"/>
                  <a:endCxn id="105" idx="2"/>
                </p:cNvCxnSpPr>
                <p:nvPr/>
              </p:nvCxnSpPr>
              <p:spPr>
                <a:xfrm flipV="1">
                  <a:off x="8683078" y="4012286"/>
                  <a:ext cx="451086" cy="575509"/>
                </a:xfrm>
                <a:prstGeom prst="line">
                  <a:avLst/>
                </a:prstGeom>
                <a:ln w="635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05" name="Graphic 104" descr="Elephant">
                  <a:extLst>
                    <a:ext uri="{FF2B5EF4-FFF2-40B4-BE49-F238E27FC236}">
                      <a16:creationId xmlns:a16="http://schemas.microsoft.com/office/drawing/2014/main" id="{5103B773-2619-6652-88F9-61851CC0C6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/>
                <a:stretch/>
              </p:blipFill>
              <p:spPr>
                <a:xfrm>
                  <a:off x="8852567" y="3449092"/>
                  <a:ext cx="563194" cy="563194"/>
                </a:xfrm>
                <a:prstGeom prst="rect">
                  <a:avLst/>
                </a:prstGeom>
              </p:spPr>
            </p:pic>
            <p:pic>
              <p:nvPicPr>
                <p:cNvPr id="106" name="Graphic 105" descr="Elephant">
                  <a:extLst>
                    <a:ext uri="{FF2B5EF4-FFF2-40B4-BE49-F238E27FC236}">
                      <a16:creationId xmlns:a16="http://schemas.microsoft.com/office/drawing/2014/main" id="{ACC7BC27-B2CD-7255-E525-BC7418931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/>
                <a:stretch/>
              </p:blipFill>
              <p:spPr>
                <a:xfrm>
                  <a:off x="8401481" y="4587795"/>
                  <a:ext cx="563194" cy="563194"/>
                </a:xfrm>
                <a:prstGeom prst="rect">
                  <a:avLst/>
                </a:prstGeom>
              </p:spPr>
            </p:pic>
            <p:pic>
              <p:nvPicPr>
                <p:cNvPr id="107" name="Graphic 106" descr="Elephant">
                  <a:extLst>
                    <a:ext uri="{FF2B5EF4-FFF2-40B4-BE49-F238E27FC236}">
                      <a16:creationId xmlns:a16="http://schemas.microsoft.com/office/drawing/2014/main" id="{F334C3E6-7DF3-297D-406F-521AB36570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/>
                <a:stretch/>
              </p:blipFill>
              <p:spPr>
                <a:xfrm>
                  <a:off x="9322735" y="4597513"/>
                  <a:ext cx="563194" cy="563194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4" name="TekstSylinder 3">
            <a:extLst>
              <a:ext uri="{FF2B5EF4-FFF2-40B4-BE49-F238E27FC236}">
                <a16:creationId xmlns:a16="http://schemas.microsoft.com/office/drawing/2014/main" id="{A679D5AF-C522-ABC8-F9D9-F905BC2968F1}"/>
              </a:ext>
            </a:extLst>
          </p:cNvPr>
          <p:cNvSpPr txBox="1"/>
          <p:nvPr/>
        </p:nvSpPr>
        <p:spPr>
          <a:xfrm>
            <a:off x="4975875" y="1690688"/>
            <a:ext cx="7053942" cy="469013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Fitness er en betegnelse på et individs forventede antall avkom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2000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Naturlig utvalg vil ikke skje med mindre det er en </a:t>
            </a:r>
            <a:r>
              <a:rPr lang="nb-NO" b="1" dirty="0">
                <a:latin typeface="Helvetica" pitchFamily="2" charset="0"/>
              </a:rPr>
              <a:t>forskjell</a:t>
            </a:r>
            <a:r>
              <a:rPr lang="nb-NO" dirty="0">
                <a:latin typeface="Helvetica" pitchFamily="2" charset="0"/>
              </a:rPr>
              <a:t> i antall avkom blant individene i en populasjon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latin typeface="Helvetica" pitchFamily="2" charset="0"/>
              </a:rPr>
              <a:t>Hvis alle individene i en populasjon får det samme antallet avkom vil det ikke forekomme et utvalg av spesifikke individer og deres egenskaper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b-NO" sz="2000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Dermed må variasjonen mellom individene i en populasjon lede til forskjeller i </a:t>
            </a:r>
            <a:r>
              <a:rPr lang="nb-NO" dirty="0" err="1">
                <a:latin typeface="Helvetica" pitchFamily="2" charset="0"/>
              </a:rPr>
              <a:t>fitness</a:t>
            </a:r>
            <a:r>
              <a:rPr lang="nb-NO" dirty="0">
                <a:latin typeface="Helvetica" pitchFamily="2" charset="0"/>
              </a:rPr>
              <a:t> blant disse individene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2000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Men, med mindre variasjonen overføres fra foreldre til avkom vil naturlig utvalg «starte fra begynnelsen» hver generasjon!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b-NO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140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Hvorfor</a:t>
            </a:r>
            <a:r>
              <a:rPr lang="en-US" dirty="0"/>
              <a:t> </a:t>
            </a:r>
            <a:r>
              <a:rPr lang="nb-NO" dirty="0"/>
              <a:t>trenger</a:t>
            </a:r>
            <a:r>
              <a:rPr lang="en-US" dirty="0"/>
              <a:t> vi </a:t>
            </a:r>
            <a:r>
              <a:rPr lang="en-US" dirty="0" err="1"/>
              <a:t>arvelighet</a:t>
            </a:r>
            <a:r>
              <a:rPr lang="en-US" dirty="0"/>
              <a:t>?</a:t>
            </a:r>
          </a:p>
        </p:txBody>
      </p:sp>
      <p:grpSp>
        <p:nvGrpSpPr>
          <p:cNvPr id="5" name="Group 135" descr="Bilde som bruker elefantsymbol til å illustrere begrepet arvelighet">
            <a:extLst>
              <a:ext uri="{FF2B5EF4-FFF2-40B4-BE49-F238E27FC236}">
                <a16:creationId xmlns:a16="http://schemas.microsoft.com/office/drawing/2014/main" id="{17D63BFE-4E6A-DA99-9F62-2D9BB7987609}"/>
              </a:ext>
            </a:extLst>
          </p:cNvPr>
          <p:cNvGrpSpPr/>
          <p:nvPr/>
        </p:nvGrpSpPr>
        <p:grpSpPr>
          <a:xfrm>
            <a:off x="1337315" y="1701574"/>
            <a:ext cx="1566454" cy="4193156"/>
            <a:chOff x="10170071" y="2176759"/>
            <a:chExt cx="1566454" cy="4193156"/>
          </a:xfrm>
        </p:grpSpPr>
        <p:sp>
          <p:nvSpPr>
            <p:cNvPr id="75" name="TextBox 161">
              <a:extLst>
                <a:ext uri="{FF2B5EF4-FFF2-40B4-BE49-F238E27FC236}">
                  <a16:creationId xmlns:a16="http://schemas.microsoft.com/office/drawing/2014/main" id="{6B78A176-3A6F-3C34-E39E-8FDCE0783B73}"/>
                </a:ext>
              </a:extLst>
            </p:cNvPr>
            <p:cNvSpPr txBox="1"/>
            <p:nvPr/>
          </p:nvSpPr>
          <p:spPr>
            <a:xfrm>
              <a:off x="10170071" y="5939028"/>
              <a:ext cx="15664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22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Arvelighet</a:t>
              </a:r>
            </a:p>
          </p:txBody>
        </p:sp>
        <p:grpSp>
          <p:nvGrpSpPr>
            <p:cNvPr id="74" name="Group 2">
              <a:extLst>
                <a:ext uri="{FF2B5EF4-FFF2-40B4-BE49-F238E27FC236}">
                  <a16:creationId xmlns:a16="http://schemas.microsoft.com/office/drawing/2014/main" id="{7F76234E-79CE-7E53-1E4A-97677D3C8C16}"/>
                </a:ext>
              </a:extLst>
            </p:cNvPr>
            <p:cNvGrpSpPr/>
            <p:nvPr/>
          </p:nvGrpSpPr>
          <p:grpSpPr>
            <a:xfrm>
              <a:off x="10458738" y="2176759"/>
              <a:ext cx="897750" cy="3462230"/>
              <a:chOff x="10458738" y="2247099"/>
              <a:chExt cx="897750" cy="3462230"/>
            </a:xfrm>
          </p:grpSpPr>
          <p:pic>
            <p:nvPicPr>
              <p:cNvPr id="76" name="Graphic 142" descr="Elephant">
                <a:extLst>
                  <a:ext uri="{FF2B5EF4-FFF2-40B4-BE49-F238E27FC236}">
                    <a16:creationId xmlns:a16="http://schemas.microsoft.com/office/drawing/2014/main" id="{C93CC572-52FD-1821-4056-3E1B40807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458738" y="2247099"/>
                <a:ext cx="897750" cy="897750"/>
              </a:xfrm>
              <a:prstGeom prst="rect">
                <a:avLst/>
              </a:prstGeom>
            </p:spPr>
          </p:pic>
          <p:pic>
            <p:nvPicPr>
              <p:cNvPr id="77" name="Graphic 143" descr="Elephant">
                <a:extLst>
                  <a:ext uri="{FF2B5EF4-FFF2-40B4-BE49-F238E27FC236}">
                    <a16:creationId xmlns:a16="http://schemas.microsoft.com/office/drawing/2014/main" id="{853A67E7-969F-4EC5-0654-FF71B14366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458738" y="3487224"/>
                <a:ext cx="897750" cy="897750"/>
              </a:xfrm>
              <a:prstGeom prst="rect">
                <a:avLst/>
              </a:prstGeom>
            </p:spPr>
          </p:pic>
          <p:pic>
            <p:nvPicPr>
              <p:cNvPr id="78" name="Graphic 144" descr="Elephant">
                <a:extLst>
                  <a:ext uri="{FF2B5EF4-FFF2-40B4-BE49-F238E27FC236}">
                    <a16:creationId xmlns:a16="http://schemas.microsoft.com/office/drawing/2014/main" id="{91CAFC43-C169-3D4E-300A-955B3B4BF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0458738" y="4811579"/>
                <a:ext cx="897750" cy="897750"/>
              </a:xfrm>
              <a:prstGeom prst="rect">
                <a:avLst/>
              </a:prstGeom>
            </p:spPr>
          </p:pic>
          <p:cxnSp>
            <p:nvCxnSpPr>
              <p:cNvPr id="79" name="Straight Connector 158">
                <a:extLst>
                  <a:ext uri="{FF2B5EF4-FFF2-40B4-BE49-F238E27FC236}">
                    <a16:creationId xmlns:a16="http://schemas.microsoft.com/office/drawing/2014/main" id="{8FBB789A-812A-1A68-A912-3189962DF7AD}"/>
                  </a:ext>
                </a:extLst>
              </p:cNvPr>
              <p:cNvCxnSpPr>
                <a:cxnSpLocks/>
                <a:stCxn id="76" idx="2"/>
                <a:endCxn id="77" idx="0"/>
              </p:cNvCxnSpPr>
              <p:nvPr/>
            </p:nvCxnSpPr>
            <p:spPr>
              <a:xfrm>
                <a:off x="10907613" y="3144849"/>
                <a:ext cx="0" cy="342374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59">
                <a:extLst>
                  <a:ext uri="{FF2B5EF4-FFF2-40B4-BE49-F238E27FC236}">
                    <a16:creationId xmlns:a16="http://schemas.microsoft.com/office/drawing/2014/main" id="{8F67FAB3-8ABD-24F3-E790-941D2C9A3DFB}"/>
                  </a:ext>
                </a:extLst>
              </p:cNvPr>
              <p:cNvCxnSpPr>
                <a:cxnSpLocks/>
                <a:stCxn id="77" idx="2"/>
                <a:endCxn id="78" idx="0"/>
              </p:cNvCxnSpPr>
              <p:nvPr/>
            </p:nvCxnSpPr>
            <p:spPr>
              <a:xfrm>
                <a:off x="10907613" y="4384974"/>
                <a:ext cx="0" cy="426603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kstSylinder 3">
            <a:extLst>
              <a:ext uri="{FF2B5EF4-FFF2-40B4-BE49-F238E27FC236}">
                <a16:creationId xmlns:a16="http://schemas.microsoft.com/office/drawing/2014/main" id="{A679D5AF-C522-ABC8-F9D9-F905BC2968F1}"/>
              </a:ext>
            </a:extLst>
          </p:cNvPr>
          <p:cNvSpPr txBox="1"/>
          <p:nvPr/>
        </p:nvSpPr>
        <p:spPr>
          <a:xfrm>
            <a:off x="3505207" y="1690688"/>
            <a:ext cx="8524610" cy="46901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Dette leder oss til arvelighet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latin typeface="Helvetica" pitchFamily="2" charset="0"/>
              </a:rPr>
              <a:t>Uten en mekanisme som sørger for at avkom likner på sine foreldre vil </a:t>
            </a:r>
            <a:r>
              <a:rPr lang="nb-NO" sz="1600" b="1" dirty="0">
                <a:latin typeface="Helvetica" pitchFamily="2" charset="0"/>
              </a:rPr>
              <a:t>kumulative evolusjonære endringer </a:t>
            </a:r>
            <a:r>
              <a:rPr lang="nb-NO" sz="1600" dirty="0">
                <a:latin typeface="Helvetica" pitchFamily="2" charset="0"/>
              </a:rPr>
              <a:t>ikke være mulig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b-NO" sz="2000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En annen måte å si dette på er at uten arvelighet kan vi ikke ha </a:t>
            </a:r>
            <a:r>
              <a:rPr lang="nb-NO" b="1" dirty="0" err="1">
                <a:latin typeface="Helvetica" pitchFamily="2" charset="0"/>
              </a:rPr>
              <a:t>direksjonelt</a:t>
            </a:r>
            <a:r>
              <a:rPr lang="nb-NO" b="1" dirty="0">
                <a:latin typeface="Helvetica" pitchFamily="2" charset="0"/>
              </a:rPr>
              <a:t> utvalg</a:t>
            </a:r>
            <a:endParaRPr lang="nb-NO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b-NO" sz="2000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Tenk tilbake på elefant eksempelet: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latin typeface="Helvetica" pitchFamily="2" charset="0"/>
              </a:rPr>
              <a:t>Hvis det var helt tilfeldig om avkommet liknet på sine foreldre ville ikke fordelen ved å ha en mindre kropp vart mer enn </a:t>
            </a:r>
            <a:r>
              <a:rPr lang="nb-NO" sz="1600" b="1" dirty="0">
                <a:latin typeface="Helvetica" pitchFamily="2" charset="0"/>
              </a:rPr>
              <a:t>én </a:t>
            </a:r>
            <a:r>
              <a:rPr lang="nb-NO" sz="1600" dirty="0">
                <a:latin typeface="Helvetica" pitchFamily="2" charset="0"/>
              </a:rPr>
              <a:t>generasjon!</a:t>
            </a:r>
          </a:p>
          <a:p>
            <a:pPr lvl="1"/>
            <a:endParaRPr lang="nb-NO" sz="2000" dirty="0"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>
                <a:latin typeface="Helvetica" pitchFamily="2" charset="0"/>
              </a:rPr>
              <a:t>Så, for at naturlig utvalg skal kunne produsere kumulative evolusjonære endringer: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b-NO" sz="1600" dirty="0">
                <a:latin typeface="Helvetica" pitchFamily="2" charset="0"/>
              </a:rPr>
              <a:t>Må det være variasjon blant individene som fører til fitness-forskjeller og variasjonen må bli overført fra foreldre til avkom (den må være arvelig)</a:t>
            </a:r>
          </a:p>
        </p:txBody>
      </p:sp>
    </p:spTree>
    <p:extLst>
      <p:ext uri="{BB962C8B-B14F-4D97-AF65-F5344CB8AC3E}">
        <p14:creationId xmlns:p14="http://schemas.microsoft.com/office/powerpoint/2010/main" val="2818701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4" descr="A picture containing text, paper clip, connector&#10;&#10;Description automatically generated">
            <a:extLst>
              <a:ext uri="{FF2B5EF4-FFF2-40B4-BE49-F238E27FC236}">
                <a16:creationId xmlns:a16="http://schemas.microsoft.com/office/drawing/2014/main" id="{35FF3F8B-843D-BF48-55FB-FBC0892477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19142" b="24257"/>
          <a:stretch/>
        </p:blipFill>
        <p:spPr>
          <a:xfrm>
            <a:off x="4870836" y="0"/>
            <a:ext cx="7321164" cy="6858000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A05ADB0-4373-6563-789C-0478246F02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199" y="365125"/>
            <a:ext cx="9735589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Hva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disse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betingelsene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ikke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spesifiserer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anose="020B0604020202020204" pitchFamily="34" charset="0"/>
              <a:ea typeface="Source Sans Pro" panose="020B0503030403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4A8E36-A6F4-19EF-42DA-FC06E6B37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534151" cy="4351338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b="1" dirty="0">
                <a:ea typeface="Source Sans Pro" panose="020B0503030403020204" pitchFamily="34" charset="0"/>
              </a:rPr>
              <a:t>Mekanismene for arvelighet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Hva sørger for at avkom ligner på sine foreldre?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Moderne evolusjonsbiologi: </a:t>
            </a:r>
            <a:r>
              <a:rPr lang="nb-NO" sz="1600" b="1" dirty="0">
                <a:ea typeface="Source Sans Pro" panose="020B0503030403020204" pitchFamily="34" charset="0"/>
              </a:rPr>
              <a:t>Gener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Alternative mekanismer: Sosial arv, økologisk arv, symbolsk/ kulturell arv</a:t>
            </a:r>
          </a:p>
          <a:p>
            <a:pPr marL="0" indent="0">
              <a:lnSpc>
                <a:spcPct val="100000"/>
              </a:lnSpc>
              <a:buNone/>
            </a:pPr>
            <a:endParaRPr lang="nb-NO" sz="2000" b="1" dirty="0">
              <a:ea typeface="Source Sans Pro" panose="020B0503030403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>
                <a:ea typeface="Source Sans Pro" panose="020B0503030403020204" pitchFamily="34" charset="0"/>
              </a:rPr>
              <a:t>Variasjonens opphav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Hvordan oppstår arvelig variasjon?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Moderne evolusjonsbiologi: </a:t>
            </a:r>
            <a:r>
              <a:rPr lang="nb-NO" sz="1600" b="1" dirty="0">
                <a:ea typeface="Source Sans Pro" panose="020B0503030403020204" pitchFamily="34" charset="0"/>
              </a:rPr>
              <a:t>Genetisk mutasjon</a:t>
            </a:r>
            <a:r>
              <a:rPr lang="nb-NO" sz="1600" dirty="0">
                <a:ea typeface="Source Sans Pro" panose="020B0503030403020204" pitchFamily="34" charset="0"/>
              </a:rPr>
              <a:t> og/ eller </a:t>
            </a:r>
            <a:r>
              <a:rPr lang="nb-NO" sz="1600" b="1" dirty="0">
                <a:ea typeface="Source Sans Pro" panose="020B0503030403020204" pitchFamily="34" charset="0"/>
              </a:rPr>
              <a:t>rekombinasjon</a:t>
            </a:r>
          </a:p>
          <a:p>
            <a:pPr lvl="1"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Andre mulige mekanismer: Plastisitet, genetisk assimilasjon, epigenitikk</a:t>
            </a:r>
          </a:p>
          <a:p>
            <a:pPr lvl="1">
              <a:lnSpc>
                <a:spcPct val="100000"/>
              </a:lnSpc>
            </a:pPr>
            <a:endParaRPr lang="nb-NO" dirty="0"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194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2E31-7D3B-A271-0673-C2348862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b-NO" dirty="0">
                <a:ea typeface="Source Sans Pro" panose="020B0503030403020204" pitchFamily="34" charset="0"/>
              </a:rPr>
              <a:t>Gen-begrepet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6AB7B-D5F6-3908-EF0F-B28CD34CD2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>
                <a:ea typeface="Source Sans Pro" panose="020B0503030403020204" pitchFamily="34" charset="0"/>
              </a:rPr>
              <a:t>Gen-begrepet har mange ulike definisjoner i de ulike biologiske disiplinene</a:t>
            </a:r>
          </a:p>
          <a:p>
            <a:pPr>
              <a:lnSpc>
                <a:spcPct val="100000"/>
              </a:lnSpc>
            </a:pPr>
            <a:endParaRPr lang="nb-NO" sz="1600" b="1" dirty="0">
              <a:ea typeface="Source Sans Pro" panose="020B0503030403020204" pitchFamily="34" charset="0"/>
            </a:endParaRPr>
          </a:p>
          <a:p>
            <a:pPr>
              <a:lnSpc>
                <a:spcPct val="100000"/>
              </a:lnSpc>
            </a:pPr>
            <a:r>
              <a:rPr lang="nb-NO" sz="1600" b="1" dirty="0">
                <a:ea typeface="Source Sans Pro" panose="020B0503030403020204" pitchFamily="34" charset="0"/>
              </a:rPr>
              <a:t>Definisjon fra evolusjonsbiologien</a:t>
            </a:r>
            <a:r>
              <a:rPr lang="nb-NO" sz="1600" dirty="0">
                <a:ea typeface="Source Sans Pro" panose="020B0503030403020204" pitchFamily="34" charset="0"/>
              </a:rPr>
              <a:t>: Genet er en sekvens av DNA som påvirker en organismes trekk</a:t>
            </a:r>
          </a:p>
          <a:p>
            <a:pPr>
              <a:lnSpc>
                <a:spcPct val="100000"/>
              </a:lnSpc>
            </a:pPr>
            <a:endParaRPr lang="nb-NO" sz="1600" b="1" dirty="0">
              <a:ea typeface="Source Sans Pro" panose="020B0503030403020204" pitchFamily="34" charset="0"/>
            </a:endParaRPr>
          </a:p>
          <a:p>
            <a:pPr>
              <a:lnSpc>
                <a:spcPct val="100000"/>
              </a:lnSpc>
            </a:pPr>
            <a:r>
              <a:rPr lang="nb-NO" sz="1600" b="1" dirty="0">
                <a:ea typeface="Source Sans Pro" panose="020B0503030403020204" pitchFamily="34" charset="0"/>
              </a:rPr>
              <a:t>Viktig egenskap: </a:t>
            </a:r>
            <a:r>
              <a:rPr lang="nb-NO" sz="1600" dirty="0" err="1">
                <a:ea typeface="Source Sans Pro" panose="020B0503030403020204" pitchFamily="34" charset="0"/>
              </a:rPr>
              <a:t>Selvreplikerende</a:t>
            </a:r>
            <a:endParaRPr lang="nb-NO" sz="1600" dirty="0">
              <a:ea typeface="Source Sans Pro" panose="020B0503030403020204" pitchFamily="34" charset="0"/>
            </a:endParaRPr>
          </a:p>
          <a:p>
            <a:pPr>
              <a:lnSpc>
                <a:spcPct val="100000"/>
              </a:lnSpc>
            </a:pPr>
            <a:endParaRPr lang="nb-NO" sz="1600" b="1" dirty="0">
              <a:ea typeface="Source Sans Pro" panose="020B0503030403020204" pitchFamily="34" charset="0"/>
            </a:endParaRPr>
          </a:p>
          <a:p>
            <a:pPr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Under celledeling blir DNA replisert og overført til </a:t>
            </a:r>
            <a:r>
              <a:rPr lang="nb-NO" sz="1600" dirty="0" err="1">
                <a:ea typeface="Source Sans Pro" panose="020B0503030403020204" pitchFamily="34" charset="0"/>
              </a:rPr>
              <a:t>dattercellence</a:t>
            </a:r>
            <a:r>
              <a:rPr lang="nb-NO" sz="1600" dirty="0">
                <a:ea typeface="Source Sans Pro" panose="020B0503030403020204" pitchFamily="34" charset="0"/>
              </a:rPr>
              <a:t>, under reproduksjon blir DNA overført til avkom gjennom </a:t>
            </a:r>
            <a:r>
              <a:rPr lang="nb-NO" sz="1600" dirty="0" err="1">
                <a:ea typeface="Source Sans Pro" panose="020B0503030403020204" pitchFamily="34" charset="0"/>
              </a:rPr>
              <a:t>kjønnscellence</a:t>
            </a:r>
            <a:endParaRPr lang="nb-NO" sz="1600" dirty="0">
              <a:ea typeface="Source Sans Pro" panose="020B0503030403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A8FDBC-4E3B-4B38-8728-3F4261681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r="12755"/>
          <a:stretch/>
        </p:blipFill>
        <p:spPr>
          <a:xfrm>
            <a:off x="6019800" y="0"/>
            <a:ext cx="5983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93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2E31-7D3B-A271-0673-C23488627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080001" cy="1325563"/>
          </a:xfrm>
        </p:spPr>
        <p:txBody>
          <a:bodyPr>
            <a:noAutofit/>
          </a:bodyPr>
          <a:lstStyle/>
          <a:p>
            <a:r>
              <a:rPr lang="nb-NO" dirty="0">
                <a:ea typeface="Source Sans Pro" panose="020B0503030403020204" pitchFamily="34" charset="0"/>
              </a:rPr>
              <a:t>Standardversjonen av evolusjonsteoriene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6AB7B-D5F6-3908-EF0F-B28CD34CD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762500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b="1" dirty="0">
                <a:ea typeface="Source Sans Pro" panose="020B0503030403020204" pitchFamily="34" charset="0"/>
              </a:rPr>
              <a:t>Gener er viktige, men organismen i sentrum</a:t>
            </a:r>
          </a:p>
          <a:p>
            <a:pPr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Organismenes fenotype er hva naturlig utvalg selekter fra</a:t>
            </a:r>
          </a:p>
          <a:p>
            <a:pPr>
              <a:lnSpc>
                <a:spcPct val="100000"/>
              </a:lnSpc>
            </a:pPr>
            <a:endParaRPr lang="nb-NO" sz="1000" dirty="0">
              <a:ea typeface="Source Sans Pro" panose="020B0503030403020204" pitchFamily="34" charset="0"/>
            </a:endParaRPr>
          </a:p>
          <a:p>
            <a:pPr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Men </a:t>
            </a:r>
            <a:r>
              <a:rPr lang="nb-NO" sz="1600" b="1" dirty="0">
                <a:ea typeface="Source Sans Pro" panose="020B0503030403020204" pitchFamily="34" charset="0"/>
              </a:rPr>
              <a:t>kun</a:t>
            </a:r>
            <a:r>
              <a:rPr lang="nb-NO" sz="1600" dirty="0">
                <a:ea typeface="Source Sans Pro" panose="020B0503030403020204" pitchFamily="34" charset="0"/>
              </a:rPr>
              <a:t> fenotypisk variasjon som er et </a:t>
            </a:r>
            <a:r>
              <a:rPr lang="nb-NO" sz="1600" b="1" dirty="0">
                <a:ea typeface="Source Sans Pro" panose="020B0503030403020204" pitchFamily="34" charset="0"/>
              </a:rPr>
              <a:t>produkt</a:t>
            </a:r>
            <a:r>
              <a:rPr lang="nb-NO" sz="1600" dirty="0">
                <a:ea typeface="Source Sans Pro" panose="020B0503030403020204" pitchFamily="34" charset="0"/>
              </a:rPr>
              <a:t> av </a:t>
            </a:r>
            <a:r>
              <a:rPr lang="nb-NO" sz="1600" b="1" dirty="0">
                <a:ea typeface="Source Sans Pro" panose="020B0503030403020204" pitchFamily="34" charset="0"/>
              </a:rPr>
              <a:t>underliggende</a:t>
            </a:r>
            <a:r>
              <a:rPr lang="nb-NO" sz="1600" dirty="0">
                <a:ea typeface="Source Sans Pro" panose="020B0503030403020204" pitchFamily="34" charset="0"/>
              </a:rPr>
              <a:t> </a:t>
            </a:r>
            <a:r>
              <a:rPr lang="nb-NO" sz="1600" b="1" dirty="0">
                <a:ea typeface="Source Sans Pro" panose="020B0503030403020204" pitchFamily="34" charset="0"/>
              </a:rPr>
              <a:t>genetisk</a:t>
            </a:r>
            <a:r>
              <a:rPr lang="nb-NO" sz="1600" dirty="0">
                <a:ea typeface="Source Sans Pro" panose="020B0503030403020204" pitchFamily="34" charset="0"/>
              </a:rPr>
              <a:t> </a:t>
            </a:r>
            <a:r>
              <a:rPr lang="nb-NO" sz="1600" b="1" dirty="0">
                <a:ea typeface="Source Sans Pro" panose="020B0503030403020204" pitchFamily="34" charset="0"/>
              </a:rPr>
              <a:t>variasjon</a:t>
            </a:r>
            <a:r>
              <a:rPr lang="nb-NO" sz="1600" dirty="0">
                <a:ea typeface="Source Sans Pro" panose="020B0503030403020204" pitchFamily="34" charset="0"/>
              </a:rPr>
              <a:t> er relevant for naturlig seleksjon</a:t>
            </a:r>
          </a:p>
          <a:p>
            <a:pPr lvl="1">
              <a:lnSpc>
                <a:spcPct val="100000"/>
              </a:lnSpc>
            </a:pPr>
            <a:r>
              <a:rPr lang="nb-NO" sz="1500" u="sng" dirty="0">
                <a:ea typeface="Source Sans Pro" panose="020B0503030403020204" pitchFamily="34" charset="0"/>
              </a:rPr>
              <a:t>Husk</a:t>
            </a:r>
            <a:r>
              <a:rPr lang="nb-NO" sz="1500" dirty="0">
                <a:ea typeface="Source Sans Pro" panose="020B0503030403020204" pitchFamily="34" charset="0"/>
              </a:rPr>
              <a:t>: Avkom må likne på sine foreldre for evolusjon skal kunne være kumulativ</a:t>
            </a:r>
          </a:p>
          <a:p>
            <a:pPr>
              <a:lnSpc>
                <a:spcPct val="100000"/>
              </a:lnSpc>
            </a:pPr>
            <a:endParaRPr lang="nb-NO" sz="1000" dirty="0">
              <a:ea typeface="Source Sans Pro" panose="020B0503030403020204" pitchFamily="34" charset="0"/>
            </a:endParaRPr>
          </a:p>
          <a:p>
            <a:pPr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Genene er kun </a:t>
            </a:r>
            <a:r>
              <a:rPr lang="nb-NO" sz="1600" b="1" dirty="0">
                <a:ea typeface="Source Sans Pro" panose="020B0503030403020204" pitchFamily="34" charset="0"/>
              </a:rPr>
              <a:t>indirekte</a:t>
            </a:r>
            <a:r>
              <a:rPr lang="nb-NO" sz="1600" dirty="0">
                <a:ea typeface="Source Sans Pro" panose="020B0503030403020204" pitchFamily="34" charset="0"/>
              </a:rPr>
              <a:t> synlig for naturlig utvalg, gjennom deres fenotypiske effekt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88FE29-D8DE-AE94-6EEA-3BD51EFA2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153" b="3559"/>
          <a:stretch/>
        </p:blipFill>
        <p:spPr>
          <a:xfrm>
            <a:off x="6096000" y="1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60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A05ADB0-4373-6563-789C-0478246F02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199" y="365125"/>
            <a:ext cx="5041901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Dawkins</a:t>
            </a:r>
            <a:r>
              <a:rPr kumimoji="0" lang="nb-NO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’ </a:t>
            </a:r>
            <a:r>
              <a:rPr kumimoji="0" lang="nb-NO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gensentrerte</a:t>
            </a:r>
            <a:r>
              <a:rPr kumimoji="0" lang="nb-NO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anose="020B0604020202020204" pitchFamily="34" charset="0"/>
                <a:ea typeface="Source Sans Pro" panose="020B0503030403020204" pitchFamily="34" charset="0"/>
                <a:cs typeface="Helvetica" panose="020B0604020202020204" pitchFamily="34" charset="0"/>
              </a:rPr>
              <a:t> syn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04A8E36-A6F4-19EF-42DA-FC06E6B37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156201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b="1" dirty="0">
                <a:ea typeface="Source Sans Pro" panose="020B0503030403020204" pitchFamily="34" charset="0"/>
              </a:rPr>
              <a:t>Genene er mest fundamentale</a:t>
            </a:r>
          </a:p>
          <a:p>
            <a:pPr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Gener har som «mål» å skape så mange kopier av seg selv som mulig</a:t>
            </a:r>
          </a:p>
          <a:p>
            <a:pPr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Organismer er overlevelsesmaskiner genene har skapt for å fremme sine interesser</a:t>
            </a:r>
          </a:p>
          <a:p>
            <a:pPr>
              <a:lnSpc>
                <a:spcPct val="100000"/>
              </a:lnSpc>
            </a:pPr>
            <a:r>
              <a:rPr lang="nb-NO" sz="1600" dirty="0">
                <a:ea typeface="Source Sans Pro" panose="020B0503030403020204" pitchFamily="34" charset="0"/>
              </a:rPr>
              <a:t>Gener er vellykket ved at de skaper overlevelsesmaskiner sørger genets videre representasjon i kommende generasjoner</a:t>
            </a:r>
          </a:p>
          <a:p>
            <a:pPr>
              <a:lnSpc>
                <a:spcPct val="100000"/>
              </a:lnSpc>
            </a:pPr>
            <a:r>
              <a:rPr lang="nb-NO" sz="1600" b="1" dirty="0">
                <a:ea typeface="Source Sans Pro" panose="020B0503030403020204" pitchFamily="34" charset="0"/>
              </a:rPr>
              <a:t>Gener</a:t>
            </a:r>
            <a:r>
              <a:rPr lang="nb-NO" sz="1600" dirty="0">
                <a:ea typeface="Source Sans Pro" panose="020B0503030403020204" pitchFamily="34" charset="0"/>
              </a:rPr>
              <a:t> er </a:t>
            </a:r>
            <a:r>
              <a:rPr lang="nb-NO" sz="1600" b="1" dirty="0">
                <a:ea typeface="Source Sans Pro" panose="020B0503030403020204" pitchFamily="34" charset="0"/>
              </a:rPr>
              <a:t>enheten</a:t>
            </a:r>
            <a:r>
              <a:rPr lang="nb-NO" sz="1600" dirty="0">
                <a:ea typeface="Source Sans Pro" panose="020B0503030403020204" pitchFamily="34" charset="0"/>
              </a:rPr>
              <a:t> som </a:t>
            </a:r>
            <a:r>
              <a:rPr lang="nb-NO" sz="1600" b="1" dirty="0">
                <a:ea typeface="Source Sans Pro" panose="020B0503030403020204" pitchFamily="34" charset="0"/>
              </a:rPr>
              <a:t>selekteres</a:t>
            </a:r>
            <a:r>
              <a:rPr lang="nb-NO" sz="1600" dirty="0">
                <a:ea typeface="Source Sans Pro" panose="020B0503030403020204" pitchFamily="34" charset="0"/>
              </a:rPr>
              <a:t> ved naturlig utvalg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1FFF78-DEEF-4B07-940A-A69B865BE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53" b="3559"/>
          <a:stretch/>
        </p:blipFill>
        <p:spPr>
          <a:xfrm>
            <a:off x="6096000" y="1"/>
            <a:ext cx="6096000" cy="6858000"/>
          </a:xfrm>
          <a:prstGeom prst="rect">
            <a:avLst/>
          </a:prstGeom>
        </p:spPr>
      </p:pic>
      <p:pic>
        <p:nvPicPr>
          <p:cNvPr id="28674" name="Picture 2">
            <a:extLst>
              <a:ext uri="{FF2B5EF4-FFF2-40B4-BE49-F238E27FC236}">
                <a16:creationId xmlns:a16="http://schemas.microsoft.com/office/drawing/2014/main" id="{848E376D-B124-2ADC-106C-8CC7D9306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19286" r="19286"/>
          <a:stretch/>
        </p:blipFill>
        <p:spPr bwMode="auto">
          <a:xfrm>
            <a:off x="8625467" y="646770"/>
            <a:ext cx="2559516" cy="255951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374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Genseleksjonisme</a:t>
            </a:r>
            <a:endParaRPr lang="nb-NO" dirty="0"/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 noChangeAspect="1"/>
          </p:cNvSpPr>
          <p:nvPr>
            <p:ph sz="half" idx="1"/>
          </p:nvPr>
        </p:nvSpPr>
        <p:spPr>
          <a:xfrm>
            <a:off x="838199" y="1825625"/>
            <a:ext cx="5522315" cy="4351338"/>
          </a:xfrm>
        </p:spPr>
        <p:txBody>
          <a:bodyPr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nb-NO" sz="1800" dirty="0"/>
              <a:t>La oss anta at det kun er et gen som bestemmer kroppsstørrelse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nb-NO" sz="1000" dirty="0"/>
          </a:p>
          <a:p>
            <a:pPr marL="0" indent="0">
              <a:lnSpc>
                <a:spcPct val="120000"/>
              </a:lnSpc>
              <a:buNone/>
            </a:pPr>
            <a:r>
              <a:rPr lang="nb-NO" sz="1800" dirty="0"/>
              <a:t>Genet kommer i to varianter (alleler):  </a:t>
            </a:r>
            <a:br>
              <a:rPr lang="nb-NO" sz="1800" dirty="0"/>
            </a:br>
            <a:r>
              <a:rPr lang="nb-NO" sz="1800" b="1" dirty="0"/>
              <a:t>A</a:t>
            </a:r>
            <a:r>
              <a:rPr lang="nb-NO" sz="1800" dirty="0"/>
              <a:t> (stor) og</a:t>
            </a:r>
            <a:r>
              <a:rPr lang="nb-NO" sz="1800" b="1" dirty="0"/>
              <a:t> a </a:t>
            </a:r>
            <a:r>
              <a:rPr lang="nb-NO" sz="1800" dirty="0"/>
              <a:t>(liten)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nb-NO" sz="1000" dirty="0"/>
          </a:p>
          <a:p>
            <a:pPr marL="0" indent="0">
              <a:lnSpc>
                <a:spcPct val="120000"/>
              </a:lnSpc>
              <a:buNone/>
            </a:pPr>
            <a:r>
              <a:rPr lang="nb-NO" sz="1800" dirty="0"/>
              <a:t>Gjennom å produsere elefanter som er mindre vil genvarianten </a:t>
            </a:r>
            <a:r>
              <a:rPr lang="nb-NO" sz="1800" b="1" dirty="0"/>
              <a:t>a</a:t>
            </a:r>
            <a:r>
              <a:rPr lang="nb-NO" sz="1800" dirty="0"/>
              <a:t> utkonkurrere </a:t>
            </a:r>
            <a:r>
              <a:rPr lang="nb-NO" sz="1800" b="1" dirty="0"/>
              <a:t>A</a:t>
            </a:r>
            <a:r>
              <a:rPr lang="nb-NO" sz="1800" dirty="0"/>
              <a:t> varianten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nb-NO" sz="1000" dirty="0"/>
          </a:p>
          <a:p>
            <a:pPr marL="0" indent="0">
              <a:lnSpc>
                <a:spcPct val="120000"/>
              </a:lnSpc>
              <a:buNone/>
            </a:pPr>
            <a:r>
              <a:rPr lang="nb-NO" sz="1800" b="1" dirty="0"/>
              <a:t>To parallelle kamper for tilværelsen </a:t>
            </a:r>
          </a:p>
          <a:p>
            <a:pPr>
              <a:lnSpc>
                <a:spcPct val="120000"/>
              </a:lnSpc>
            </a:pPr>
            <a:r>
              <a:rPr lang="nb-NO" sz="1600" dirty="0"/>
              <a:t>En mellom elefantene på Kypros</a:t>
            </a:r>
          </a:p>
          <a:p>
            <a:pPr>
              <a:lnSpc>
                <a:spcPct val="120000"/>
              </a:lnSpc>
            </a:pPr>
            <a:r>
              <a:rPr lang="nb-NO" sz="1600" dirty="0"/>
              <a:t>Den andre mellom to genvarianter i elefantenes </a:t>
            </a:r>
            <a:r>
              <a:rPr lang="nb-NO" sz="1600" dirty="0" err="1"/>
              <a:t>genbasseng</a:t>
            </a:r>
            <a:endParaRPr lang="nb-NO" sz="1600" dirty="0"/>
          </a:p>
        </p:txBody>
      </p:sp>
      <p:grpSp>
        <p:nvGrpSpPr>
          <p:cNvPr id="4" name="Gruppe 3" descr="Bilde av kypros hvor elefatene tidligere bruk har blitt byttet ut med stor A og liten a (bokstaver) for å illusterere forskjellige alleler. ">
            <a:extLst>
              <a:ext uri="{FF2B5EF4-FFF2-40B4-BE49-F238E27FC236}">
                <a16:creationId xmlns:a16="http://schemas.microsoft.com/office/drawing/2014/main" id="{E2C4BC27-4E62-A690-EEA7-03F50BB1F8D7}"/>
              </a:ext>
            </a:extLst>
          </p:cNvPr>
          <p:cNvGrpSpPr/>
          <p:nvPr/>
        </p:nvGrpSpPr>
        <p:grpSpPr>
          <a:xfrm>
            <a:off x="6775508" y="2392312"/>
            <a:ext cx="5416492" cy="3217964"/>
            <a:chOff x="6775508" y="2392312"/>
            <a:chExt cx="5416492" cy="3217964"/>
          </a:xfrm>
        </p:grpSpPr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465EB7F1-51B7-E7EB-B0C5-34CDCEE643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r="43733"/>
            <a:stretch/>
          </p:blipFill>
          <p:spPr>
            <a:xfrm>
              <a:off x="6775508" y="2392312"/>
              <a:ext cx="5416492" cy="3217964"/>
            </a:xfrm>
            <a:prstGeom prst="rect">
              <a:avLst/>
            </a:prstGeom>
          </p:spPr>
        </p:pic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6865C3-0E7D-293B-8819-E9160E7C07F0}"/>
                </a:ext>
              </a:extLst>
            </p:cNvPr>
            <p:cNvSpPr txBox="1"/>
            <p:nvPr/>
          </p:nvSpPr>
          <p:spPr>
            <a:xfrm>
              <a:off x="11353800" y="4343400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6395A39-4814-D531-7DD6-E8B7533B998D}"/>
                </a:ext>
              </a:extLst>
            </p:cNvPr>
            <p:cNvSpPr txBox="1"/>
            <p:nvPr/>
          </p:nvSpPr>
          <p:spPr>
            <a:xfrm>
              <a:off x="10401300" y="3748210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625F75C-5745-A5C2-3555-4444B1842307}"/>
                </a:ext>
              </a:extLst>
            </p:cNvPr>
            <p:cNvSpPr txBox="1"/>
            <p:nvPr/>
          </p:nvSpPr>
          <p:spPr>
            <a:xfrm>
              <a:off x="8809532" y="3824410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D370953-B295-2486-155F-7F7D4AAE7D07}"/>
                </a:ext>
              </a:extLst>
            </p:cNvPr>
            <p:cNvSpPr txBox="1"/>
            <p:nvPr/>
          </p:nvSpPr>
          <p:spPr>
            <a:xfrm>
              <a:off x="10198100" y="4378408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D69DF741-B030-B5CB-AFC6-D2A61E51AAA6}"/>
                </a:ext>
              </a:extLst>
            </p:cNvPr>
            <p:cNvSpPr txBox="1"/>
            <p:nvPr/>
          </p:nvSpPr>
          <p:spPr>
            <a:xfrm>
              <a:off x="7554417" y="3270412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0874E7EB-BB1A-076D-5F21-282CCE22253B}"/>
                </a:ext>
              </a:extLst>
            </p:cNvPr>
            <p:cNvSpPr txBox="1"/>
            <p:nvPr/>
          </p:nvSpPr>
          <p:spPr>
            <a:xfrm>
              <a:off x="9696296" y="3547411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A18F8D8-7087-8177-EE76-DE935BE6F855}"/>
                </a:ext>
              </a:extLst>
            </p:cNvPr>
            <p:cNvSpPr txBox="1"/>
            <p:nvPr/>
          </p:nvSpPr>
          <p:spPr>
            <a:xfrm>
              <a:off x="11605819" y="3471211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40CCB60A-1BCB-53B2-141D-011462EE6A38}"/>
                </a:ext>
              </a:extLst>
            </p:cNvPr>
            <p:cNvSpPr txBox="1"/>
            <p:nvPr/>
          </p:nvSpPr>
          <p:spPr>
            <a:xfrm>
              <a:off x="8278749" y="2993413"/>
              <a:ext cx="44114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575562A-890A-395B-B05D-55FB0C413421}"/>
                </a:ext>
              </a:extLst>
            </p:cNvPr>
            <p:cNvSpPr txBox="1"/>
            <p:nvPr/>
          </p:nvSpPr>
          <p:spPr>
            <a:xfrm>
              <a:off x="11133227" y="4996554"/>
              <a:ext cx="44114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972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Kun en disse kampene teller!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 noChangeAspect="1"/>
          </p:cNvSpPr>
          <p:nvPr>
            <p:ph sz="half" idx="1"/>
          </p:nvPr>
        </p:nvSpPr>
        <p:spPr>
          <a:xfrm>
            <a:off x="838199" y="1825625"/>
            <a:ext cx="5522315" cy="4667250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nb-NO" sz="1800" dirty="0"/>
              <a:t>På </a:t>
            </a:r>
            <a:r>
              <a:rPr lang="nb-NO" sz="1800" dirty="0" err="1"/>
              <a:t>Dawkins</a:t>
            </a:r>
            <a:r>
              <a:rPr lang="nb-NO" sz="1800" dirty="0"/>
              <a:t>’ </a:t>
            </a:r>
            <a:r>
              <a:rPr lang="nb-NO" sz="1800" dirty="0" err="1"/>
              <a:t>gensentrerte</a:t>
            </a:r>
            <a:r>
              <a:rPr lang="nb-NO" sz="1800" dirty="0"/>
              <a:t> syn:</a:t>
            </a:r>
            <a:r>
              <a:rPr lang="nb-NO" sz="2000" dirty="0"/>
              <a:t> </a:t>
            </a:r>
          </a:p>
          <a:p>
            <a:pPr>
              <a:lnSpc>
                <a:spcPct val="120000"/>
              </a:lnSpc>
            </a:pPr>
            <a:r>
              <a:rPr lang="nb-NO" sz="1600" dirty="0"/>
              <a:t>Den </a:t>
            </a:r>
            <a:r>
              <a:rPr lang="nb-NO" sz="1600" b="1" dirty="0"/>
              <a:t>tilsynelatende </a:t>
            </a:r>
            <a:r>
              <a:rPr lang="nb-NO" sz="1600" dirty="0"/>
              <a:t>kampen for tilværelsen mellom elefantene er egentlig bare en kamp mellom de to forskjellige genvariantene som har skapt forskjellige overlevelsesmaskiner for naturlig utvalg å handle på</a:t>
            </a:r>
          </a:p>
          <a:p>
            <a:pPr>
              <a:lnSpc>
                <a:spcPct val="120000"/>
              </a:lnSpc>
            </a:pPr>
            <a:endParaRPr lang="nb-NO" sz="1000" dirty="0"/>
          </a:p>
          <a:p>
            <a:pPr>
              <a:lnSpc>
                <a:spcPct val="120000"/>
              </a:lnSpc>
            </a:pPr>
            <a:r>
              <a:rPr lang="nb-NO" sz="1600" dirty="0"/>
              <a:t>Den </a:t>
            </a:r>
            <a:r>
              <a:rPr lang="nb-NO" sz="1600" b="1" dirty="0"/>
              <a:t>faktiske</a:t>
            </a:r>
            <a:r>
              <a:rPr lang="nb-NO" sz="1600" dirty="0"/>
              <a:t> kampen for tilværelsen skjer mellom genvariantene på kromosomnivå (det lange DNA molekylet som inneholder alt, eller deler av, det genetiske materiale til en organisme)</a:t>
            </a:r>
          </a:p>
        </p:txBody>
      </p:sp>
      <p:grpSp>
        <p:nvGrpSpPr>
          <p:cNvPr id="3" name="Gruppe 2" descr="Bilde av kypros hvor elefatene tidligere bruk har blitt byttet ut med stor A og liten a (bokstaver) for å illusterere forskjellige alleler. ">
            <a:extLst>
              <a:ext uri="{FF2B5EF4-FFF2-40B4-BE49-F238E27FC236}">
                <a16:creationId xmlns:a16="http://schemas.microsoft.com/office/drawing/2014/main" id="{4F924574-24D6-82D3-4E2C-53F6391B48A9}"/>
              </a:ext>
            </a:extLst>
          </p:cNvPr>
          <p:cNvGrpSpPr/>
          <p:nvPr/>
        </p:nvGrpSpPr>
        <p:grpSpPr>
          <a:xfrm>
            <a:off x="6775508" y="1231170"/>
            <a:ext cx="5416492" cy="3217964"/>
            <a:chOff x="6775508" y="2392312"/>
            <a:chExt cx="5416492" cy="3217964"/>
          </a:xfrm>
        </p:grpSpPr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465EB7F1-51B7-E7EB-B0C5-34CDCEE643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r="43733"/>
            <a:stretch/>
          </p:blipFill>
          <p:spPr>
            <a:xfrm>
              <a:off x="6775508" y="2392312"/>
              <a:ext cx="5416492" cy="3217964"/>
            </a:xfrm>
            <a:prstGeom prst="rect">
              <a:avLst/>
            </a:prstGeom>
          </p:spPr>
        </p:pic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6865C3-0E7D-293B-8819-E9160E7C07F0}"/>
                </a:ext>
              </a:extLst>
            </p:cNvPr>
            <p:cNvSpPr txBox="1"/>
            <p:nvPr/>
          </p:nvSpPr>
          <p:spPr>
            <a:xfrm>
              <a:off x="11353800" y="4343400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6395A39-4814-D531-7DD6-E8B7533B998D}"/>
                </a:ext>
              </a:extLst>
            </p:cNvPr>
            <p:cNvSpPr txBox="1"/>
            <p:nvPr/>
          </p:nvSpPr>
          <p:spPr>
            <a:xfrm>
              <a:off x="10401300" y="3748210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625F75C-5745-A5C2-3555-4444B1842307}"/>
                </a:ext>
              </a:extLst>
            </p:cNvPr>
            <p:cNvSpPr txBox="1"/>
            <p:nvPr/>
          </p:nvSpPr>
          <p:spPr>
            <a:xfrm>
              <a:off x="8809532" y="3824410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D370953-B295-2486-155F-7F7D4AAE7D07}"/>
                </a:ext>
              </a:extLst>
            </p:cNvPr>
            <p:cNvSpPr txBox="1"/>
            <p:nvPr/>
          </p:nvSpPr>
          <p:spPr>
            <a:xfrm>
              <a:off x="10198100" y="4378408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D69DF741-B030-B5CB-AFC6-D2A61E51AAA6}"/>
                </a:ext>
              </a:extLst>
            </p:cNvPr>
            <p:cNvSpPr txBox="1"/>
            <p:nvPr/>
          </p:nvSpPr>
          <p:spPr>
            <a:xfrm>
              <a:off x="7554417" y="3270412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0874E7EB-BB1A-076D-5F21-282CCE22253B}"/>
                </a:ext>
              </a:extLst>
            </p:cNvPr>
            <p:cNvSpPr txBox="1"/>
            <p:nvPr/>
          </p:nvSpPr>
          <p:spPr>
            <a:xfrm>
              <a:off x="9696296" y="3547411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A18F8D8-7087-8177-EE76-DE935BE6F855}"/>
                </a:ext>
              </a:extLst>
            </p:cNvPr>
            <p:cNvSpPr txBox="1"/>
            <p:nvPr/>
          </p:nvSpPr>
          <p:spPr>
            <a:xfrm>
              <a:off x="11605819" y="3471211"/>
              <a:ext cx="39786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40CCB60A-1BCB-53B2-141D-011462EE6A38}"/>
                </a:ext>
              </a:extLst>
            </p:cNvPr>
            <p:cNvSpPr txBox="1"/>
            <p:nvPr/>
          </p:nvSpPr>
          <p:spPr>
            <a:xfrm>
              <a:off x="8278749" y="2993413"/>
              <a:ext cx="44114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7575562A-890A-395B-B05D-55FB0C413421}"/>
                </a:ext>
              </a:extLst>
            </p:cNvPr>
            <p:cNvSpPr txBox="1"/>
            <p:nvPr/>
          </p:nvSpPr>
          <p:spPr>
            <a:xfrm>
              <a:off x="11133227" y="4996554"/>
              <a:ext cx="44114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b-NO" sz="3000" dirty="0">
                  <a:solidFill>
                    <a:srgbClr val="00B050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endParaRPr lang="en-US" sz="30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4" name="Group 3" descr="Bilde av Kypros med grønne små og røde store elefanter.">
            <a:extLst>
              <a:ext uri="{FF2B5EF4-FFF2-40B4-BE49-F238E27FC236}">
                <a16:creationId xmlns:a16="http://schemas.microsoft.com/office/drawing/2014/main" id="{DFCC1736-2FE9-2460-CBB2-C0EC7694EF82}"/>
              </a:ext>
            </a:extLst>
          </p:cNvPr>
          <p:cNvGrpSpPr/>
          <p:nvPr/>
        </p:nvGrpSpPr>
        <p:grpSpPr>
          <a:xfrm>
            <a:off x="6360514" y="3405295"/>
            <a:ext cx="6205447" cy="3686954"/>
            <a:chOff x="838200" y="2144684"/>
            <a:chExt cx="6205447" cy="3686954"/>
          </a:xfrm>
        </p:grpSpPr>
        <p:pic>
          <p:nvPicPr>
            <p:cNvPr id="5" name="Picture 34">
              <a:extLst>
                <a:ext uri="{FF2B5EF4-FFF2-40B4-BE49-F238E27FC236}">
                  <a16:creationId xmlns:a16="http://schemas.microsoft.com/office/drawing/2014/main" id="{EEB8CD54-D1AF-72E6-1D85-54BC2D4210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-1" r="43737"/>
            <a:stretch/>
          </p:blipFill>
          <p:spPr>
            <a:xfrm>
              <a:off x="838200" y="2144684"/>
              <a:ext cx="6205447" cy="3686954"/>
            </a:xfrm>
            <a:prstGeom prst="rect">
              <a:avLst/>
            </a:prstGeom>
          </p:spPr>
        </p:pic>
        <p:pic>
          <p:nvPicPr>
            <p:cNvPr id="6" name="Graphic 36" descr="Elephant">
              <a:extLst>
                <a:ext uri="{FF2B5EF4-FFF2-40B4-BE49-F238E27FC236}">
                  <a16:creationId xmlns:a16="http://schemas.microsoft.com/office/drawing/2014/main" id="{FAA40764-586A-74AA-C914-AC57179D2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03943" y="3214706"/>
              <a:ext cx="817418" cy="817418"/>
            </a:xfrm>
            <a:prstGeom prst="rect">
              <a:avLst/>
            </a:prstGeom>
          </p:spPr>
        </p:pic>
        <p:pic>
          <p:nvPicPr>
            <p:cNvPr id="8" name="Graphic 38" descr="Elephant">
              <a:extLst>
                <a:ext uri="{FF2B5EF4-FFF2-40B4-BE49-F238E27FC236}">
                  <a16:creationId xmlns:a16="http://schemas.microsoft.com/office/drawing/2014/main" id="{3E4EC3B5-5E90-1B2D-2595-C67F427B6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03181" y="3818313"/>
              <a:ext cx="817418" cy="817418"/>
            </a:xfrm>
            <a:prstGeom prst="rect">
              <a:avLst/>
            </a:prstGeom>
          </p:spPr>
        </p:pic>
        <p:pic>
          <p:nvPicPr>
            <p:cNvPr id="10" name="Graphic 40" descr="Elephant">
              <a:extLst>
                <a:ext uri="{FF2B5EF4-FFF2-40B4-BE49-F238E27FC236}">
                  <a16:creationId xmlns:a16="http://schemas.microsoft.com/office/drawing/2014/main" id="{B90BA999-AA70-6792-E5A6-F61C0EA24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76639" y="3214706"/>
              <a:ext cx="817418" cy="817418"/>
            </a:xfrm>
            <a:prstGeom prst="rect">
              <a:avLst/>
            </a:prstGeom>
          </p:spPr>
        </p:pic>
        <p:pic>
          <p:nvPicPr>
            <p:cNvPr id="11" name="Graphic 41" descr="Elephant">
              <a:extLst>
                <a:ext uri="{FF2B5EF4-FFF2-40B4-BE49-F238E27FC236}">
                  <a16:creationId xmlns:a16="http://schemas.microsoft.com/office/drawing/2014/main" id="{359DD904-1285-BD54-C017-210A08B44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02011" y="2962441"/>
              <a:ext cx="817418" cy="817418"/>
            </a:xfrm>
            <a:prstGeom prst="rect">
              <a:avLst/>
            </a:prstGeom>
          </p:spPr>
        </p:pic>
        <p:pic>
          <p:nvPicPr>
            <p:cNvPr id="12" name="Graphic 42" descr="Elephant">
              <a:extLst>
                <a:ext uri="{FF2B5EF4-FFF2-40B4-BE49-F238E27FC236}">
                  <a16:creationId xmlns:a16="http://schemas.microsoft.com/office/drawing/2014/main" id="{FC363D04-5027-5DC1-23D9-6DE1DCB4A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42394" y="4286363"/>
              <a:ext cx="817418" cy="817418"/>
            </a:xfrm>
            <a:prstGeom prst="rect">
              <a:avLst/>
            </a:prstGeom>
          </p:spPr>
        </p:pic>
        <p:pic>
          <p:nvPicPr>
            <p:cNvPr id="13" name="Graphic 2" descr="Elephant">
              <a:extLst>
                <a:ext uri="{FF2B5EF4-FFF2-40B4-BE49-F238E27FC236}">
                  <a16:creationId xmlns:a16="http://schemas.microsoft.com/office/drawing/2014/main" id="{29CB62B3-A8AC-0C0D-9C9A-07366B259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96980" y="2536154"/>
              <a:ext cx="559317" cy="559317"/>
            </a:xfrm>
            <a:prstGeom prst="rect">
              <a:avLst/>
            </a:prstGeom>
          </p:spPr>
        </p:pic>
        <p:pic>
          <p:nvPicPr>
            <p:cNvPr id="14" name="Graphic 4" descr="Elephant">
              <a:extLst>
                <a:ext uri="{FF2B5EF4-FFF2-40B4-BE49-F238E27FC236}">
                  <a16:creationId xmlns:a16="http://schemas.microsoft.com/office/drawing/2014/main" id="{2A53A0A5-322E-DC59-9C2B-6B8F12200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02506" y="2962441"/>
              <a:ext cx="817418" cy="817418"/>
            </a:xfrm>
            <a:prstGeom prst="rect">
              <a:avLst/>
            </a:prstGeom>
          </p:spPr>
        </p:pic>
        <p:pic>
          <p:nvPicPr>
            <p:cNvPr id="15" name="Graphic 5" descr="Elephant">
              <a:extLst>
                <a:ext uri="{FF2B5EF4-FFF2-40B4-BE49-F238E27FC236}">
                  <a16:creationId xmlns:a16="http://schemas.microsoft.com/office/drawing/2014/main" id="{90AC0043-D8E7-33B9-ABF9-31BF71837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78665" y="3532188"/>
              <a:ext cx="505967" cy="505967"/>
            </a:xfrm>
            <a:prstGeom prst="rect">
              <a:avLst/>
            </a:prstGeom>
          </p:spPr>
        </p:pic>
        <p:pic>
          <p:nvPicPr>
            <p:cNvPr id="16" name="Graphic 6" descr="Elephant">
              <a:extLst>
                <a:ext uri="{FF2B5EF4-FFF2-40B4-BE49-F238E27FC236}">
                  <a16:creationId xmlns:a16="http://schemas.microsoft.com/office/drawing/2014/main" id="{EE56AA5C-51B0-DE9F-7D93-50DA21745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09214" y="5023770"/>
              <a:ext cx="533766" cy="533766"/>
            </a:xfrm>
            <a:prstGeom prst="rect">
              <a:avLst/>
            </a:prstGeom>
          </p:spPr>
        </p:pic>
        <p:pic>
          <p:nvPicPr>
            <p:cNvPr id="17" name="Graphic 7" descr="Elephant">
              <a:extLst>
                <a:ext uri="{FF2B5EF4-FFF2-40B4-BE49-F238E27FC236}">
                  <a16:creationId xmlns:a16="http://schemas.microsoft.com/office/drawing/2014/main" id="{0078436D-4BBD-EE6C-3C3C-1B6D49ED7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65763" y="2682782"/>
              <a:ext cx="559318" cy="559318"/>
            </a:xfrm>
            <a:prstGeom prst="rect">
              <a:avLst/>
            </a:prstGeom>
          </p:spPr>
        </p:pic>
        <p:pic>
          <p:nvPicPr>
            <p:cNvPr id="18" name="Graphic 8" descr="Elephant">
              <a:extLst>
                <a:ext uri="{FF2B5EF4-FFF2-40B4-BE49-F238E27FC236}">
                  <a16:creationId xmlns:a16="http://schemas.microsoft.com/office/drawing/2014/main" id="{CCB73680-9F9F-6F04-1898-3E8075A40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88753" y="3779510"/>
              <a:ext cx="550877" cy="550877"/>
            </a:xfrm>
            <a:prstGeom prst="rect">
              <a:avLst/>
            </a:prstGeom>
          </p:spPr>
        </p:pic>
        <p:pic>
          <p:nvPicPr>
            <p:cNvPr id="19" name="Graphic 9" descr="Elephant">
              <a:extLst>
                <a:ext uri="{FF2B5EF4-FFF2-40B4-BE49-F238E27FC236}">
                  <a16:creationId xmlns:a16="http://schemas.microsoft.com/office/drawing/2014/main" id="{086C7565-5AC5-51C4-E327-CEA24C338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1141" y="3020291"/>
              <a:ext cx="817418" cy="817418"/>
            </a:xfrm>
            <a:prstGeom prst="rect">
              <a:avLst/>
            </a:prstGeom>
          </p:spPr>
        </p:pic>
        <p:pic>
          <p:nvPicPr>
            <p:cNvPr id="20" name="Graphic 10" descr="Elephant">
              <a:extLst>
                <a:ext uri="{FF2B5EF4-FFF2-40B4-BE49-F238E27FC236}">
                  <a16:creationId xmlns:a16="http://schemas.microsoft.com/office/drawing/2014/main" id="{344BF51E-4D59-F34B-71C8-59B286A1B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40449" y="3779510"/>
              <a:ext cx="817418" cy="817418"/>
            </a:xfrm>
            <a:prstGeom prst="rect">
              <a:avLst/>
            </a:prstGeom>
          </p:spPr>
        </p:pic>
        <p:pic>
          <p:nvPicPr>
            <p:cNvPr id="21" name="Graphic 11" descr="Elephant">
              <a:extLst>
                <a:ext uri="{FF2B5EF4-FFF2-40B4-BE49-F238E27FC236}">
                  <a16:creationId xmlns:a16="http://schemas.microsoft.com/office/drawing/2014/main" id="{D480BE46-558A-E75E-FD44-DD1E97F10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7898" y="3584363"/>
              <a:ext cx="817418" cy="817418"/>
            </a:xfrm>
            <a:prstGeom prst="rect">
              <a:avLst/>
            </a:prstGeom>
          </p:spPr>
        </p:pic>
        <p:pic>
          <p:nvPicPr>
            <p:cNvPr id="22" name="Graphic 12" descr="Elephant">
              <a:extLst>
                <a:ext uri="{FF2B5EF4-FFF2-40B4-BE49-F238E27FC236}">
                  <a16:creationId xmlns:a16="http://schemas.microsoft.com/office/drawing/2014/main" id="{509FC20B-6072-8322-373D-23F3B1166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71977" y="3512201"/>
              <a:ext cx="817418" cy="817418"/>
            </a:xfrm>
            <a:prstGeom prst="rect">
              <a:avLst/>
            </a:prstGeom>
          </p:spPr>
        </p:pic>
        <p:pic>
          <p:nvPicPr>
            <p:cNvPr id="23" name="Graphic 13" descr="Elephant">
              <a:extLst>
                <a:ext uri="{FF2B5EF4-FFF2-40B4-BE49-F238E27FC236}">
                  <a16:creationId xmlns:a16="http://schemas.microsoft.com/office/drawing/2014/main" id="{536A683D-FABD-EA28-C77C-1DB6E5191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29000" y="3818313"/>
              <a:ext cx="817418" cy="817418"/>
            </a:xfrm>
            <a:prstGeom prst="rect">
              <a:avLst/>
            </a:prstGeom>
          </p:spPr>
        </p:pic>
        <p:pic>
          <p:nvPicPr>
            <p:cNvPr id="24" name="Graphic 14" descr="Elephant">
              <a:extLst>
                <a:ext uri="{FF2B5EF4-FFF2-40B4-BE49-F238E27FC236}">
                  <a16:creationId xmlns:a16="http://schemas.microsoft.com/office/drawing/2014/main" id="{E0E22332-D7F0-8FCD-61D3-F47BCCBC9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44156" y="3903887"/>
              <a:ext cx="572876" cy="572876"/>
            </a:xfrm>
            <a:prstGeom prst="rect">
              <a:avLst/>
            </a:prstGeom>
          </p:spPr>
        </p:pic>
        <p:pic>
          <p:nvPicPr>
            <p:cNvPr id="25" name="Graphic 15" descr="Elephant">
              <a:extLst>
                <a:ext uri="{FF2B5EF4-FFF2-40B4-BE49-F238E27FC236}">
                  <a16:creationId xmlns:a16="http://schemas.microsoft.com/office/drawing/2014/main" id="{6DFE96C0-6E15-EEC4-3263-103093CA9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10229" y="4297630"/>
              <a:ext cx="817418" cy="817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2075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8100" cy="1325563"/>
          </a:xfrm>
        </p:spPr>
        <p:txBody>
          <a:bodyPr/>
          <a:lstStyle/>
          <a:p>
            <a:r>
              <a:rPr lang="nb-NO" dirty="0"/>
              <a:t>Hvorfor ta genets perspektiv?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82554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Kan forklare fenomen som tilsynelatende er paradoksale for standardversjonen av evolusjonsteorien, blant annet:</a:t>
            </a:r>
            <a:endParaRPr lang="nb-NO" sz="1800" dirty="0"/>
          </a:p>
          <a:p>
            <a:pPr marL="0" indent="0">
              <a:lnSpc>
                <a:spcPct val="100000"/>
              </a:lnSpc>
              <a:buNone/>
            </a:pPr>
            <a:endParaRPr lang="nb-NO" sz="2000" dirty="0"/>
          </a:p>
          <a:p>
            <a:pPr>
              <a:lnSpc>
                <a:spcPct val="100000"/>
              </a:lnSpc>
            </a:pPr>
            <a:r>
              <a:rPr lang="nb-NO" sz="1600" dirty="0" err="1"/>
              <a:t>Eusosialitet</a:t>
            </a:r>
            <a:r>
              <a:rPr lang="nb-NO" sz="1600" dirty="0"/>
              <a:t> i innsekter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Seksuell kannibalisme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Viktigst for </a:t>
            </a:r>
            <a:r>
              <a:rPr lang="nb-NO" sz="1600" dirty="0" err="1"/>
              <a:t>Dawkins</a:t>
            </a:r>
            <a:r>
              <a:rPr lang="nb-NO" sz="1600" dirty="0"/>
              <a:t>: </a:t>
            </a:r>
            <a:r>
              <a:rPr lang="nb-NO" sz="1600" b="1" dirty="0"/>
              <a:t>altruisme</a:t>
            </a:r>
          </a:p>
          <a:p>
            <a:pPr>
              <a:lnSpc>
                <a:spcPct val="100000"/>
              </a:lnSpc>
            </a:pPr>
            <a:endParaRPr lang="nb-NO" sz="1800" b="1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Hvorfor er disse fenomenene paradoksale?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De er strategier og atferder som giv </a:t>
            </a:r>
            <a:r>
              <a:rPr lang="nb-NO" sz="1600" b="1" dirty="0"/>
              <a:t>lavere </a:t>
            </a:r>
            <a:r>
              <a:rPr lang="nb-NO" sz="1600" dirty="0" err="1"/>
              <a:t>fitness</a:t>
            </a:r>
            <a:r>
              <a:rPr lang="nb-NO" sz="1600" dirty="0"/>
              <a:t> for individuelle organismer</a:t>
            </a:r>
          </a:p>
        </p:txBody>
      </p:sp>
      <p:pic>
        <p:nvPicPr>
          <p:cNvPr id="1026" name="Picture 2" descr="Liten hjerne ingen hindring">
            <a:extLst>
              <a:ext uri="{FF2B5EF4-FFF2-40B4-BE49-F238E27FC236}">
                <a16:creationId xmlns:a16="http://schemas.microsoft.com/office/drawing/2014/main" id="{E0744968-DBC6-BB60-9DE5-AFA4FDF7B1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3" r="31999"/>
          <a:stretch/>
        </p:blipFill>
        <p:spPr bwMode="auto">
          <a:xfrm>
            <a:off x="609600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083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8100" cy="1325563"/>
          </a:xfrm>
        </p:spPr>
        <p:txBody>
          <a:bodyPr/>
          <a:lstStyle/>
          <a:p>
            <a:r>
              <a:rPr lang="nb-NO" dirty="0" err="1"/>
              <a:t>Eusosialitet</a:t>
            </a:r>
            <a:r>
              <a:rPr lang="en-US" dirty="0"/>
              <a:t>  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157686" cy="503237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b="1" dirty="0" err="1"/>
              <a:t>Eusosialitet</a:t>
            </a:r>
            <a:r>
              <a:rPr lang="nb-NO" sz="1800" dirty="0"/>
              <a:t> er en type sosial organisering der et eller flere individer i en sosial gruppe reduserer sin egen reproduksjonsmulighet for å oppfostre avkom fra andre individer i den sosiale gruppen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nb-NO" sz="1000" b="1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Maur:</a:t>
            </a:r>
            <a:endParaRPr lang="nb-NO" sz="1800" dirty="0"/>
          </a:p>
          <a:p>
            <a:pPr>
              <a:lnSpc>
                <a:spcPct val="100000"/>
              </a:lnSpc>
            </a:pPr>
            <a:r>
              <a:rPr lang="nb-NO" sz="1600" dirty="0"/>
              <a:t>Dronning (reproduserende hunn)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Droner (reproduserende hanner)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Arbeidere (sterile hunner)</a:t>
            </a:r>
          </a:p>
          <a:p>
            <a:pPr>
              <a:lnSpc>
                <a:spcPct val="100000"/>
              </a:lnSpc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Nakenrotten</a:t>
            </a:r>
            <a:r>
              <a:rPr lang="nb-NO" sz="1800" dirty="0"/>
              <a:t>: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Dronning (reproduserende hunn)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Reproduserende hanner (1-3 i hver koloni)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Arbeidere (midlertidig sterile hunner og ikke-reproduserende hanner)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1DF3B3B2-56B0-F5A4-CF83-580D95643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239000" y="5530"/>
            <a:ext cx="4953001" cy="6852470"/>
            <a:chOff x="7239000" y="5530"/>
            <a:chExt cx="4953001" cy="6852470"/>
          </a:xfrm>
        </p:grpSpPr>
        <p:pic>
          <p:nvPicPr>
            <p:cNvPr id="2052" name="Picture 4" descr="E Pluribus Unum – San Diego Zoo Wildlife Alliance Stories">
              <a:extLst>
                <a:ext uri="{FF2B5EF4-FFF2-40B4-BE49-F238E27FC236}">
                  <a16:creationId xmlns:a16="http://schemas.microsoft.com/office/drawing/2014/main" id="{0526AEFD-6547-0222-C4B4-D7B638C31F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" t="30877" r="4543" b="3069"/>
            <a:stretch/>
          </p:blipFill>
          <p:spPr bwMode="auto">
            <a:xfrm>
              <a:off x="7239000" y="3429000"/>
              <a:ext cx="4953000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ant colony structure and organization">
              <a:extLst>
                <a:ext uri="{FF2B5EF4-FFF2-40B4-BE49-F238E27FC236}">
                  <a16:creationId xmlns:a16="http://schemas.microsoft.com/office/drawing/2014/main" id="{813A441E-0CDE-B481-757E-55B2AD28C6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49" r="22188"/>
            <a:stretch/>
          </p:blipFill>
          <p:spPr bwMode="auto">
            <a:xfrm>
              <a:off x="7239000" y="5530"/>
              <a:ext cx="4953001" cy="3423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36518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8100" cy="1325563"/>
          </a:xfrm>
        </p:spPr>
        <p:txBody>
          <a:bodyPr/>
          <a:lstStyle/>
          <a:p>
            <a:r>
              <a:rPr lang="nb-NO" dirty="0"/>
              <a:t>Seksuell kannibalisme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157686" cy="503237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Seksuell kannibalisme referer til fenomenet der en organisme—som oftest hunnen—spiser maken sin under eller etter paring</a:t>
            </a:r>
          </a:p>
          <a:p>
            <a:pPr>
              <a:lnSpc>
                <a:spcPct val="100000"/>
              </a:lnSpc>
            </a:pPr>
            <a:endParaRPr lang="nb-NO" sz="1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Potensielle fordeler for hunnen: 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Mer energi (f. eks, fett and proteiner som er nyttig for å  produsere avkom)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Mindre konkurranse om mat og ressurser lokalt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nb-NO" sz="1000" b="1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Fordeler og ulemper for hannen: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Den får en mulighet til å pare seg!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Men mister fremtidige paringsmuligheter, som sannsynligvis gir hannen </a:t>
            </a:r>
            <a:r>
              <a:rPr lang="nb-NO" sz="1600" b="1" dirty="0"/>
              <a:t>lavere </a:t>
            </a:r>
            <a:r>
              <a:rPr lang="nb-NO" sz="1600" dirty="0" err="1"/>
              <a:t>fitness</a:t>
            </a:r>
            <a:endParaRPr lang="nb-NO" sz="1600" dirty="0"/>
          </a:p>
          <a:p>
            <a:pPr>
              <a:lnSpc>
                <a:spcPct val="100000"/>
              </a:lnSpc>
            </a:pPr>
            <a:r>
              <a:rPr lang="nb-NO" sz="1600" dirty="0"/>
              <a:t>Hvorfor har ikke hannene utviklet strategier for å unngå å bli spist under paring?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9FB02A9-C42E-6D2F-A654-61371D0C5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28" r="26296"/>
          <a:stretch/>
        </p:blipFill>
        <p:spPr bwMode="auto">
          <a:xfrm>
            <a:off x="6937828" y="0"/>
            <a:ext cx="5254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056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8100" cy="1325563"/>
          </a:xfrm>
        </p:spPr>
        <p:txBody>
          <a:bodyPr/>
          <a:lstStyle/>
          <a:p>
            <a:r>
              <a:rPr lang="nb-NO" dirty="0"/>
              <a:t>Biologisk altruisme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157686" cy="503237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Biologisk</a:t>
            </a:r>
            <a:r>
              <a:rPr lang="nb-NO" sz="1800" dirty="0"/>
              <a:t> </a:t>
            </a:r>
            <a:r>
              <a:rPr lang="nb-NO" sz="1800" b="1" dirty="0"/>
              <a:t>altruisme</a:t>
            </a:r>
            <a:r>
              <a:rPr lang="nb-NO" sz="1800" dirty="0"/>
              <a:t> er atferd hos et individ som </a:t>
            </a:r>
            <a:r>
              <a:rPr lang="nb-NO" sz="1800" b="1" dirty="0"/>
              <a:t>minsker</a:t>
            </a:r>
            <a:r>
              <a:rPr lang="nb-NO" sz="1800" dirty="0"/>
              <a:t> egne reproduksjonsmuligheter, men som øker tilsvarende mulighet hos andre individer i gruppen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Biologisk altruisme kan kontrasteres med </a:t>
            </a:r>
            <a:r>
              <a:rPr lang="nb-NO" sz="1800" b="1" dirty="0"/>
              <a:t>egoisme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Atferd som øker et individs reproduksjonsmuligheter, gjerne på bekostning av andre individer i gruppen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Flere eksempler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Vervetaper gir varselrop, som retter oppmerksomheten mot det varslende individet for at andre individer kan komme seg i sikkerhet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Afrikanske villhunder tar med mat til eldre eller skadende flokkmedlemmer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Hvalrosser adopterer kalver som har blitt foreldreløse på grunn av rovdyr</a:t>
            </a:r>
          </a:p>
          <a:p>
            <a:pPr>
              <a:lnSpc>
                <a:spcPct val="100000"/>
              </a:lnSpc>
            </a:pPr>
            <a:endParaRPr lang="nb-NO" sz="1800" dirty="0"/>
          </a:p>
        </p:txBody>
      </p:sp>
      <p:pic>
        <p:nvPicPr>
          <p:cNvPr id="5122" name="Picture 2" descr="Vervet Monkey Facts, Distribution, Diet, Vocalizations, Pictures">
            <a:extLst>
              <a:ext uri="{FF2B5EF4-FFF2-40B4-BE49-F238E27FC236}">
                <a16:creationId xmlns:a16="http://schemas.microsoft.com/office/drawing/2014/main" id="{1CB73921-438A-2331-9EB0-4AC63F5D2C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0" r="8606"/>
          <a:stretch/>
        </p:blipFill>
        <p:spPr bwMode="auto">
          <a:xfrm>
            <a:off x="7073900" y="0"/>
            <a:ext cx="51181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292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716486" cy="1325563"/>
          </a:xfrm>
        </p:spPr>
        <p:txBody>
          <a:bodyPr/>
          <a:lstStyle/>
          <a:p>
            <a:r>
              <a:rPr lang="nb-NO" dirty="0"/>
              <a:t>Problemet med altruisme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99514" cy="4667251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Hvis naturlig utvalg sorterer på bakgrunn av individer som er i kontinuerlig konkurranse med hverandre, hvor vinnerne er de som for flest avkom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Hvordan kan vi da forklare at noen enkeltindivider ser ut til å </a:t>
            </a:r>
            <a:r>
              <a:rPr lang="nb-NO" sz="1800" b="1" dirty="0"/>
              <a:t>ofre</a:t>
            </a:r>
            <a:r>
              <a:rPr lang="nb-NO" sz="1800" dirty="0"/>
              <a:t> sine egne overlevelses- og reproduksjonsmuligheter for «å hjelpe» andre individer i gruppen med å overleve og reprodusere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Ifølge teorien om naturlig utvalg burde </a:t>
            </a:r>
            <a:r>
              <a:rPr lang="nb-NO" sz="1800" b="1" dirty="0"/>
              <a:t>egoistiske </a:t>
            </a:r>
            <a:r>
              <a:rPr lang="nb-NO" sz="1800" dirty="0"/>
              <a:t>individer alltid </a:t>
            </a:r>
            <a:r>
              <a:rPr lang="nb-NO" sz="1800" b="1" dirty="0"/>
              <a:t>utkonkurrere</a:t>
            </a:r>
            <a:r>
              <a:rPr lang="nb-NO" sz="1800" dirty="0"/>
              <a:t> altruistiske individer, og til følge burde populasjonen til slutt kun bestå av egoistiske individer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Altruismeproblemet</a:t>
            </a:r>
          </a:p>
          <a:p>
            <a:pPr>
              <a:lnSpc>
                <a:spcPct val="100000"/>
              </a:lnSpc>
            </a:pPr>
            <a:r>
              <a:rPr lang="nb-NO" sz="1700" dirty="0"/>
              <a:t>Hvordan kan vi forklare forekomsten av altruistisk atferd når dette tilsynelatende går i mot evolusjonsteorien sine prinsipper?</a:t>
            </a:r>
          </a:p>
        </p:txBody>
      </p:sp>
      <p:pic>
        <p:nvPicPr>
          <p:cNvPr id="4" name="Picture 4" descr="A group of hyenas&#10;&#10;Description automatically generated with medium confidence">
            <a:extLst>
              <a:ext uri="{FF2B5EF4-FFF2-40B4-BE49-F238E27FC236}">
                <a16:creationId xmlns:a16="http://schemas.microsoft.com/office/drawing/2014/main" id="{7CEA3748-6A66-6AFF-D943-84FDBA6D6C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8749" t="3413" r="13751" b="19807"/>
          <a:stretch/>
        </p:blipFill>
        <p:spPr bwMode="auto">
          <a:xfrm>
            <a:off x="8077198" y="10"/>
            <a:ext cx="4114802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120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8100" cy="1325563"/>
          </a:xfrm>
        </p:spPr>
        <p:txBody>
          <a:bodyPr/>
          <a:lstStyle/>
          <a:p>
            <a:r>
              <a:rPr lang="nb-NO" dirty="0"/>
              <a:t>For gruppens beste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86400" cy="503237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Standardforklaringen av disse paradoksale fenomenene var tidligere at naturlig utvalg ikke kvittet seg med altruistiske individer fordi slike individer er </a:t>
            </a:r>
            <a:r>
              <a:rPr lang="nb-NO" sz="1800" b="1" dirty="0"/>
              <a:t>fordelaktige</a:t>
            </a:r>
            <a:r>
              <a:rPr lang="nb-NO" sz="1800" dirty="0"/>
              <a:t> for </a:t>
            </a:r>
            <a:r>
              <a:rPr lang="nb-NO" sz="1800" b="1" dirty="0"/>
              <a:t>gruppen</a:t>
            </a:r>
            <a:r>
              <a:rPr lang="nb-NO" sz="1800" dirty="0"/>
              <a:t> </a:t>
            </a:r>
            <a:r>
              <a:rPr lang="nb-NO" sz="1800" b="1" dirty="0"/>
              <a:t>som</a:t>
            </a:r>
            <a:r>
              <a:rPr lang="nb-NO" sz="1800" dirty="0"/>
              <a:t> </a:t>
            </a:r>
            <a:r>
              <a:rPr lang="nb-NO" sz="1800" b="1" dirty="0"/>
              <a:t>helhet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8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Dermed er det en kamp for tilværelse blant individene i gruppen og samtidig en kamp for tilværelsen mellom ulike grupper (f. eks, flokk mot flokk)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8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Gruppe seleksjon</a:t>
            </a:r>
            <a:r>
              <a:rPr lang="nb-NO" sz="1800" dirty="0"/>
              <a:t> 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Hvis en gruppe har noen altruistiske medlemmer kan de utkonkurrere grupper som mangler slike medlemmer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7904A62-E888-1F35-DED7-7A59639BA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316" y="0"/>
            <a:ext cx="58213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528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8100" cy="1325563"/>
          </a:xfrm>
        </p:spPr>
        <p:txBody>
          <a:bodyPr/>
          <a:lstStyle/>
          <a:p>
            <a:r>
              <a:rPr lang="nb-NO" dirty="0"/>
              <a:t>Problemer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332012" cy="5032375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Det er vanskelig å gjøre rede for hvordan grupper reproduserer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Siden naturlig utvalg handler om differensiell reproduksjon, hva skal vi regne som avkommet til en gruppe?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Hva gjør noe til en gruppe?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Kan, f. eks, alle artene rundt et vannhull regnes som en gruppe dyr? Kanskje alle klovdyrene?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Kunne vi ikke da si at det ville vært til gruppens beste at alle klovdyrene gikk sammen om å hanskes med eventuelle rovdyr?</a:t>
            </a:r>
          </a:p>
          <a:p>
            <a:pPr>
              <a:lnSpc>
                <a:spcPct val="100000"/>
              </a:lnSpc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Det er veldig vanskelig å se hvordan ikke egoistiske individer </a:t>
            </a:r>
            <a:r>
              <a:rPr lang="nb-NO" sz="1800" b="1" dirty="0"/>
              <a:t>alltid</a:t>
            </a:r>
            <a:r>
              <a:rPr lang="nb-NO" sz="1800" dirty="0"/>
              <a:t> </a:t>
            </a:r>
            <a:r>
              <a:rPr lang="nb-NO" sz="1800" b="1" dirty="0"/>
              <a:t>vil</a:t>
            </a:r>
            <a:r>
              <a:rPr lang="nb-NO" sz="1800" dirty="0"/>
              <a:t> </a:t>
            </a:r>
            <a:r>
              <a:rPr lang="nb-NO" sz="1800" b="1" dirty="0"/>
              <a:t>vinne</a:t>
            </a:r>
            <a:r>
              <a:rPr lang="nb-NO" sz="1800" dirty="0"/>
              <a:t> i en gruppe som har altruister!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57C5AB2-7E21-626D-DFAC-E1EE01AA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2" r="35465"/>
          <a:stretch/>
        </p:blipFill>
        <p:spPr bwMode="auto">
          <a:xfrm>
            <a:off x="6235702" y="0"/>
            <a:ext cx="595629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356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954486" cy="1325563"/>
          </a:xfrm>
        </p:spPr>
        <p:txBody>
          <a:bodyPr/>
          <a:lstStyle/>
          <a:p>
            <a:r>
              <a:rPr lang="nb-NO" dirty="0"/>
              <a:t>Løsning: Replikatorer og overlevelsesmaskiner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5400" cy="4667250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Vi kan, ifølge </a:t>
            </a:r>
            <a:r>
              <a:rPr lang="nb-NO" sz="1800" dirty="0" err="1"/>
              <a:t>Dawkins</a:t>
            </a:r>
            <a:r>
              <a:rPr lang="nb-NO" sz="1800" dirty="0"/>
              <a:t>, løse altruismeproblemet ved å gjøre et skille mellom </a:t>
            </a:r>
            <a:r>
              <a:rPr lang="nb-NO" sz="1800" b="1" dirty="0"/>
              <a:t>replikatorer </a:t>
            </a:r>
            <a:r>
              <a:rPr lang="nb-NO" sz="1800" dirty="0"/>
              <a:t>og</a:t>
            </a:r>
            <a:r>
              <a:rPr lang="nb-NO" sz="1800" b="1" dirty="0"/>
              <a:t> overlevelsesmaskiner</a:t>
            </a:r>
            <a:endParaRPr lang="nb-NO" sz="1800" dirty="0"/>
          </a:p>
          <a:p>
            <a:pPr marL="0" indent="0">
              <a:lnSpc>
                <a:spcPct val="100000"/>
              </a:lnSpc>
              <a:buNone/>
            </a:pPr>
            <a:endParaRPr lang="nb-NO" sz="1000" b="1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Fortellingen om replikatorene—en spekulasjon om livets opprinnelse</a:t>
            </a:r>
          </a:p>
          <a:p>
            <a:pPr>
              <a:lnSpc>
                <a:spcPct val="100000"/>
              </a:lnSpc>
            </a:pPr>
            <a:endParaRPr lang="nb-NO" sz="1700" dirty="0"/>
          </a:p>
          <a:p>
            <a:pPr>
              <a:lnSpc>
                <a:spcPct val="100000"/>
              </a:lnSpc>
            </a:pPr>
            <a:r>
              <a:rPr lang="nb-NO" sz="1700" dirty="0"/>
              <a:t>I begynnelsen var kun enkelhet, før enkelte stabile samlinger av atomer oppsto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700" dirty="0"/>
          </a:p>
          <a:p>
            <a:pPr>
              <a:lnSpc>
                <a:spcPct val="100000"/>
              </a:lnSpc>
            </a:pPr>
            <a:r>
              <a:rPr lang="nb-NO" sz="1700" dirty="0"/>
              <a:t>Noen av disse stabile samlingene av atomer bandt seg sammen og dannet molekyler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700" dirty="0"/>
          </a:p>
          <a:p>
            <a:pPr>
              <a:lnSpc>
                <a:spcPct val="100000"/>
              </a:lnSpc>
            </a:pPr>
            <a:r>
              <a:rPr lang="nb-NO" sz="1700" dirty="0"/>
              <a:t>Noen av disse molekylene fikk etter hvert egenskapen at de kunne lage kopier av seg selv—de første replikatorene</a:t>
            </a:r>
          </a:p>
        </p:txBody>
      </p:sp>
      <p:pic>
        <p:nvPicPr>
          <p:cNvPr id="4" name="Picture 4" descr="Molecular weight is the total mass of a single molecule.">
            <a:extLst>
              <a:ext uri="{FF2B5EF4-FFF2-40B4-BE49-F238E27FC236}">
                <a16:creationId xmlns:a16="http://schemas.microsoft.com/office/drawing/2014/main" id="{9298DF10-8E52-A0EF-177C-4B6585806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95" r="12609"/>
          <a:stretch/>
        </p:blipFill>
        <p:spPr bwMode="auto">
          <a:xfrm>
            <a:off x="7353527" y="0"/>
            <a:ext cx="483847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044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81914" cy="1325563"/>
          </a:xfrm>
        </p:spPr>
        <p:txBody>
          <a:bodyPr/>
          <a:lstStyle/>
          <a:p>
            <a:r>
              <a:rPr lang="nb-NO" dirty="0"/>
              <a:t>Feil-kopiering og variasjon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04429" cy="493440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Kopieringsprosesser er ikke alltid fullkomne, så noen replikatorer skapte ikke-identiske kopier av seg selv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8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Slike feilkopierte replikatorer fikk etterhvert flere egenskaper som gjorde det mulig for dem å utkonkurrere andre replikatorer</a:t>
            </a:r>
          </a:p>
          <a:p>
            <a:pPr>
              <a:lnSpc>
                <a:spcPct val="100000"/>
              </a:lnSpc>
            </a:pPr>
            <a:endParaRPr lang="nb-NO" sz="1800" b="1" dirty="0"/>
          </a:p>
          <a:p>
            <a:pPr>
              <a:lnSpc>
                <a:spcPct val="100000"/>
              </a:lnSpc>
            </a:pPr>
            <a:r>
              <a:rPr lang="nb-NO" sz="1800" b="1" dirty="0"/>
              <a:t>Lang levetid</a:t>
            </a:r>
            <a:r>
              <a:rPr lang="nb-NO" sz="1800" dirty="0"/>
              <a:t> (jo lengere levetid, desto flere sjanser har man til å lage kopier) </a:t>
            </a:r>
          </a:p>
          <a:p>
            <a:pPr>
              <a:lnSpc>
                <a:spcPct val="100000"/>
              </a:lnSpc>
            </a:pPr>
            <a:r>
              <a:rPr lang="nb-NO" sz="1800" b="1" dirty="0"/>
              <a:t>Fruktbarhet</a:t>
            </a:r>
            <a:r>
              <a:rPr lang="nb-NO" sz="1800" dirty="0"/>
              <a:t> (jo raskere formeringshastighet, desto større antall kopier)</a:t>
            </a:r>
          </a:p>
          <a:p>
            <a:pPr>
              <a:lnSpc>
                <a:spcPct val="100000"/>
              </a:lnSpc>
            </a:pPr>
            <a:r>
              <a:rPr lang="nb-NO" sz="1800" b="1" dirty="0"/>
              <a:t>Nøyaktighet</a:t>
            </a:r>
            <a:r>
              <a:rPr lang="nb-NO" sz="1800" dirty="0"/>
              <a:t> (jo mer fullkommen kopiering, desto lengere kan en slektslinje («</a:t>
            </a:r>
            <a:r>
              <a:rPr lang="nb-NO" sz="1800" dirty="0" err="1"/>
              <a:t>lineage</a:t>
            </a:r>
            <a:r>
              <a:rPr lang="nb-NO" sz="1800" dirty="0"/>
              <a:t>») av replikatorer eksistere)</a:t>
            </a:r>
          </a:p>
        </p:txBody>
      </p:sp>
      <p:pic>
        <p:nvPicPr>
          <p:cNvPr id="10246" name="Picture 6" descr="Universal lessons from a game of Chinese Whispers.">
            <a:extLst>
              <a:ext uri="{FF2B5EF4-FFF2-40B4-BE49-F238E27FC236}">
                <a16:creationId xmlns:a16="http://schemas.microsoft.com/office/drawing/2014/main" id="{35D2F269-E797-6910-F742-D50730CC8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0114" y="-88900"/>
            <a:ext cx="5117530" cy="314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uppe 3" descr="Bilde av kopieringsprosses som legger til detaljer ved hver iterasjon">
            <a:extLst>
              <a:ext uri="{FF2B5EF4-FFF2-40B4-BE49-F238E27FC236}">
                <a16:creationId xmlns:a16="http://schemas.microsoft.com/office/drawing/2014/main" id="{66EDB7C8-AD2E-88D3-AB11-507E34761017}"/>
              </a:ext>
            </a:extLst>
          </p:cNvPr>
          <p:cNvGrpSpPr/>
          <p:nvPr/>
        </p:nvGrpSpPr>
        <p:grpSpPr>
          <a:xfrm>
            <a:off x="7715953" y="3429000"/>
            <a:ext cx="3903395" cy="2622551"/>
            <a:chOff x="7715953" y="3429000"/>
            <a:chExt cx="3903395" cy="2622551"/>
          </a:xfrm>
        </p:grpSpPr>
        <p:pic>
          <p:nvPicPr>
            <p:cNvPr id="3" name="Bilde 2">
              <a:extLst>
                <a:ext uri="{FF2B5EF4-FFF2-40B4-BE49-F238E27FC236}">
                  <a16:creationId xmlns:a16="http://schemas.microsoft.com/office/drawing/2014/main" id="{8A26CE31-6CB0-8A7F-40F4-4466703B3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0719954" y="3429000"/>
              <a:ext cx="899392" cy="899392"/>
            </a:xfrm>
            <a:prstGeom prst="rect">
              <a:avLst/>
            </a:prstGeom>
          </p:spPr>
        </p:pic>
        <p:pic>
          <p:nvPicPr>
            <p:cNvPr id="5" name="Bilde 4">
              <a:extLst>
                <a:ext uri="{FF2B5EF4-FFF2-40B4-BE49-F238E27FC236}">
                  <a16:creationId xmlns:a16="http://schemas.microsoft.com/office/drawing/2014/main" id="{EDB25513-9CB2-89E6-18AA-6EC31D993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15953" y="3429000"/>
              <a:ext cx="899391" cy="857251"/>
            </a:xfrm>
            <a:prstGeom prst="rect">
              <a:avLst/>
            </a:prstGeom>
          </p:spPr>
        </p:pic>
        <p:pic>
          <p:nvPicPr>
            <p:cNvPr id="8" name="Bilde 7">
              <a:extLst>
                <a:ext uri="{FF2B5EF4-FFF2-40B4-BE49-F238E27FC236}">
                  <a16:creationId xmlns:a16="http://schemas.microsoft.com/office/drawing/2014/main" id="{DF1DDD5D-1450-080D-CD74-535884982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27624" y="5152157"/>
              <a:ext cx="899393" cy="899393"/>
            </a:xfrm>
            <a:prstGeom prst="rect">
              <a:avLst/>
            </a:prstGeom>
          </p:spPr>
        </p:pic>
        <p:pic>
          <p:nvPicPr>
            <p:cNvPr id="9" name="Bilde 8">
              <a:extLst>
                <a:ext uri="{FF2B5EF4-FFF2-40B4-BE49-F238E27FC236}">
                  <a16:creationId xmlns:a16="http://schemas.microsoft.com/office/drawing/2014/main" id="{91478713-82EA-8144-94B5-70EA6D180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19954" y="5152157"/>
              <a:ext cx="899394" cy="899394"/>
            </a:xfrm>
            <a:prstGeom prst="rect">
              <a:avLst/>
            </a:prstGeom>
          </p:spPr>
        </p:pic>
        <p:pic>
          <p:nvPicPr>
            <p:cNvPr id="11" name="Bilde 10">
              <a:extLst>
                <a:ext uri="{FF2B5EF4-FFF2-40B4-BE49-F238E27FC236}">
                  <a16:creationId xmlns:a16="http://schemas.microsoft.com/office/drawing/2014/main" id="{6A66122D-E779-DFD0-BE67-7759A9979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28163" y="3639210"/>
              <a:ext cx="478972" cy="478972"/>
            </a:xfrm>
            <a:prstGeom prst="rect">
              <a:avLst/>
            </a:prstGeom>
          </p:spPr>
        </p:pic>
        <p:pic>
          <p:nvPicPr>
            <p:cNvPr id="13" name="Bilde 12">
              <a:extLst>
                <a:ext uri="{FF2B5EF4-FFF2-40B4-BE49-F238E27FC236}">
                  <a16:creationId xmlns:a16="http://schemas.microsoft.com/office/drawing/2014/main" id="{74D09A2F-E71D-9443-22A9-5F042D559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495107" y="5362367"/>
              <a:ext cx="478972" cy="4789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0495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33F047A9-136A-1D56-75B9-5DA4B98E5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1" r="43107"/>
          <a:stretch/>
        </p:blipFill>
        <p:spPr bwMode="auto">
          <a:xfrm>
            <a:off x="6741886" y="1027905"/>
            <a:ext cx="5450114" cy="55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810829" cy="1325563"/>
          </a:xfrm>
        </p:spPr>
        <p:txBody>
          <a:bodyPr/>
          <a:lstStyle/>
          <a:p>
            <a:r>
              <a:rPr lang="en-US" dirty="0" err="1"/>
              <a:t>Kampen</a:t>
            </a:r>
            <a:r>
              <a:rPr lang="en-US" dirty="0"/>
              <a:t> for </a:t>
            </a:r>
            <a:r>
              <a:rPr lang="en-US" dirty="0" err="1"/>
              <a:t>tilværelsen</a:t>
            </a:r>
            <a:endParaRPr lang="en-US" dirty="0"/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128658" cy="4790281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Ved uhemmet vekst vil replikatorene skape kopier inntil den </a:t>
            </a:r>
            <a:r>
              <a:rPr lang="nb-NO" sz="1800" b="1" dirty="0"/>
              <a:t>økologiske</a:t>
            </a:r>
            <a:r>
              <a:rPr lang="nb-NO" sz="1800" dirty="0"/>
              <a:t> </a:t>
            </a:r>
            <a:r>
              <a:rPr lang="nb-NO" sz="1800" b="1" dirty="0"/>
              <a:t>bæreevnen</a:t>
            </a:r>
            <a:r>
              <a:rPr lang="nb-NO" sz="1800" dirty="0"/>
              <a:t> er nådd</a:t>
            </a:r>
            <a:endParaRPr lang="nb-NO" sz="1800" b="1" dirty="0"/>
          </a:p>
          <a:p>
            <a:pPr>
              <a:lnSpc>
                <a:spcPct val="100000"/>
              </a:lnSpc>
            </a:pPr>
            <a:r>
              <a:rPr lang="nb-NO" sz="1600" dirty="0"/>
              <a:t>Å lage kopier krever ressurser, og disse ressursene blir mer og mer knappe når antallet replikatorer øker eksponentielt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En </a:t>
            </a:r>
            <a:r>
              <a:rPr lang="nb-NO" sz="1800" b="1" dirty="0"/>
              <a:t>kamp for tilværelsen</a:t>
            </a:r>
            <a:r>
              <a:rPr lang="nb-NO" sz="1800" dirty="0"/>
              <a:t> mellom replikatorene vil dermed begynne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Ulike strategier for å øke ens egen evne til å lage kopier, og sabotere andres muligheter for kopier blir skapt gjennom feil-kopiering 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Siden feil-kopiering skjer relativt sjeldent vil de egenskapene som er ervervet gjennom bli opprettholdt i slektslinjene til de ulike replikatorene 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Dette muliggjør kumulative endringer—replikatorene vil erverve flere og flere fordelaktige egenskaper</a:t>
            </a:r>
          </a:p>
        </p:txBody>
      </p:sp>
    </p:spTree>
    <p:extLst>
      <p:ext uri="{BB962C8B-B14F-4D97-AF65-F5344CB8AC3E}">
        <p14:creationId xmlns:p14="http://schemas.microsoft.com/office/powerpoint/2010/main" val="32309812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810829" cy="1325563"/>
          </a:xfrm>
        </p:spPr>
        <p:txBody>
          <a:bodyPr/>
          <a:lstStyle/>
          <a:p>
            <a:r>
              <a:rPr lang="nb-NO" dirty="0"/>
              <a:t>Konkurranse og innovasjon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8174641" cy="5032376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I løpet av kampen for tilværelsen skapte noen replikatorer </a:t>
            </a:r>
            <a:r>
              <a:rPr lang="nb-NO" sz="1800" b="1" dirty="0"/>
              <a:t>overlevelsesmaskiner</a:t>
            </a:r>
            <a:r>
              <a:rPr lang="nb-NO" sz="1800" dirty="0"/>
              <a:t> for å huse seg selv</a:t>
            </a:r>
          </a:p>
          <a:p>
            <a:pPr>
              <a:lnSpc>
                <a:spcPct val="100000"/>
              </a:lnSpc>
            </a:pPr>
            <a:endParaRPr lang="nb-NO" sz="1000" dirty="0"/>
          </a:p>
          <a:p>
            <a:pPr>
              <a:lnSpc>
                <a:spcPct val="100000"/>
              </a:lnSpc>
            </a:pPr>
            <a:r>
              <a:rPr lang="nb-NO" sz="1600" dirty="0"/>
              <a:t>Med økende konkurranse for ressurser, ble disse overlevelsesmaskinene mer og mer komplekse og sofistikerte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nb-NO" sz="1000" dirty="0"/>
          </a:p>
          <a:p>
            <a:pPr>
              <a:lnSpc>
                <a:spcPct val="100000"/>
              </a:lnSpc>
            </a:pPr>
            <a:r>
              <a:rPr lang="nb-NO" sz="1600" dirty="0"/>
              <a:t>Noen overlevelsesmaskiner kan ha utviklet evnen til å spise andre overlevelsesmaskiner for å dra nytte av deres ressurser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nb-NO" sz="1000" dirty="0"/>
          </a:p>
          <a:p>
            <a:pPr>
              <a:lnSpc>
                <a:spcPct val="100000"/>
              </a:lnSpc>
            </a:pPr>
            <a:r>
              <a:rPr lang="nb-NO" sz="1600" dirty="0"/>
              <a:t>I respons kan andre overlevelses maskiner ha utviklet bedre beskyttelse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nb-NO" sz="1000" dirty="0"/>
          </a:p>
          <a:p>
            <a:pPr>
              <a:lnSpc>
                <a:spcPct val="100000"/>
              </a:lnSpc>
            </a:pPr>
            <a:r>
              <a:rPr lang="nb-NO" sz="1600" dirty="0"/>
              <a:t>Replikatorenes utvikling av overlevelsesmaskinene er også progressiv og kumulativ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nb-NO" sz="1000" dirty="0"/>
          </a:p>
          <a:p>
            <a:pPr>
              <a:lnSpc>
                <a:spcPct val="100000"/>
              </a:lnSpc>
            </a:pPr>
            <a:r>
              <a:rPr lang="nb-NO" sz="1600" dirty="0"/>
              <a:t>Dette ledet etterhvert til ulike slektslinjer av overlevelsesmaskiner, som i dag utgjør de forskjellige grenene av livets tre</a:t>
            </a:r>
          </a:p>
          <a:p>
            <a:pPr>
              <a:lnSpc>
                <a:spcPct val="100000"/>
              </a:lnSpc>
            </a:pPr>
            <a:endParaRPr lang="nb-NO" sz="1800" dirty="0"/>
          </a:p>
        </p:txBody>
      </p:sp>
      <p:pic>
        <p:nvPicPr>
          <p:cNvPr id="16402" name="Picture 18">
            <a:extLst>
              <a:ext uri="{FF2B5EF4-FFF2-40B4-BE49-F238E27FC236}">
                <a16:creationId xmlns:a16="http://schemas.microsoft.com/office/drawing/2014/main" id="{396131D1-D9F0-5C88-3BD6-D06211AE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5" b="7273"/>
          <a:stretch/>
        </p:blipFill>
        <p:spPr bwMode="auto">
          <a:xfrm>
            <a:off x="9012840" y="0"/>
            <a:ext cx="317916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039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09A81971-0480-ACC3-FC8F-F4A48E7C7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547" y="1027906"/>
            <a:ext cx="4975424" cy="505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574971" cy="1325563"/>
          </a:xfrm>
        </p:spPr>
        <p:txBody>
          <a:bodyPr/>
          <a:lstStyle/>
          <a:p>
            <a:r>
              <a:rPr lang="nb-NO" dirty="0"/>
              <a:t>Fra replikatorer til gener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5400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I dag har alle replikatorene samlet seg i kolonier som samarbeider for å skape overlevelses maskiner som sørger for deres fremtidige eksistens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8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De har har fått navnet </a:t>
            </a:r>
            <a:r>
              <a:rPr lang="nb-NO" sz="1800" b="1" dirty="0"/>
              <a:t>gener </a:t>
            </a:r>
            <a:r>
              <a:rPr lang="nb-NO" sz="1800" dirty="0"/>
              <a:t>og alle levende vesener er deres overlevelsesmaskiner—inkludert mennesket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8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Og målet til genene er selvbevaring gjennom replikasjon, som utgjør hovedgrunnen til at vi eksiterer!</a:t>
            </a:r>
          </a:p>
        </p:txBody>
      </p:sp>
    </p:spTree>
    <p:extLst>
      <p:ext uri="{BB962C8B-B14F-4D97-AF65-F5344CB8AC3E}">
        <p14:creationId xmlns:p14="http://schemas.microsoft.com/office/powerpoint/2010/main" val="4269091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75400" cy="1325563"/>
          </a:xfrm>
        </p:spPr>
        <p:txBody>
          <a:bodyPr/>
          <a:lstStyle/>
          <a:p>
            <a:r>
              <a:rPr lang="nb-NO" dirty="0"/>
              <a:t>Hvordan løser dette altruismeproblemet? 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75400" cy="480377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Hvordan løser skillet mellom replikator og overlevelsesmaskin altruismeproblemet?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Siden vi deler mesteparten av våre gener med nært beslektede individer spiller det ingen rolle om hvilke individer i en gruppe som reproduserer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Så lenge genene blir bevart og videreført til neste generasjon er det helt greit med ikke-reproduserende eller altruistiske individer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Det som ser er ut som altruistisk atferd er, fra </a:t>
            </a:r>
            <a:r>
              <a:rPr lang="nb-NO" sz="1800" b="1" dirty="0"/>
              <a:t>genets</a:t>
            </a:r>
            <a:r>
              <a:rPr lang="nb-NO" sz="1800" dirty="0"/>
              <a:t> </a:t>
            </a:r>
            <a:r>
              <a:rPr lang="nb-NO" sz="1800" b="1" dirty="0"/>
              <a:t>perspektiv</a:t>
            </a:r>
            <a:r>
              <a:rPr lang="nb-NO" sz="1800" dirty="0"/>
              <a:t>, egentlig bare egoistisk—det utgjør en strategi for å sikre sin tilstedeværelse i fremtidige generasjoner 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7778A01B-F4C1-7873-B9FF-C7307AB29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239000" y="5530"/>
            <a:ext cx="4953001" cy="6852470"/>
            <a:chOff x="7239000" y="5530"/>
            <a:chExt cx="4953001" cy="6852470"/>
          </a:xfrm>
        </p:grpSpPr>
        <p:pic>
          <p:nvPicPr>
            <p:cNvPr id="4" name="Picture 4" descr="E Pluribus Unum – San Diego Zoo Wildlife Alliance Stories">
              <a:extLst>
                <a:ext uri="{FF2B5EF4-FFF2-40B4-BE49-F238E27FC236}">
                  <a16:creationId xmlns:a16="http://schemas.microsoft.com/office/drawing/2014/main" id="{522B4B54-C8F0-1380-9A3F-35D01E2C07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" t="30877" r="4543" b="3069"/>
            <a:stretch/>
          </p:blipFill>
          <p:spPr bwMode="auto">
            <a:xfrm>
              <a:off x="7239000" y="3429000"/>
              <a:ext cx="4953000" cy="3429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6" descr="ant colony structure and organization">
              <a:extLst>
                <a:ext uri="{FF2B5EF4-FFF2-40B4-BE49-F238E27FC236}">
                  <a16:creationId xmlns:a16="http://schemas.microsoft.com/office/drawing/2014/main" id="{CEFA3377-BD7A-5A58-69D4-2545B3C082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49" r="22188"/>
            <a:stretch/>
          </p:blipFill>
          <p:spPr bwMode="auto">
            <a:xfrm>
              <a:off x="7239000" y="5530"/>
              <a:ext cx="4953001" cy="3423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00325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Hvordan kan gener være egoistiske?</a:t>
            </a:r>
            <a:endParaRPr lang="en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8B57-364D-C231-2A80-AADC16DF3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21086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Hva mener vi med egoisme? </a:t>
            </a:r>
          </a:p>
          <a:p>
            <a:pPr>
              <a:lnSpc>
                <a:spcPct val="100000"/>
              </a:lnSpc>
            </a:pPr>
            <a:r>
              <a:rPr lang="nb-NO" sz="1800" dirty="0"/>
              <a:t>Må ikke forstås i en psykologisk forstand, gener kan ikke bry seg om noe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8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Det er heller «som om» gener er egoistiske</a:t>
            </a:r>
          </a:p>
          <a:p>
            <a:pPr>
              <a:lnSpc>
                <a:spcPct val="100000"/>
              </a:lnSpc>
            </a:pPr>
            <a:r>
              <a:rPr lang="nb-NO" sz="1800" dirty="0"/>
              <a:t>Et gen er egoistisk ved at det promoterer sin egen overlevelse uten å promotere—eller på bekostning av—overlevelsesmaskinens overlevelse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D0CF224-1C68-219F-467B-1A722B46F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98073" y="1825625"/>
            <a:ext cx="45298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81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9500" cy="1325563"/>
          </a:xfrm>
        </p:spPr>
        <p:txBody>
          <a:bodyPr/>
          <a:lstStyle/>
          <a:p>
            <a:r>
              <a:rPr lang="nb-NO" dirty="0"/>
              <a:t>Altruisme hos mennesket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75400" cy="4855730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Hva med menneskelig altruisme?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Altruistisk atferd i relasjon til nært beslektede gir mening fra genets perspektiv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Siden nært beslektede familiemedlemmer deler mesteparten av sitt genetiske materiale, kan altruistisk atferd forklares med at det er </a:t>
            </a:r>
            <a:r>
              <a:rPr lang="nb-NO" sz="1600" b="1" dirty="0"/>
              <a:t>fordelaktig</a:t>
            </a:r>
            <a:r>
              <a:rPr lang="nb-NO" sz="1600" dirty="0"/>
              <a:t> </a:t>
            </a:r>
            <a:r>
              <a:rPr lang="nb-NO" sz="1600" b="1" dirty="0"/>
              <a:t>for</a:t>
            </a:r>
            <a:r>
              <a:rPr lang="nb-NO" sz="1600" dirty="0"/>
              <a:t> </a:t>
            </a:r>
            <a:r>
              <a:rPr lang="nb-NO" sz="1600" b="1" dirty="0"/>
              <a:t>genene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Det eneste som betyr noe er at i hvert fall en av familiemedlemmene reproduserer</a:t>
            </a:r>
          </a:p>
          <a:p>
            <a:pPr lvl="1">
              <a:lnSpc>
                <a:spcPct val="100000"/>
              </a:lnSpc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Men mennesker oppfører seg altruistisk mot andre som </a:t>
            </a:r>
            <a:r>
              <a:rPr lang="nb-NO" sz="1800" b="1" dirty="0"/>
              <a:t>ikke er nært beslektede</a:t>
            </a:r>
            <a:r>
              <a:rPr lang="nb-NO" sz="1800" dirty="0"/>
              <a:t> i det hele tatt!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Mennesker gir til veldedighet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Mennesker ofrer seg i krig for sin nasjon eller sitt folk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Mennesker velger også å ikke reprodusere for å skåne miljøet</a:t>
            </a:r>
          </a:p>
        </p:txBody>
      </p:sp>
      <p:pic>
        <p:nvPicPr>
          <p:cNvPr id="17410" name="Picture 2" descr="undefined">
            <a:extLst>
              <a:ext uri="{FF2B5EF4-FFF2-40B4-BE49-F238E27FC236}">
                <a16:creationId xmlns:a16="http://schemas.microsoft.com/office/drawing/2014/main" id="{74D633AD-7C47-2275-000A-BEFB5E4BC4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4" r="12792"/>
          <a:stretch/>
        </p:blipFill>
        <p:spPr bwMode="auto">
          <a:xfrm>
            <a:off x="7213601" y="0"/>
            <a:ext cx="4978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6595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9500" cy="1325563"/>
          </a:xfrm>
        </p:spPr>
        <p:txBody>
          <a:bodyPr/>
          <a:lstStyle/>
          <a:p>
            <a:r>
              <a:rPr lang="nb-NO" dirty="0"/>
              <a:t>Hvordan forklare «ikke-genetisk» altruisme?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75400" cy="485573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Hvordan kan </a:t>
            </a:r>
            <a:r>
              <a:rPr lang="nb-NO" sz="1800" dirty="0" err="1"/>
              <a:t>Dawkins</a:t>
            </a:r>
            <a:r>
              <a:rPr lang="nb-NO" sz="1800" dirty="0"/>
              <a:t> forklare altruistisk atferd som ikke er egoistisk på gen-nivå? 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Naturlig utvalg for altruistisk atferd hos mennesket</a:t>
            </a:r>
            <a:endParaRPr lang="nb-NO" sz="1800" dirty="0"/>
          </a:p>
          <a:p>
            <a:pPr>
              <a:lnSpc>
                <a:spcPct val="100000"/>
              </a:lnSpc>
            </a:pPr>
            <a:r>
              <a:rPr lang="nb-NO" sz="1600" dirty="0"/>
              <a:t>Naturlig utvalg trenger </a:t>
            </a:r>
            <a:r>
              <a:rPr lang="nb-NO" sz="1600" b="1" dirty="0"/>
              <a:t>mange </a:t>
            </a:r>
            <a:r>
              <a:rPr lang="nb-NO" sz="1600" dirty="0"/>
              <a:t>generasjoner for å skape endringer egenskapene hos individene i en populasjon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Mennesker har levd i mindre grupper hvor mesteparten av medlemmene var nært beslektet inntil </a:t>
            </a:r>
            <a:r>
              <a:rPr lang="nb-NO" sz="1600" b="1" dirty="0"/>
              <a:t>veldig nylig</a:t>
            </a:r>
            <a:endParaRPr lang="nb-NO" sz="1600" dirty="0"/>
          </a:p>
          <a:p>
            <a:pPr>
              <a:lnSpc>
                <a:spcPct val="100000"/>
              </a:lnSpc>
            </a:pPr>
            <a:r>
              <a:rPr lang="nb-NO" sz="1600" dirty="0"/>
              <a:t>I grupper bestående av nært beslektede medlemmer er altruistisk atferd fordelaktig sett fra genenes perspektiv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Naturlig utvalg har selektert gener som fremmer altruistisk atferd mot andre gruppemedlemmer på </a:t>
            </a:r>
            <a:r>
              <a:rPr lang="nb-NO" sz="1600" b="1" dirty="0"/>
              <a:t>generell basis</a:t>
            </a:r>
            <a:r>
              <a:rPr lang="nb-NO" sz="1600" dirty="0"/>
              <a:t>!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Det har ikke vært behov før </a:t>
            </a:r>
            <a:r>
              <a:rPr lang="nb-NO" sz="1600" b="1" dirty="0"/>
              <a:t>nylig</a:t>
            </a:r>
            <a:r>
              <a:rPr lang="nb-NO" sz="1600" dirty="0"/>
              <a:t> å skille mellom slektninger og ikke-slektninger—sett fra genets perspektiv</a:t>
            </a:r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B2520726-7F72-7C78-6FE0-16105E0EA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8" r="41328"/>
          <a:stretch/>
        </p:blipFill>
        <p:spPr bwMode="auto">
          <a:xfrm>
            <a:off x="7213601" y="0"/>
            <a:ext cx="4978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840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9500" cy="1325563"/>
          </a:xfrm>
        </p:spPr>
        <p:txBody>
          <a:bodyPr/>
          <a:lstStyle/>
          <a:p>
            <a:r>
              <a:rPr lang="nb-NO" dirty="0"/>
              <a:t>Kultur og sivilisasjon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050974" cy="4876511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Etter jordbruksrevolusjonen (9000-11,000 </a:t>
            </a:r>
            <a:r>
              <a:rPr lang="nb-NO" sz="1800" dirty="0" err="1"/>
              <a:t>fvt</a:t>
            </a:r>
            <a:r>
              <a:rPr lang="nb-NO" sz="1800" dirty="0"/>
              <a:t>) begynte mennesker å bo i byer med økende grad av kulturell kompleksitet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b="1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b="1" dirty="0"/>
              <a:t>Naturlig utvalg og kulturell evolusjon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Fordi kulturelle tradisjoner kan endre seg mye raskere enn gener, vil atferd som fremmes av våre gener ikke nødvendigvis stemme overens med atferd som er fremmet av kulturelle bestemmelser 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Genene som fremmer altruistisk atferd på generell basis stemmer ikke overens med at vi lever tett opp til mennesker som vi ikke er i slekt med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Så, naturlig utvalg har ikke hatt nok tid til å selektere for gener som gir oss evnen til å skille mellom familie og venner når det kommer til altruistisk atferd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25AD2A5C-8BB8-E799-2D39-0B7E41896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61" r="18335"/>
          <a:stretch/>
        </p:blipFill>
        <p:spPr bwMode="auto">
          <a:xfrm>
            <a:off x="6997700" y="0"/>
            <a:ext cx="5194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291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767286" cy="1325563"/>
          </a:xfrm>
        </p:spPr>
        <p:txBody>
          <a:bodyPr/>
          <a:lstStyle/>
          <a:p>
            <a:r>
              <a:rPr lang="nn-NO" dirty="0"/>
              <a:t>Dyrerikets evolusjon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644217" cy="493885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Utviklingen av kultur og sivilisasjon ble muliggjort fordi </a:t>
            </a:r>
            <a:r>
              <a:rPr lang="nb-NO" sz="1800" b="1" dirty="0"/>
              <a:t>overlevelsesmaskinene</a:t>
            </a:r>
            <a:r>
              <a:rPr lang="nb-NO" sz="1800" dirty="0"/>
              <a:t> ble i større grad </a:t>
            </a:r>
            <a:r>
              <a:rPr lang="nb-NO" sz="1800" b="1" dirty="0"/>
              <a:t>frigjort</a:t>
            </a:r>
            <a:r>
              <a:rPr lang="nb-NO" sz="1800" dirty="0"/>
              <a:t> fra sine gener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Begynner med evolusjonen av nervesystemet hos bilaterale dyr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Overlevelsesmaskiner med muskler, sanseorganer, og nervesystem med en hjerne var bedre til å overleve på grunn av hva disse innovasjonene muliggjorde: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Evnen til å utføre raske og reversible bevegelser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Evnen til å interagere med og navigere mellom ulike miljøfaktorer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Evnen til å koordinere bevegelser med informasjon fra sansene</a:t>
            </a:r>
          </a:p>
          <a:p>
            <a:pPr>
              <a:lnSpc>
                <a:spcPct val="100000"/>
              </a:lnSpc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Disse evnene er felles hos de aller flest bilaterale dyr!</a:t>
            </a:r>
          </a:p>
        </p:txBody>
      </p:sp>
      <p:pic>
        <p:nvPicPr>
          <p:cNvPr id="13314" name="Picture 2" descr="Bilateria - Wikipedia">
            <a:extLst>
              <a:ext uri="{FF2B5EF4-FFF2-40B4-BE49-F238E27FC236}">
                <a16:creationId xmlns:a16="http://schemas.microsoft.com/office/drawing/2014/main" id="{E26505E2-50D5-D3CD-B715-0DFC67505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16" y="704850"/>
            <a:ext cx="4709583" cy="565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592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59500" cy="1325563"/>
          </a:xfrm>
        </p:spPr>
        <p:txBody>
          <a:bodyPr/>
          <a:lstStyle/>
          <a:p>
            <a:r>
              <a:rPr lang="nb-NO" dirty="0"/>
              <a:t>Fra nervesystem til autonomi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87391" cy="503237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900" dirty="0"/>
              <a:t>Når overlevelsesmaskinene utviklet hjerner </a:t>
            </a:r>
            <a:r>
              <a:rPr lang="nb-NO" sz="1900" b="1" dirty="0"/>
              <a:t>ofret</a:t>
            </a:r>
            <a:r>
              <a:rPr lang="nb-NO" sz="1900" dirty="0"/>
              <a:t> genene </a:t>
            </a:r>
            <a:r>
              <a:rPr lang="nb-NO" sz="1900" b="1" dirty="0"/>
              <a:t>dirkete kontroll 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Genene fungerer som et slags “program” som bestemmer hvordan overlevelsesmaskinen skal bygges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Men dette programmet er allerede på plass når overlevelsesmaskinen er ferdig bygget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Hvis genene skal yte </a:t>
            </a:r>
            <a:r>
              <a:rPr lang="nb-NO" sz="1600" b="1" dirty="0"/>
              <a:t>direkte kontroll </a:t>
            </a:r>
            <a:r>
              <a:rPr lang="nb-NO" sz="1600" dirty="0"/>
              <a:t>over</a:t>
            </a:r>
            <a:r>
              <a:rPr lang="nb-NO" sz="1600" b="1" dirty="0"/>
              <a:t> </a:t>
            </a:r>
            <a:r>
              <a:rPr lang="nb-NO" sz="1600" dirty="0"/>
              <a:t>overlevelsesmaskinen, må genene kunne forutsi alle mulige scenarioer og forutbestemme passende reaksjoner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Hvis miljøet er uforutsigbart er det ekstremt vanskelig å forutse slike scenarioer 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En bedre strategi er at genene setter generelle regler for overlevelsesmaskinen (”søk behagelig ting”, ”unngå smertefulle ting”)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Ved hjelp av slike regler, samt hjernen og sanseorganene, utviklet noen overlevelsesmaskiner evnen til å lære ved prøving og feiling</a:t>
            </a:r>
          </a:p>
        </p:txBody>
      </p:sp>
      <p:pic>
        <p:nvPicPr>
          <p:cNvPr id="18434" name="Picture 2" descr="undefined">
            <a:extLst>
              <a:ext uri="{FF2B5EF4-FFF2-40B4-BE49-F238E27FC236}">
                <a16:creationId xmlns:a16="http://schemas.microsoft.com/office/drawing/2014/main" id="{2D4D1557-A10D-DA54-A06A-CE2E590FA6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18"/>
          <a:stretch/>
        </p:blipFill>
        <p:spPr bwMode="auto">
          <a:xfrm>
            <a:off x="7523018" y="0"/>
            <a:ext cx="46744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341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8100" cy="1325563"/>
          </a:xfrm>
        </p:spPr>
        <p:txBody>
          <a:bodyPr/>
          <a:lstStyle/>
          <a:p>
            <a:r>
              <a:rPr lang="nb-NO" dirty="0"/>
              <a:t>Fra læring til simulering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97236" cy="503237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Med evnen til å lære gjennom prøving og feiling, ble overlevelsesmaskinene i enda større grad frigjort fra deres gener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Læring ved prøving og feiling er imidlertid ikke uten ulemper og risiko: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Læring ved prøving og feiling tar tid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Det kan innebære stor risiko—noen situasjoner kan ha fatale konsekvenser hvis man feiler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Ulike gener kan skape risikovillige og </a:t>
            </a:r>
            <a:r>
              <a:rPr lang="nb-NO" sz="1600" dirty="0" err="1"/>
              <a:t>risikoaverse</a:t>
            </a:r>
            <a:r>
              <a:rPr lang="nb-NO" sz="1600" dirty="0"/>
              <a:t> overlevelsesmaskiner</a:t>
            </a:r>
          </a:p>
          <a:p>
            <a:pPr>
              <a:lnSpc>
                <a:spcPct val="100000"/>
              </a:lnSpc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Men noen overlevelsesmaskiner utviklet en ny form for læring—nemlig evnen til å lære ved å </a:t>
            </a:r>
            <a:r>
              <a:rPr lang="nb-NO" sz="1800" b="1" dirty="0"/>
              <a:t>simulere</a:t>
            </a:r>
            <a:r>
              <a:rPr lang="nb-NO" sz="1800" dirty="0"/>
              <a:t> </a:t>
            </a:r>
            <a:r>
              <a:rPr lang="nb-NO" sz="1800" b="1" dirty="0"/>
              <a:t>situasjoner</a:t>
            </a:r>
          </a:p>
          <a:p>
            <a:pPr marL="0" indent="0">
              <a:lnSpc>
                <a:spcPct val="100000"/>
              </a:lnSpc>
              <a:buNone/>
            </a:pPr>
            <a:endParaRPr lang="nb-NO" sz="2000" dirty="0"/>
          </a:p>
        </p:txBody>
      </p:sp>
      <p:pic>
        <p:nvPicPr>
          <p:cNvPr id="24578" name="Picture 2" descr="What animal social learning can teach evolutionary biology – Extended  Evolutionary Synthesis">
            <a:extLst>
              <a:ext uri="{FF2B5EF4-FFF2-40B4-BE49-F238E27FC236}">
                <a16:creationId xmlns:a16="http://schemas.microsoft.com/office/drawing/2014/main" id="{62B05AF8-DB02-786E-EB46-9076668B9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4" r="11884"/>
          <a:stretch/>
        </p:blipFill>
        <p:spPr bwMode="auto">
          <a:xfrm>
            <a:off x="6435436" y="0"/>
            <a:ext cx="57565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8888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812448" cy="1325563"/>
          </a:xfrm>
        </p:spPr>
        <p:txBody>
          <a:bodyPr/>
          <a:lstStyle/>
          <a:p>
            <a:r>
              <a:rPr lang="nb-NO" dirty="0"/>
              <a:t>Fra simulering til bevissthet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736773" cy="503237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Ved å simulere ulike scenarioer kan overlevelsesmaskiner forbedre sine evner til å forutse konsekvensene av handlinger uten ulempene og risikoene assosiert med læring ved prøving og feiling</a:t>
            </a:r>
          </a:p>
          <a:p>
            <a:pPr>
              <a:lnSpc>
                <a:spcPct val="100000"/>
              </a:lnSpc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Dette gjør de ved å forstille seg 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Den relevante situasjonen de står opp mot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Mulige alternative handlinger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Og konsekvensene av disse handlingene 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Evnen til å simulere er muligens hva som etterhvert gav opphav til </a:t>
            </a:r>
            <a:r>
              <a:rPr lang="nb-NO" sz="1800" b="1" dirty="0"/>
              <a:t>subjektiv bevissthet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Hypotese: Subjektiv bevissthet oppsto når simuleringene begynte å inkludere en modell av overlevelsesmaskinen selv</a:t>
            </a:r>
          </a:p>
        </p:txBody>
      </p:sp>
      <p:pic>
        <p:nvPicPr>
          <p:cNvPr id="25602" name="Picture 2" descr="Direct Realism">
            <a:extLst>
              <a:ext uri="{FF2B5EF4-FFF2-40B4-BE49-F238E27FC236}">
                <a16:creationId xmlns:a16="http://schemas.microsoft.com/office/drawing/2014/main" id="{61768CA4-09E0-3FF9-87A8-B2D52A1D9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647" y="4632109"/>
            <a:ext cx="4541354" cy="1898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 descr="Still from The Matrix film">
            <a:extLst>
              <a:ext uri="{FF2B5EF4-FFF2-40B4-BE49-F238E27FC236}">
                <a16:creationId xmlns:a16="http://schemas.microsoft.com/office/drawing/2014/main" id="{03203D7C-6EF9-F5C6-11EB-9D3838FB2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647" y="0"/>
            <a:ext cx="4485110" cy="412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2830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69282" cy="1325563"/>
          </a:xfrm>
        </p:spPr>
        <p:txBody>
          <a:bodyPr/>
          <a:lstStyle/>
          <a:p>
            <a:r>
              <a:rPr lang="nb-NO" dirty="0"/>
              <a:t>Mennesket som en overlevelsesmaskin 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C9297F60-04A3-1F29-9E81-3A7F78C0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7277101" cy="481647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I hvilken grad kan vi si at vi er en overlevelsesmaskin for våre gener på lik linje med alle andre levende vesener?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En måte å se det på—genene legger de </a:t>
            </a:r>
            <a:r>
              <a:rPr lang="nb-NO" sz="1800" b="1" dirty="0"/>
              <a:t>generelle føringene</a:t>
            </a:r>
            <a:r>
              <a:rPr lang="nb-NO" sz="1800" dirty="0"/>
              <a:t>, mens overlevelsesmaskinen den utøvende beslutningstakeren</a:t>
            </a:r>
          </a:p>
          <a:p>
            <a:pPr marL="0" indent="0">
              <a:lnSpc>
                <a:spcPct val="100000"/>
              </a:lnSpc>
              <a:buNone/>
            </a:pPr>
            <a:endParaRPr lang="nb-NO" sz="1000" b="1" dirty="0"/>
          </a:p>
          <a:p>
            <a:pPr marL="0" indent="0">
              <a:lnSpc>
                <a:spcPct val="100000"/>
              </a:lnSpc>
              <a:buNone/>
            </a:pPr>
            <a:r>
              <a:rPr lang="nb-NO" sz="1800" dirty="0"/>
              <a:t>Mennesket er en svært komplisert og høyt utviklet overlevelsesmaskin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Det gjør det mulig for mennesket å opptre </a:t>
            </a:r>
            <a:r>
              <a:rPr lang="nb-NO" sz="1600" b="1" dirty="0"/>
              <a:t>både</a:t>
            </a:r>
            <a:r>
              <a:rPr lang="nb-NO" sz="1600" dirty="0"/>
              <a:t> som </a:t>
            </a:r>
            <a:r>
              <a:rPr lang="nb-NO" sz="1600" b="1" dirty="0"/>
              <a:t>utøvende</a:t>
            </a:r>
            <a:r>
              <a:rPr lang="nb-NO" sz="1600" dirty="0"/>
              <a:t> </a:t>
            </a:r>
            <a:r>
              <a:rPr lang="nb-NO" sz="1600" b="1" dirty="0"/>
              <a:t>beslutningstaker</a:t>
            </a:r>
            <a:r>
              <a:rPr lang="nb-NO" sz="1600" dirty="0"/>
              <a:t>, men også </a:t>
            </a:r>
            <a:r>
              <a:rPr lang="nb-NO" sz="1600" b="1" dirty="0"/>
              <a:t>yte</a:t>
            </a:r>
            <a:r>
              <a:rPr lang="nb-NO" sz="1600" dirty="0"/>
              <a:t> </a:t>
            </a:r>
            <a:r>
              <a:rPr lang="nb-NO" sz="1600" b="1" dirty="0"/>
              <a:t>en</a:t>
            </a:r>
            <a:r>
              <a:rPr lang="nb-NO" sz="1600" dirty="0"/>
              <a:t> </a:t>
            </a:r>
            <a:r>
              <a:rPr lang="nb-NO" sz="1600" b="1" dirty="0"/>
              <a:t>innflytelse</a:t>
            </a:r>
            <a:r>
              <a:rPr lang="nb-NO" sz="1600" dirty="0"/>
              <a:t> på de </a:t>
            </a:r>
            <a:r>
              <a:rPr lang="nb-NO" sz="1600" b="1" dirty="0"/>
              <a:t>generelle</a:t>
            </a:r>
            <a:r>
              <a:rPr lang="nb-NO" sz="1600" dirty="0"/>
              <a:t> </a:t>
            </a:r>
            <a:r>
              <a:rPr lang="nb-NO" sz="1600" b="1" dirty="0"/>
              <a:t>føringene</a:t>
            </a:r>
            <a:r>
              <a:rPr lang="nb-NO" sz="1600" dirty="0"/>
              <a:t>—selv om den innflytelse går mot genenes føringer</a:t>
            </a:r>
          </a:p>
          <a:p>
            <a:pPr>
              <a:lnSpc>
                <a:spcPct val="100000"/>
              </a:lnSpc>
            </a:pPr>
            <a:r>
              <a:rPr lang="nb-NO" sz="1600" dirty="0"/>
              <a:t>F. eks, Å velge og ikke få barn eller altruistisk atferd overfor mennesker man ikke er i slekt med</a:t>
            </a:r>
          </a:p>
          <a:p>
            <a:pPr marL="0" indent="0">
              <a:lnSpc>
                <a:spcPct val="100000"/>
              </a:lnSpc>
              <a:buNone/>
            </a:pPr>
            <a:endParaRPr lang="nb-NO" sz="2000" dirty="0"/>
          </a:p>
        </p:txBody>
      </p:sp>
      <p:pic>
        <p:nvPicPr>
          <p:cNvPr id="26626" name="Picture 2" descr="Can Genetics Explain Human Behavior? | The Scientist Magazine®">
            <a:extLst>
              <a:ext uri="{FF2B5EF4-FFF2-40B4-BE49-F238E27FC236}">
                <a16:creationId xmlns:a16="http://schemas.microsoft.com/office/drawing/2014/main" id="{8E7C14C2-7709-94BB-AB3D-A400B0224C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" r="56320"/>
          <a:stretch/>
        </p:blipFill>
        <p:spPr bwMode="auto">
          <a:xfrm>
            <a:off x="8212281" y="0"/>
            <a:ext cx="397971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0675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Tilbake til de store spørsmålene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AA948E-319C-B803-342B-EE72DC9D90E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 anchor="ctr"/>
          <a:lstStyle/>
          <a:p>
            <a:pPr marL="0" indent="0">
              <a:buNone/>
            </a:pPr>
            <a:r>
              <a:rPr lang="nb-NO" dirty="0">
                <a:ea typeface="Source Sans Pro" panose="020B0503030403020204" pitchFamily="34" charset="0"/>
              </a:rPr>
              <a:t>Hvor kommer vi fra?</a:t>
            </a:r>
          </a:p>
          <a:p>
            <a:r>
              <a:rPr lang="nb-NO" sz="2000" dirty="0">
                <a:ea typeface="Source Sans Pro" panose="020B0503030403020204" pitchFamily="34" charset="0"/>
              </a:rPr>
              <a:t>Vi er etterkommerne av overlevelsesmaskiner skapt av en koloni gener for å sikre sin fremtidige eksistens gjennom replikasjon</a:t>
            </a:r>
          </a:p>
          <a:p>
            <a:pPr marL="0" indent="0">
              <a:buNone/>
            </a:pPr>
            <a:endParaRPr lang="nb-NO" sz="2000" dirty="0"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nb-NO" dirty="0">
                <a:ea typeface="Source Sans Pro" panose="020B0503030403020204" pitchFamily="34" charset="0"/>
              </a:rPr>
              <a:t>Hva er mennesket? </a:t>
            </a:r>
          </a:p>
          <a:p>
            <a:r>
              <a:rPr lang="nb-NO" sz="2000" dirty="0">
                <a:ea typeface="Source Sans Pro" panose="020B0503030403020204" pitchFamily="34" charset="0"/>
              </a:rPr>
              <a:t>En komplisert og sofistikert overlevelsesmaskin for våre gener</a:t>
            </a:r>
          </a:p>
          <a:p>
            <a:endParaRPr lang="nb-NO" sz="2000" dirty="0"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nb-NO" dirty="0">
                <a:ea typeface="Source Sans Pro" panose="020B0503030403020204" pitchFamily="34" charset="0"/>
              </a:rPr>
              <a:t>Hva er meningen med livet?</a:t>
            </a:r>
          </a:p>
          <a:p>
            <a:r>
              <a:rPr lang="nb-NO" sz="2000" dirty="0">
                <a:ea typeface="Source Sans Pro" panose="020B0503030403020204" pitchFamily="34" charset="0"/>
              </a:rPr>
              <a:t>Sikre genene våres fremtidige eksistens ved å reprodusere</a:t>
            </a:r>
          </a:p>
        </p:txBody>
      </p:sp>
    </p:spTree>
    <p:extLst>
      <p:ext uri="{BB962C8B-B14F-4D97-AF65-F5344CB8AC3E}">
        <p14:creationId xmlns:p14="http://schemas.microsoft.com/office/powerpoint/2010/main" val="29585668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1B261-FB71-341E-EA76-F840B86B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Er vi noe mer enn overlevelsesmaskiner?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AA948E-319C-B803-342B-EE72DC9D90E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 anchor="ctr"/>
          <a:lstStyle/>
          <a:p>
            <a:pPr marL="0" indent="0">
              <a:buNone/>
            </a:pPr>
            <a:endParaRPr lang="nb-NO" sz="2000" dirty="0"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nb-NO" sz="2000" dirty="0">
                <a:ea typeface="Source Sans Pro" panose="020B0503030403020204" pitchFamily="34" charset="0"/>
              </a:rPr>
              <a:t>Siden naturlig utvalg har selektert </a:t>
            </a:r>
            <a:r>
              <a:rPr lang="nb-NO" sz="2000" dirty="0" err="1">
                <a:ea typeface="Source Sans Pro" panose="020B0503030403020204" pitchFamily="34" charset="0"/>
              </a:rPr>
              <a:t>genkolonier</a:t>
            </a:r>
            <a:r>
              <a:rPr lang="nb-NO" sz="2000" dirty="0">
                <a:ea typeface="Source Sans Pro" panose="020B0503030403020204" pitchFamily="34" charset="0"/>
              </a:rPr>
              <a:t> som har utviklet relativt autonome overlevelses maskiner, virker det som slike overlevelsesmaskiner kan ha interesser som går utover genenes interesser</a:t>
            </a:r>
          </a:p>
          <a:p>
            <a:pPr marL="0" indent="0">
              <a:buNone/>
            </a:pPr>
            <a:endParaRPr lang="nb-NO" sz="2000" dirty="0"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nb-NO" sz="2000" dirty="0">
                <a:ea typeface="Source Sans Pro" panose="020B0503030403020204" pitchFamily="34" charset="0"/>
              </a:rPr>
              <a:t>Det virker naturlig å tenke at mange dyr har interesser som ikke dirkete bidrar til genenes videreføring</a:t>
            </a:r>
          </a:p>
          <a:p>
            <a:pPr marL="0" indent="0">
              <a:buNone/>
            </a:pPr>
            <a:endParaRPr lang="nb-NO" sz="2000" dirty="0"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nb-NO" sz="2000" dirty="0">
                <a:ea typeface="Source Sans Pro" panose="020B0503030403020204" pitchFamily="34" charset="0"/>
              </a:rPr>
              <a:t>Dette er enda tydeligere hos mennesket, som har evnen til å </a:t>
            </a:r>
            <a:r>
              <a:rPr lang="nb-NO" sz="2000" b="1" dirty="0">
                <a:ea typeface="Source Sans Pro" panose="020B0503030403020204" pitchFamily="34" charset="0"/>
              </a:rPr>
              <a:t>aktivt</a:t>
            </a:r>
            <a:r>
              <a:rPr lang="nb-NO" sz="2000" dirty="0">
                <a:ea typeface="Source Sans Pro" panose="020B0503030403020204" pitchFamily="34" charset="0"/>
              </a:rPr>
              <a:t> </a:t>
            </a:r>
            <a:r>
              <a:rPr lang="nb-NO" sz="2000" b="1" dirty="0">
                <a:ea typeface="Source Sans Pro" panose="020B0503030403020204" pitchFamily="34" charset="0"/>
              </a:rPr>
              <a:t>handle</a:t>
            </a:r>
            <a:r>
              <a:rPr lang="nb-NO" sz="2000" dirty="0">
                <a:ea typeface="Source Sans Pro" panose="020B0503030403020204" pitchFamily="34" charset="0"/>
              </a:rPr>
              <a:t> </a:t>
            </a:r>
            <a:r>
              <a:rPr lang="nb-NO" sz="2000" b="1" dirty="0">
                <a:ea typeface="Source Sans Pro" panose="020B0503030403020204" pitchFamily="34" charset="0"/>
              </a:rPr>
              <a:t>i mot</a:t>
            </a:r>
            <a:r>
              <a:rPr lang="nb-NO" sz="2000" dirty="0">
                <a:ea typeface="Source Sans Pro" panose="020B0503030403020204" pitchFamily="34" charset="0"/>
              </a:rPr>
              <a:t> </a:t>
            </a:r>
            <a:r>
              <a:rPr lang="nb-NO" sz="2000" b="1" dirty="0">
                <a:ea typeface="Source Sans Pro" panose="020B0503030403020204" pitchFamily="34" charset="0"/>
              </a:rPr>
              <a:t>sine</a:t>
            </a:r>
            <a:r>
              <a:rPr lang="nb-NO" sz="2000" dirty="0">
                <a:ea typeface="Source Sans Pro" panose="020B0503030403020204" pitchFamily="34" charset="0"/>
              </a:rPr>
              <a:t> </a:t>
            </a:r>
            <a:r>
              <a:rPr lang="nb-NO" sz="2000" b="1" dirty="0">
                <a:ea typeface="Source Sans Pro" panose="020B0503030403020204" pitchFamily="34" charset="0"/>
              </a:rPr>
              <a:t>geners</a:t>
            </a:r>
            <a:r>
              <a:rPr lang="nb-NO" sz="2000" dirty="0">
                <a:ea typeface="Source Sans Pro" panose="020B0503030403020204" pitchFamily="34" charset="0"/>
              </a:rPr>
              <a:t> </a:t>
            </a:r>
            <a:r>
              <a:rPr lang="nb-NO" sz="2000" b="1" dirty="0">
                <a:ea typeface="Source Sans Pro" panose="020B0503030403020204" pitchFamily="34" charset="0"/>
              </a:rPr>
              <a:t>interesser</a:t>
            </a:r>
          </a:p>
        </p:txBody>
      </p:sp>
    </p:spTree>
    <p:extLst>
      <p:ext uri="{BB962C8B-B14F-4D97-AF65-F5344CB8AC3E}">
        <p14:creationId xmlns:p14="http://schemas.microsoft.com/office/powerpoint/2010/main" val="15002477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ilde av menneskets evolusjon">
            <a:extLst>
              <a:ext uri="{FF2B5EF4-FFF2-40B4-BE49-F238E27FC236}">
                <a16:creationId xmlns:a16="http://schemas.microsoft.com/office/drawing/2014/main" id="{B777ACFF-B9FA-33EC-52AC-A2F85897E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809" t="3983"/>
          <a:stretch/>
        </p:blipFill>
        <p:spPr>
          <a:xfrm>
            <a:off x="1042383" y="1346200"/>
            <a:ext cx="10107234" cy="456223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61D4CC5-2A6F-EAFB-FF60-1186274AF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Takk for oppmerksomheten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244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25974</TotalTime>
  <Words>3175</Words>
  <Application>Microsoft Macintosh PowerPoint</Application>
  <PresentationFormat>Widescreen</PresentationFormat>
  <Paragraphs>411</Paragraphs>
  <Slides>47</Slides>
  <Notes>36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47</vt:i4>
      </vt:variant>
    </vt:vector>
  </HeadingPairs>
  <TitlesOfParts>
    <vt:vector size="52" baseType="lpstr">
      <vt:lpstr>Arial</vt:lpstr>
      <vt:lpstr>Calibri</vt:lpstr>
      <vt:lpstr>Helvetica</vt:lpstr>
      <vt:lpstr>Source Sans Pro</vt:lpstr>
      <vt:lpstr>Office Theme</vt:lpstr>
      <vt:lpstr>Evolusjonsteorien og menneskets plass i naturen</vt:lpstr>
      <vt:lpstr>Dagens forelesning</vt:lpstr>
      <vt:lpstr>De store spørsmålene</vt:lpstr>
      <vt:lpstr>Hva er mennesket?</vt:lpstr>
      <vt:lpstr>Darwin og evolusjon gjennom naturlig utvalg</vt:lpstr>
      <vt:lpstr>To «åpenbare» observasjoner</vt:lpstr>
      <vt:lpstr>Migrasjon fra Lilleasia til Kypros</vt:lpstr>
      <vt:lpstr>Den økologiske bæreevnen er nådd</vt:lpstr>
      <vt:lpstr>Kampen for tilværelsen begynner</vt:lpstr>
      <vt:lpstr>Direksjonelt utvalg: Kroppsstørrelse</vt:lpstr>
      <vt:lpstr>Direksjonelt utvalg: Kroppsstørrelse (ii)</vt:lpstr>
      <vt:lpstr>Mindre kroppsstørrelse vinner kampen for tilværelsen</vt:lpstr>
      <vt:lpstr>Tre betingelser for naturlig utvalg</vt:lpstr>
      <vt:lpstr>Hvorfor trenger vi variasjon?</vt:lpstr>
      <vt:lpstr>Hvorfor trenger vi fitness-forskjeller?</vt:lpstr>
      <vt:lpstr>Hvorfor trenger vi arvelighet?</vt:lpstr>
      <vt:lpstr>Hva disse betingelsene ikke spesifiserer</vt:lpstr>
      <vt:lpstr>Gen-begrepet</vt:lpstr>
      <vt:lpstr>Standardversjonen av evolusjonsteoriene</vt:lpstr>
      <vt:lpstr>Dawkins’ gensentrerte syn</vt:lpstr>
      <vt:lpstr>Genseleksjonisme</vt:lpstr>
      <vt:lpstr>Kun en disse kampene teller!</vt:lpstr>
      <vt:lpstr>Hvorfor ta genets perspektiv?</vt:lpstr>
      <vt:lpstr>Eusosialitet  </vt:lpstr>
      <vt:lpstr>Seksuell kannibalisme</vt:lpstr>
      <vt:lpstr>Biologisk altruisme</vt:lpstr>
      <vt:lpstr>Problemet med altruisme</vt:lpstr>
      <vt:lpstr>For gruppens beste</vt:lpstr>
      <vt:lpstr>Problemer</vt:lpstr>
      <vt:lpstr>Løsning: Replikatorer og overlevelsesmaskiner</vt:lpstr>
      <vt:lpstr>Feil-kopiering og variasjon</vt:lpstr>
      <vt:lpstr>Kampen for tilværelsen</vt:lpstr>
      <vt:lpstr>Konkurranse og innovasjon</vt:lpstr>
      <vt:lpstr>Fra replikatorer til gener</vt:lpstr>
      <vt:lpstr>Hvordan løser dette altruismeproblemet? </vt:lpstr>
      <vt:lpstr>Hvordan kan gener være egoistiske?</vt:lpstr>
      <vt:lpstr>Altruisme hos mennesket</vt:lpstr>
      <vt:lpstr>Hvordan forklare «ikke-genetisk» altruisme?</vt:lpstr>
      <vt:lpstr>Kultur og sivilisasjon</vt:lpstr>
      <vt:lpstr>Dyrerikets evolusjon</vt:lpstr>
      <vt:lpstr>Fra nervesystem til autonomi</vt:lpstr>
      <vt:lpstr>Fra læring til simulering</vt:lpstr>
      <vt:lpstr>Fra simulering til bevissthet</vt:lpstr>
      <vt:lpstr>Mennesket som en overlevelsesmaskin </vt:lpstr>
      <vt:lpstr>Tilbake til de store spørsmålene</vt:lpstr>
      <vt:lpstr>Er vi noe mer enn overlevelsesmaskiner?</vt:lpstr>
      <vt:lpstr>Takk for oppmerksomheten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Evolusjonteori og menneskets plass i naturen</dc:title>
  <dc:creator>Bendik Hellem Aaby</dc:creator>
  <cp:lastModifiedBy>Bendik Hellem Aaby</cp:lastModifiedBy>
  <cp:revision>49</cp:revision>
  <dcterms:created xsi:type="dcterms:W3CDTF">2022-10-13T11:43:50Z</dcterms:created>
  <dcterms:modified xsi:type="dcterms:W3CDTF">2024-09-23T13:16:19Z</dcterms:modified>
</cp:coreProperties>
</file>