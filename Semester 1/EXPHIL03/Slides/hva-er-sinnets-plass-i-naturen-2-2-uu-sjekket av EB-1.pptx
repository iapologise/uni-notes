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97" r:id="rId3"/>
    <p:sldId id="300" r:id="rId4"/>
    <p:sldId id="373" r:id="rId5"/>
    <p:sldId id="372" r:id="rId6"/>
    <p:sldId id="320" r:id="rId7"/>
    <p:sldId id="332" r:id="rId8"/>
    <p:sldId id="392" r:id="rId9"/>
    <p:sldId id="393" r:id="rId10"/>
    <p:sldId id="404" r:id="rId11"/>
    <p:sldId id="368" r:id="rId12"/>
    <p:sldId id="321" r:id="rId13"/>
    <p:sldId id="408" r:id="rId14"/>
    <p:sldId id="329" r:id="rId15"/>
    <p:sldId id="330" r:id="rId16"/>
    <p:sldId id="370" r:id="rId17"/>
    <p:sldId id="406" r:id="rId18"/>
    <p:sldId id="407" r:id="rId19"/>
    <p:sldId id="327" r:id="rId20"/>
    <p:sldId id="331" r:id="rId21"/>
    <p:sldId id="365" r:id="rId22"/>
    <p:sldId id="307" r:id="rId23"/>
    <p:sldId id="382" r:id="rId24"/>
    <p:sldId id="333" r:id="rId25"/>
    <p:sldId id="375" r:id="rId26"/>
    <p:sldId id="384" r:id="rId27"/>
    <p:sldId id="334" r:id="rId28"/>
    <p:sldId id="377" r:id="rId29"/>
    <p:sldId id="380" r:id="rId30"/>
    <p:sldId id="354" r:id="rId31"/>
    <p:sldId id="308" r:id="rId32"/>
    <p:sldId id="383" r:id="rId33"/>
    <p:sldId id="379" r:id="rId34"/>
    <p:sldId id="396" r:id="rId35"/>
    <p:sldId id="366" r:id="rId36"/>
    <p:sldId id="339" r:id="rId37"/>
    <p:sldId id="359" r:id="rId38"/>
    <p:sldId id="342" r:id="rId39"/>
    <p:sldId id="341" r:id="rId40"/>
    <p:sldId id="340" r:id="rId41"/>
    <p:sldId id="355" r:id="rId42"/>
    <p:sldId id="343" r:id="rId43"/>
    <p:sldId id="369" r:id="rId44"/>
    <p:sldId id="395" r:id="rId45"/>
    <p:sldId id="398" r:id="rId46"/>
    <p:sldId id="401" r:id="rId47"/>
    <p:sldId id="402" r:id="rId48"/>
    <p:sldId id="367" r:id="rId49"/>
    <p:sldId id="360" r:id="rId50"/>
    <p:sldId id="348" r:id="rId51"/>
    <p:sldId id="385" r:id="rId52"/>
    <p:sldId id="364" r:id="rId53"/>
    <p:sldId id="386" r:id="rId54"/>
    <p:sldId id="361" r:id="rId55"/>
    <p:sldId id="350" r:id="rId56"/>
    <p:sldId id="389" r:id="rId57"/>
    <p:sldId id="387" r:id="rId58"/>
    <p:sldId id="388" r:id="rId59"/>
    <p:sldId id="362" r:id="rId60"/>
    <p:sldId id="351" r:id="rId61"/>
    <p:sldId id="363" r:id="rId62"/>
    <p:sldId id="352" r:id="rId63"/>
    <p:sldId id="390" r:id="rId64"/>
    <p:sldId id="353" r:id="rId65"/>
    <p:sldId id="399" r:id="rId66"/>
    <p:sldId id="400" r:id="rId67"/>
    <p:sldId id="391" r:id="rId68"/>
    <p:sldId id="262" r:id="rId69"/>
    <p:sldId id="312" r:id="rId70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7" autoAdjust="0"/>
    <p:restoredTop sz="86420" autoAdjust="0"/>
  </p:normalViewPr>
  <p:slideViewPr>
    <p:cSldViewPr snapToGrid="0" snapToObjects="1">
      <p:cViewPr varScale="1">
        <p:scale>
          <a:sx n="81" d="100"/>
          <a:sy n="81" d="100"/>
        </p:scale>
        <p:origin x="126" y="786"/>
      </p:cViewPr>
      <p:guideLst/>
    </p:cSldViewPr>
  </p:slideViewPr>
  <p:outlineViewPr>
    <p:cViewPr>
      <p:scale>
        <a:sx n="33" d="100"/>
        <a:sy n="33" d="100"/>
      </p:scale>
      <p:origin x="0" y="-17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FA2C2-BF2F-40C9-BA9D-C61847182CA7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1760690-904E-4D4E-A3E8-C87198BFE850}">
      <dgm:prSet/>
      <dgm:spPr/>
      <dgm:t>
        <a:bodyPr/>
        <a:lstStyle/>
        <a:p>
          <a:r>
            <a:rPr lang="nb-NO"/>
            <a:t>Substans: </a:t>
          </a:r>
          <a:endParaRPr lang="en-US"/>
        </a:p>
      </dgm:t>
    </dgm:pt>
    <dgm:pt modelId="{8695A381-83C5-44DE-91CD-A42B881711C4}" type="parTrans" cxnId="{D1625FCB-319D-42D3-BABA-8D285A2DA800}">
      <dgm:prSet/>
      <dgm:spPr/>
      <dgm:t>
        <a:bodyPr/>
        <a:lstStyle/>
        <a:p>
          <a:endParaRPr lang="en-US"/>
        </a:p>
      </dgm:t>
    </dgm:pt>
    <dgm:pt modelId="{46DF9229-7D27-4389-87D8-FD944E0433D1}" type="sibTrans" cxnId="{D1625FCB-319D-42D3-BABA-8D285A2DA800}">
      <dgm:prSet/>
      <dgm:spPr/>
      <dgm:t>
        <a:bodyPr/>
        <a:lstStyle/>
        <a:p>
          <a:endParaRPr lang="en-US"/>
        </a:p>
      </dgm:t>
    </dgm:pt>
    <dgm:pt modelId="{B50A8A76-5E8E-4C0F-AD22-3876EB612093}">
      <dgm:prSet/>
      <dgm:spPr/>
      <dgm:t>
        <a:bodyPr/>
        <a:lstStyle/>
        <a:p>
          <a:r>
            <a:rPr lang="nb-NO"/>
            <a:t>Et objekt eller en ting.</a:t>
          </a:r>
          <a:endParaRPr lang="en-US"/>
        </a:p>
      </dgm:t>
    </dgm:pt>
    <dgm:pt modelId="{281FDD6A-FA31-4A38-931A-D89DC89E88FA}" type="parTrans" cxnId="{19C5B3DD-FB22-4327-96AE-EB4F30231086}">
      <dgm:prSet/>
      <dgm:spPr/>
      <dgm:t>
        <a:bodyPr/>
        <a:lstStyle/>
        <a:p>
          <a:endParaRPr lang="en-US"/>
        </a:p>
      </dgm:t>
    </dgm:pt>
    <dgm:pt modelId="{4BCEE95B-35CA-448F-AAF1-31720A212017}" type="sibTrans" cxnId="{19C5B3DD-FB22-4327-96AE-EB4F30231086}">
      <dgm:prSet/>
      <dgm:spPr/>
      <dgm:t>
        <a:bodyPr/>
        <a:lstStyle/>
        <a:p>
          <a:endParaRPr lang="en-US"/>
        </a:p>
      </dgm:t>
    </dgm:pt>
    <dgm:pt modelId="{F2B0E566-E3FE-4C3D-90E8-2F3AB36F012A}">
      <dgm:prSet/>
      <dgm:spPr/>
      <dgm:t>
        <a:bodyPr/>
        <a:lstStyle/>
        <a:p>
          <a:r>
            <a:rPr lang="nb-NO" dirty="0"/>
            <a:t>Noe som kan ha egenskaper.</a:t>
          </a:r>
          <a:endParaRPr lang="en-US" dirty="0"/>
        </a:p>
      </dgm:t>
    </dgm:pt>
    <dgm:pt modelId="{BA5926E4-051A-445A-A1AB-BDFE16ECE1F4}" type="parTrans" cxnId="{0A4F97A7-8A0E-4A0F-AC0A-D3FC79074B6E}">
      <dgm:prSet/>
      <dgm:spPr/>
      <dgm:t>
        <a:bodyPr/>
        <a:lstStyle/>
        <a:p>
          <a:endParaRPr lang="en-US"/>
        </a:p>
      </dgm:t>
    </dgm:pt>
    <dgm:pt modelId="{101C85CF-0B3D-45BF-9EC9-B720DC6FF375}" type="sibTrans" cxnId="{0A4F97A7-8A0E-4A0F-AC0A-D3FC79074B6E}">
      <dgm:prSet/>
      <dgm:spPr/>
      <dgm:t>
        <a:bodyPr/>
        <a:lstStyle/>
        <a:p>
          <a:endParaRPr lang="en-US"/>
        </a:p>
      </dgm:t>
    </dgm:pt>
    <dgm:pt modelId="{C9BAB414-FD08-436A-8D29-EBF1D572710E}">
      <dgm:prSet/>
      <dgm:spPr/>
      <dgm:t>
        <a:bodyPr/>
        <a:lstStyle/>
        <a:p>
          <a:r>
            <a:rPr lang="nb-NO"/>
            <a:t>Egenskaper:</a:t>
          </a:r>
          <a:endParaRPr lang="en-US"/>
        </a:p>
      </dgm:t>
    </dgm:pt>
    <dgm:pt modelId="{C6CA7A7E-8060-42C8-953E-962E39CE8357}" type="parTrans" cxnId="{5359B690-C01C-45DF-864A-850CA8851025}">
      <dgm:prSet/>
      <dgm:spPr/>
      <dgm:t>
        <a:bodyPr/>
        <a:lstStyle/>
        <a:p>
          <a:endParaRPr lang="en-US"/>
        </a:p>
      </dgm:t>
    </dgm:pt>
    <dgm:pt modelId="{CC99B89E-8F0F-49C0-A41A-3228355A7B9C}" type="sibTrans" cxnId="{5359B690-C01C-45DF-864A-850CA8851025}">
      <dgm:prSet/>
      <dgm:spPr/>
      <dgm:t>
        <a:bodyPr/>
        <a:lstStyle/>
        <a:p>
          <a:endParaRPr lang="en-US"/>
        </a:p>
      </dgm:t>
    </dgm:pt>
    <dgm:pt modelId="{F749A705-8AAB-4424-A252-00734A78B676}">
      <dgm:prSet/>
      <dgm:spPr/>
      <dgm:t>
        <a:bodyPr/>
        <a:lstStyle/>
        <a:p>
          <a:r>
            <a:rPr lang="nb-NO" dirty="0"/>
            <a:t>Noe som kan attribueres til en substans.</a:t>
          </a:r>
          <a:endParaRPr lang="en-US" dirty="0"/>
        </a:p>
      </dgm:t>
    </dgm:pt>
    <dgm:pt modelId="{80A3A65C-D3C2-4FD9-81FD-99D91AC60D20}" type="parTrans" cxnId="{FEC18AA5-C808-4AFB-89CB-B03E5954F984}">
      <dgm:prSet/>
      <dgm:spPr/>
      <dgm:t>
        <a:bodyPr/>
        <a:lstStyle/>
        <a:p>
          <a:endParaRPr lang="en-US"/>
        </a:p>
      </dgm:t>
    </dgm:pt>
    <dgm:pt modelId="{DEB2DC42-5069-447B-8EE2-47C35E0711AF}" type="sibTrans" cxnId="{FEC18AA5-C808-4AFB-89CB-B03E5954F984}">
      <dgm:prSet/>
      <dgm:spPr/>
      <dgm:t>
        <a:bodyPr/>
        <a:lstStyle/>
        <a:p>
          <a:endParaRPr lang="en-US"/>
        </a:p>
      </dgm:t>
    </dgm:pt>
    <dgm:pt modelId="{9E17808B-069A-AF4F-A76C-788F82C47931}" type="pres">
      <dgm:prSet presAssocID="{D9DFA2C2-BF2F-40C9-BA9D-C61847182CA7}" presName="linear" presStyleCnt="0">
        <dgm:presLayoutVars>
          <dgm:dir/>
          <dgm:animLvl val="lvl"/>
          <dgm:resizeHandles val="exact"/>
        </dgm:presLayoutVars>
      </dgm:prSet>
      <dgm:spPr/>
    </dgm:pt>
    <dgm:pt modelId="{88D37541-0B57-8342-ABA7-CE00C14AFD56}" type="pres">
      <dgm:prSet presAssocID="{81760690-904E-4D4E-A3E8-C87198BFE850}" presName="parentLin" presStyleCnt="0"/>
      <dgm:spPr/>
    </dgm:pt>
    <dgm:pt modelId="{99808E17-F904-D74A-85DF-3A7CC1510153}" type="pres">
      <dgm:prSet presAssocID="{81760690-904E-4D4E-A3E8-C87198BFE850}" presName="parentLeftMargin" presStyleLbl="node1" presStyleIdx="0" presStyleCnt="2"/>
      <dgm:spPr/>
    </dgm:pt>
    <dgm:pt modelId="{7BD53E0D-F9CD-A64B-BD56-C4868A50E994}" type="pres">
      <dgm:prSet presAssocID="{81760690-904E-4D4E-A3E8-C87198BFE8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305DDE-B208-F645-A4F7-3A4E0F77C275}" type="pres">
      <dgm:prSet presAssocID="{81760690-904E-4D4E-A3E8-C87198BFE850}" presName="negativeSpace" presStyleCnt="0"/>
      <dgm:spPr/>
    </dgm:pt>
    <dgm:pt modelId="{B8157ED7-CABE-9D42-99C4-A68D5035C469}" type="pres">
      <dgm:prSet presAssocID="{81760690-904E-4D4E-A3E8-C87198BFE850}" presName="childText" presStyleLbl="conFgAcc1" presStyleIdx="0" presStyleCnt="2">
        <dgm:presLayoutVars>
          <dgm:bulletEnabled val="1"/>
        </dgm:presLayoutVars>
      </dgm:prSet>
      <dgm:spPr/>
    </dgm:pt>
    <dgm:pt modelId="{05C34F33-E050-F64F-9C2B-EB2363E0C86D}" type="pres">
      <dgm:prSet presAssocID="{46DF9229-7D27-4389-87D8-FD944E0433D1}" presName="spaceBetweenRectangles" presStyleCnt="0"/>
      <dgm:spPr/>
    </dgm:pt>
    <dgm:pt modelId="{161BFF4B-2746-ED4E-B56C-437FA3A0E046}" type="pres">
      <dgm:prSet presAssocID="{C9BAB414-FD08-436A-8D29-EBF1D572710E}" presName="parentLin" presStyleCnt="0"/>
      <dgm:spPr/>
    </dgm:pt>
    <dgm:pt modelId="{1E0DA911-35E9-844C-A3C3-3FF4A790F444}" type="pres">
      <dgm:prSet presAssocID="{C9BAB414-FD08-436A-8D29-EBF1D572710E}" presName="parentLeftMargin" presStyleLbl="node1" presStyleIdx="0" presStyleCnt="2"/>
      <dgm:spPr/>
    </dgm:pt>
    <dgm:pt modelId="{8131068A-916C-9B41-8A39-DF961750A922}" type="pres">
      <dgm:prSet presAssocID="{C9BAB414-FD08-436A-8D29-EBF1D572710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73AB0A8-5E32-9D40-B4D4-81D253FCFEFC}" type="pres">
      <dgm:prSet presAssocID="{C9BAB414-FD08-436A-8D29-EBF1D572710E}" presName="negativeSpace" presStyleCnt="0"/>
      <dgm:spPr/>
    </dgm:pt>
    <dgm:pt modelId="{CE068C56-3F27-7441-AB11-5A65F9BF06E4}" type="pres">
      <dgm:prSet presAssocID="{C9BAB414-FD08-436A-8D29-EBF1D572710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1D2C001-9BA0-3C4F-9CE9-85D8B5824FD4}" type="presOf" srcId="{C9BAB414-FD08-436A-8D29-EBF1D572710E}" destId="{8131068A-916C-9B41-8A39-DF961750A922}" srcOrd="1" destOrd="0" presId="urn:microsoft.com/office/officeart/2005/8/layout/list1"/>
    <dgm:cxn modelId="{448A6261-9C24-D348-84F2-6C6A4F7FB831}" type="presOf" srcId="{81760690-904E-4D4E-A3E8-C87198BFE850}" destId="{7BD53E0D-F9CD-A64B-BD56-C4868A50E994}" srcOrd="1" destOrd="0" presId="urn:microsoft.com/office/officeart/2005/8/layout/list1"/>
    <dgm:cxn modelId="{FD2D8742-AA46-FF45-9C62-0228C140C71D}" type="presOf" srcId="{C9BAB414-FD08-436A-8D29-EBF1D572710E}" destId="{1E0DA911-35E9-844C-A3C3-3FF4A790F444}" srcOrd="0" destOrd="0" presId="urn:microsoft.com/office/officeart/2005/8/layout/list1"/>
    <dgm:cxn modelId="{70B75054-0978-A04B-B6E3-9AA995EC6562}" type="presOf" srcId="{F749A705-8AAB-4424-A252-00734A78B676}" destId="{CE068C56-3F27-7441-AB11-5A65F9BF06E4}" srcOrd="0" destOrd="0" presId="urn:microsoft.com/office/officeart/2005/8/layout/list1"/>
    <dgm:cxn modelId="{5359B690-C01C-45DF-864A-850CA8851025}" srcId="{D9DFA2C2-BF2F-40C9-BA9D-C61847182CA7}" destId="{C9BAB414-FD08-436A-8D29-EBF1D572710E}" srcOrd="1" destOrd="0" parTransId="{C6CA7A7E-8060-42C8-953E-962E39CE8357}" sibTransId="{CC99B89E-8F0F-49C0-A41A-3228355A7B9C}"/>
    <dgm:cxn modelId="{A04563A3-5D08-2346-A7B9-602984F9002E}" type="presOf" srcId="{81760690-904E-4D4E-A3E8-C87198BFE850}" destId="{99808E17-F904-D74A-85DF-3A7CC1510153}" srcOrd="0" destOrd="0" presId="urn:microsoft.com/office/officeart/2005/8/layout/list1"/>
    <dgm:cxn modelId="{FEC18AA5-C808-4AFB-89CB-B03E5954F984}" srcId="{C9BAB414-FD08-436A-8D29-EBF1D572710E}" destId="{F749A705-8AAB-4424-A252-00734A78B676}" srcOrd="0" destOrd="0" parTransId="{80A3A65C-D3C2-4FD9-81FD-99D91AC60D20}" sibTransId="{DEB2DC42-5069-447B-8EE2-47C35E0711AF}"/>
    <dgm:cxn modelId="{0A4F97A7-8A0E-4A0F-AC0A-D3FC79074B6E}" srcId="{81760690-904E-4D4E-A3E8-C87198BFE850}" destId="{F2B0E566-E3FE-4C3D-90E8-2F3AB36F012A}" srcOrd="1" destOrd="0" parTransId="{BA5926E4-051A-445A-A1AB-BDFE16ECE1F4}" sibTransId="{101C85CF-0B3D-45BF-9EC9-B720DC6FF375}"/>
    <dgm:cxn modelId="{01AAF6C2-51C8-4344-80EC-A88622FF8164}" type="presOf" srcId="{F2B0E566-E3FE-4C3D-90E8-2F3AB36F012A}" destId="{B8157ED7-CABE-9D42-99C4-A68D5035C469}" srcOrd="0" destOrd="1" presId="urn:microsoft.com/office/officeart/2005/8/layout/list1"/>
    <dgm:cxn modelId="{D1625FCB-319D-42D3-BABA-8D285A2DA800}" srcId="{D9DFA2C2-BF2F-40C9-BA9D-C61847182CA7}" destId="{81760690-904E-4D4E-A3E8-C87198BFE850}" srcOrd="0" destOrd="0" parTransId="{8695A381-83C5-44DE-91CD-A42B881711C4}" sibTransId="{46DF9229-7D27-4389-87D8-FD944E0433D1}"/>
    <dgm:cxn modelId="{7511C4D6-2938-1A47-8C39-3ED63D23F7CB}" type="presOf" srcId="{D9DFA2C2-BF2F-40C9-BA9D-C61847182CA7}" destId="{9E17808B-069A-AF4F-A76C-788F82C47931}" srcOrd="0" destOrd="0" presId="urn:microsoft.com/office/officeart/2005/8/layout/list1"/>
    <dgm:cxn modelId="{19C5B3DD-FB22-4327-96AE-EB4F30231086}" srcId="{81760690-904E-4D4E-A3E8-C87198BFE850}" destId="{B50A8A76-5E8E-4C0F-AD22-3876EB612093}" srcOrd="0" destOrd="0" parTransId="{281FDD6A-FA31-4A38-931A-D89DC89E88FA}" sibTransId="{4BCEE95B-35CA-448F-AAF1-31720A212017}"/>
    <dgm:cxn modelId="{F8815FED-6EF2-8642-9EFB-7322408DBEC6}" type="presOf" srcId="{B50A8A76-5E8E-4C0F-AD22-3876EB612093}" destId="{B8157ED7-CABE-9D42-99C4-A68D5035C469}" srcOrd="0" destOrd="0" presId="urn:microsoft.com/office/officeart/2005/8/layout/list1"/>
    <dgm:cxn modelId="{42B47C39-BD9A-D74B-ADDF-0F9EF450E078}" type="presParOf" srcId="{9E17808B-069A-AF4F-A76C-788F82C47931}" destId="{88D37541-0B57-8342-ABA7-CE00C14AFD56}" srcOrd="0" destOrd="0" presId="urn:microsoft.com/office/officeart/2005/8/layout/list1"/>
    <dgm:cxn modelId="{A60DED93-7FBB-1F42-839F-322978515F91}" type="presParOf" srcId="{88D37541-0B57-8342-ABA7-CE00C14AFD56}" destId="{99808E17-F904-D74A-85DF-3A7CC1510153}" srcOrd="0" destOrd="0" presId="urn:microsoft.com/office/officeart/2005/8/layout/list1"/>
    <dgm:cxn modelId="{C35C146C-F610-7B44-9FBA-08E5AE41A691}" type="presParOf" srcId="{88D37541-0B57-8342-ABA7-CE00C14AFD56}" destId="{7BD53E0D-F9CD-A64B-BD56-C4868A50E994}" srcOrd="1" destOrd="0" presId="urn:microsoft.com/office/officeart/2005/8/layout/list1"/>
    <dgm:cxn modelId="{1FF27825-6CF9-684A-8BA2-F9C0C85F1663}" type="presParOf" srcId="{9E17808B-069A-AF4F-A76C-788F82C47931}" destId="{5D305DDE-B208-F645-A4F7-3A4E0F77C275}" srcOrd="1" destOrd="0" presId="urn:microsoft.com/office/officeart/2005/8/layout/list1"/>
    <dgm:cxn modelId="{5C52B83D-CA96-3944-910C-03F4632E755C}" type="presParOf" srcId="{9E17808B-069A-AF4F-A76C-788F82C47931}" destId="{B8157ED7-CABE-9D42-99C4-A68D5035C469}" srcOrd="2" destOrd="0" presId="urn:microsoft.com/office/officeart/2005/8/layout/list1"/>
    <dgm:cxn modelId="{80A9CB99-B4BB-044E-9B5B-67B6FBBA3FDD}" type="presParOf" srcId="{9E17808B-069A-AF4F-A76C-788F82C47931}" destId="{05C34F33-E050-F64F-9C2B-EB2363E0C86D}" srcOrd="3" destOrd="0" presId="urn:microsoft.com/office/officeart/2005/8/layout/list1"/>
    <dgm:cxn modelId="{8CCC024A-8317-C54F-8E56-F0C70584AAC4}" type="presParOf" srcId="{9E17808B-069A-AF4F-A76C-788F82C47931}" destId="{161BFF4B-2746-ED4E-B56C-437FA3A0E046}" srcOrd="4" destOrd="0" presId="urn:microsoft.com/office/officeart/2005/8/layout/list1"/>
    <dgm:cxn modelId="{DC5C3213-86AC-5F43-A285-79920B0FC825}" type="presParOf" srcId="{161BFF4B-2746-ED4E-B56C-437FA3A0E046}" destId="{1E0DA911-35E9-844C-A3C3-3FF4A790F444}" srcOrd="0" destOrd="0" presId="urn:microsoft.com/office/officeart/2005/8/layout/list1"/>
    <dgm:cxn modelId="{647C1FD4-3011-7E44-96C3-3BFF81393B58}" type="presParOf" srcId="{161BFF4B-2746-ED4E-B56C-437FA3A0E046}" destId="{8131068A-916C-9B41-8A39-DF961750A922}" srcOrd="1" destOrd="0" presId="urn:microsoft.com/office/officeart/2005/8/layout/list1"/>
    <dgm:cxn modelId="{0F7D07D8-A46F-C742-8351-2C7DF0957FE4}" type="presParOf" srcId="{9E17808B-069A-AF4F-A76C-788F82C47931}" destId="{573AB0A8-5E32-9D40-B4D4-81D253FCFEFC}" srcOrd="5" destOrd="0" presId="urn:microsoft.com/office/officeart/2005/8/layout/list1"/>
    <dgm:cxn modelId="{A384B9B8-784B-1848-B6FE-BB09FDB30F28}" type="presParOf" srcId="{9E17808B-069A-AF4F-A76C-788F82C47931}" destId="{CE068C56-3F27-7441-AB11-5A65F9BF06E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CDBF2A-24AC-4120-A1F2-2EB6DACB2EA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47ECF28-A225-48AC-802B-88F23EB62C36}">
      <dgm:prSet/>
      <dgm:spPr/>
      <dgm:t>
        <a:bodyPr/>
        <a:lstStyle/>
        <a:p>
          <a:r>
            <a:rPr lang="en-GB"/>
            <a:t>Hva slags type substanser eksisterer? Finnes det mentale substanser i tillegg til fysiske substanser?</a:t>
          </a:r>
          <a:endParaRPr lang="en-US"/>
        </a:p>
      </dgm:t>
    </dgm:pt>
    <dgm:pt modelId="{D69616C0-6D29-4E7C-9254-616748B00D91}" type="parTrans" cxnId="{397F0434-B463-4C99-B6C9-4EBE4D591ACC}">
      <dgm:prSet/>
      <dgm:spPr/>
      <dgm:t>
        <a:bodyPr/>
        <a:lstStyle/>
        <a:p>
          <a:endParaRPr lang="en-US"/>
        </a:p>
      </dgm:t>
    </dgm:pt>
    <dgm:pt modelId="{AA3A79AD-F76D-40C8-A864-F3248ACF2146}" type="sibTrans" cxnId="{397F0434-B463-4C99-B6C9-4EBE4D591AC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2BF4BBE-EFE1-44FA-8572-060D6224BE05}">
      <dgm:prSet/>
      <dgm:spPr/>
      <dgm:t>
        <a:bodyPr/>
        <a:lstStyle/>
        <a:p>
          <a:r>
            <a:rPr lang="en-GB" dirty="0"/>
            <a:t>Er alle </a:t>
          </a:r>
          <a:r>
            <a:rPr lang="en-GB" dirty="0" err="1"/>
            <a:t>egenskaper</a:t>
          </a:r>
          <a:r>
            <a:rPr lang="en-GB" dirty="0"/>
            <a:t> </a:t>
          </a:r>
          <a:r>
            <a:rPr lang="en-GB" dirty="0" err="1"/>
            <a:t>materielle</a:t>
          </a:r>
          <a:r>
            <a:rPr lang="en-GB" dirty="0"/>
            <a:t> </a:t>
          </a:r>
          <a:r>
            <a:rPr lang="en-GB" dirty="0" err="1"/>
            <a:t>egenskaper</a:t>
          </a:r>
          <a:r>
            <a:rPr lang="en-GB" dirty="0"/>
            <a:t>? </a:t>
          </a:r>
          <a:r>
            <a:rPr lang="en-GB" dirty="0" err="1"/>
            <a:t>Finnes</a:t>
          </a:r>
          <a:r>
            <a:rPr lang="en-GB" dirty="0"/>
            <a:t> det </a:t>
          </a:r>
          <a:r>
            <a:rPr lang="en-GB" dirty="0" err="1"/>
            <a:t>mentale</a:t>
          </a:r>
          <a:r>
            <a:rPr lang="en-GB" dirty="0"/>
            <a:t> </a:t>
          </a:r>
          <a:r>
            <a:rPr lang="en-GB" dirty="0" err="1"/>
            <a:t>egenskaper</a:t>
          </a:r>
          <a:r>
            <a:rPr lang="en-GB" dirty="0"/>
            <a:t> </a:t>
          </a:r>
          <a:r>
            <a:rPr lang="en-GB" dirty="0" err="1"/>
            <a:t>i</a:t>
          </a:r>
          <a:r>
            <a:rPr lang="en-GB" dirty="0"/>
            <a:t> </a:t>
          </a:r>
          <a:r>
            <a:rPr lang="en-GB" dirty="0" err="1"/>
            <a:t>tillegg</a:t>
          </a:r>
          <a:r>
            <a:rPr lang="en-GB" dirty="0"/>
            <a:t> </a:t>
          </a:r>
          <a:r>
            <a:rPr lang="en-GB" dirty="0" err="1"/>
            <a:t>til</a:t>
          </a:r>
          <a:r>
            <a:rPr lang="en-GB" dirty="0"/>
            <a:t> </a:t>
          </a:r>
          <a:r>
            <a:rPr lang="en-GB" dirty="0" err="1"/>
            <a:t>materielle</a:t>
          </a:r>
          <a:r>
            <a:rPr lang="en-GB" dirty="0"/>
            <a:t> </a:t>
          </a:r>
          <a:r>
            <a:rPr lang="en-GB" dirty="0" err="1"/>
            <a:t>egenskaper</a:t>
          </a:r>
          <a:r>
            <a:rPr lang="en-GB" dirty="0"/>
            <a:t>?</a:t>
          </a:r>
          <a:endParaRPr lang="en-US" dirty="0"/>
        </a:p>
      </dgm:t>
    </dgm:pt>
    <dgm:pt modelId="{9DFB7C11-8758-4379-8CDA-01E509DB4B69}" type="parTrans" cxnId="{6893EA64-1B22-4606-89B4-86ED7F035B23}">
      <dgm:prSet/>
      <dgm:spPr/>
      <dgm:t>
        <a:bodyPr/>
        <a:lstStyle/>
        <a:p>
          <a:endParaRPr lang="en-US"/>
        </a:p>
      </dgm:t>
    </dgm:pt>
    <dgm:pt modelId="{23FC2904-B204-4DFB-9F45-9BA4E2BE84F2}" type="sibTrans" cxnId="{6893EA64-1B22-4606-89B4-86ED7F035B2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1A0CD3E-D00A-EE40-B465-611AB4B64D6A}" type="pres">
      <dgm:prSet presAssocID="{D9CDBF2A-24AC-4120-A1F2-2EB6DACB2EA4}" presName="Name0" presStyleCnt="0">
        <dgm:presLayoutVars>
          <dgm:animLvl val="lvl"/>
          <dgm:resizeHandles val="exact"/>
        </dgm:presLayoutVars>
      </dgm:prSet>
      <dgm:spPr/>
    </dgm:pt>
    <dgm:pt modelId="{73C477CB-B6FA-3545-973A-99D0712EA962}" type="pres">
      <dgm:prSet presAssocID="{247ECF28-A225-48AC-802B-88F23EB62C36}" presName="compositeNode" presStyleCnt="0">
        <dgm:presLayoutVars>
          <dgm:bulletEnabled val="1"/>
        </dgm:presLayoutVars>
      </dgm:prSet>
      <dgm:spPr/>
    </dgm:pt>
    <dgm:pt modelId="{12B23B06-44ED-6744-B5B7-C4D63D160320}" type="pres">
      <dgm:prSet presAssocID="{247ECF28-A225-48AC-802B-88F23EB62C36}" presName="bgRect" presStyleLbl="bgAccFollowNode1" presStyleIdx="0" presStyleCnt="2"/>
      <dgm:spPr/>
    </dgm:pt>
    <dgm:pt modelId="{93E841C0-3F5B-C84D-AEC8-CEDC107D2DD8}" type="pres">
      <dgm:prSet presAssocID="{AA3A79AD-F76D-40C8-A864-F3248ACF2146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048FD0D2-B16D-E041-805B-59FE5AA257EE}" type="pres">
      <dgm:prSet presAssocID="{247ECF28-A225-48AC-802B-88F23EB62C36}" presName="bottomLine" presStyleLbl="alignNode1" presStyleIdx="1" presStyleCnt="4">
        <dgm:presLayoutVars/>
      </dgm:prSet>
      <dgm:spPr/>
    </dgm:pt>
    <dgm:pt modelId="{571269E2-35FD-234E-9199-8C6FFF9D6AED}" type="pres">
      <dgm:prSet presAssocID="{247ECF28-A225-48AC-802B-88F23EB62C36}" presName="nodeText" presStyleLbl="bgAccFollowNode1" presStyleIdx="0" presStyleCnt="2">
        <dgm:presLayoutVars>
          <dgm:bulletEnabled val="1"/>
        </dgm:presLayoutVars>
      </dgm:prSet>
      <dgm:spPr/>
    </dgm:pt>
    <dgm:pt modelId="{40F2E8D7-275D-6948-B4E0-857B44F2CE09}" type="pres">
      <dgm:prSet presAssocID="{AA3A79AD-F76D-40C8-A864-F3248ACF2146}" presName="sibTrans" presStyleCnt="0"/>
      <dgm:spPr/>
    </dgm:pt>
    <dgm:pt modelId="{5A3D1F9C-A944-8B4F-AEB5-6DF274985F4F}" type="pres">
      <dgm:prSet presAssocID="{72BF4BBE-EFE1-44FA-8572-060D6224BE05}" presName="compositeNode" presStyleCnt="0">
        <dgm:presLayoutVars>
          <dgm:bulletEnabled val="1"/>
        </dgm:presLayoutVars>
      </dgm:prSet>
      <dgm:spPr/>
    </dgm:pt>
    <dgm:pt modelId="{18AFE1A3-9C50-CC4A-BD85-679AD8C7E244}" type="pres">
      <dgm:prSet presAssocID="{72BF4BBE-EFE1-44FA-8572-060D6224BE05}" presName="bgRect" presStyleLbl="bgAccFollowNode1" presStyleIdx="1" presStyleCnt="2"/>
      <dgm:spPr/>
    </dgm:pt>
    <dgm:pt modelId="{91359025-FADF-144E-941D-4BF2DB69738F}" type="pres">
      <dgm:prSet presAssocID="{23FC2904-B204-4DFB-9F45-9BA4E2BE84F2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2DA490AC-44B8-2645-A832-EB6C5EB5B935}" type="pres">
      <dgm:prSet presAssocID="{72BF4BBE-EFE1-44FA-8572-060D6224BE05}" presName="bottomLine" presStyleLbl="alignNode1" presStyleIdx="3" presStyleCnt="4">
        <dgm:presLayoutVars/>
      </dgm:prSet>
      <dgm:spPr/>
    </dgm:pt>
    <dgm:pt modelId="{0319D46A-B69F-7B4C-9C3D-839B77D6F0A8}" type="pres">
      <dgm:prSet presAssocID="{72BF4BBE-EFE1-44FA-8572-060D6224BE05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397F0434-B463-4C99-B6C9-4EBE4D591ACC}" srcId="{D9CDBF2A-24AC-4120-A1F2-2EB6DACB2EA4}" destId="{247ECF28-A225-48AC-802B-88F23EB62C36}" srcOrd="0" destOrd="0" parTransId="{D69616C0-6D29-4E7C-9254-616748B00D91}" sibTransId="{AA3A79AD-F76D-40C8-A864-F3248ACF2146}"/>
    <dgm:cxn modelId="{6D3B3137-816B-644E-B50D-1A2B3276D0D8}" type="presOf" srcId="{247ECF28-A225-48AC-802B-88F23EB62C36}" destId="{12B23B06-44ED-6744-B5B7-C4D63D160320}" srcOrd="0" destOrd="0" presId="urn:microsoft.com/office/officeart/2016/7/layout/BasicLinearProcessNumbered"/>
    <dgm:cxn modelId="{4BA2F33D-9259-4F4F-9109-1FAF2E696254}" type="presOf" srcId="{AA3A79AD-F76D-40C8-A864-F3248ACF2146}" destId="{93E841C0-3F5B-C84D-AEC8-CEDC107D2DD8}" srcOrd="0" destOrd="0" presId="urn:microsoft.com/office/officeart/2016/7/layout/BasicLinearProcessNumbered"/>
    <dgm:cxn modelId="{6893EA64-1B22-4606-89B4-86ED7F035B23}" srcId="{D9CDBF2A-24AC-4120-A1F2-2EB6DACB2EA4}" destId="{72BF4BBE-EFE1-44FA-8572-060D6224BE05}" srcOrd="1" destOrd="0" parTransId="{9DFB7C11-8758-4379-8CDA-01E509DB4B69}" sibTransId="{23FC2904-B204-4DFB-9F45-9BA4E2BE84F2}"/>
    <dgm:cxn modelId="{0A981265-53F1-3A47-ABE7-C70189DAE6F6}" type="presOf" srcId="{23FC2904-B204-4DFB-9F45-9BA4E2BE84F2}" destId="{91359025-FADF-144E-941D-4BF2DB69738F}" srcOrd="0" destOrd="0" presId="urn:microsoft.com/office/officeart/2016/7/layout/BasicLinearProcessNumbered"/>
    <dgm:cxn modelId="{4082586A-84A0-584E-9E49-DFA973E393EC}" type="presOf" srcId="{247ECF28-A225-48AC-802B-88F23EB62C36}" destId="{571269E2-35FD-234E-9199-8C6FFF9D6AED}" srcOrd="1" destOrd="0" presId="urn:microsoft.com/office/officeart/2016/7/layout/BasicLinearProcessNumbered"/>
    <dgm:cxn modelId="{26348BB1-2D07-0E4B-8E2A-291C09EDA8A9}" type="presOf" srcId="{72BF4BBE-EFE1-44FA-8572-060D6224BE05}" destId="{0319D46A-B69F-7B4C-9C3D-839B77D6F0A8}" srcOrd="1" destOrd="0" presId="urn:microsoft.com/office/officeart/2016/7/layout/BasicLinearProcessNumbered"/>
    <dgm:cxn modelId="{70C241CC-2095-1846-91F3-36271C6B9C41}" type="presOf" srcId="{72BF4BBE-EFE1-44FA-8572-060D6224BE05}" destId="{18AFE1A3-9C50-CC4A-BD85-679AD8C7E244}" srcOrd="0" destOrd="0" presId="urn:microsoft.com/office/officeart/2016/7/layout/BasicLinearProcessNumbered"/>
    <dgm:cxn modelId="{A7E15DF5-1C70-4A4B-ADBE-85A56E5202C9}" type="presOf" srcId="{D9CDBF2A-24AC-4120-A1F2-2EB6DACB2EA4}" destId="{01A0CD3E-D00A-EE40-B465-611AB4B64D6A}" srcOrd="0" destOrd="0" presId="urn:microsoft.com/office/officeart/2016/7/layout/BasicLinearProcessNumbered"/>
    <dgm:cxn modelId="{2A7246EF-0E68-6B46-9851-EA7D946FA00C}" type="presParOf" srcId="{01A0CD3E-D00A-EE40-B465-611AB4B64D6A}" destId="{73C477CB-B6FA-3545-973A-99D0712EA962}" srcOrd="0" destOrd="0" presId="urn:microsoft.com/office/officeart/2016/7/layout/BasicLinearProcessNumbered"/>
    <dgm:cxn modelId="{4B8F7775-897D-EE4A-8557-A43CDCE9FF1C}" type="presParOf" srcId="{73C477CB-B6FA-3545-973A-99D0712EA962}" destId="{12B23B06-44ED-6744-B5B7-C4D63D160320}" srcOrd="0" destOrd="0" presId="urn:microsoft.com/office/officeart/2016/7/layout/BasicLinearProcessNumbered"/>
    <dgm:cxn modelId="{D999A6F1-A02E-014C-93FB-0D0428D9DB8E}" type="presParOf" srcId="{73C477CB-B6FA-3545-973A-99D0712EA962}" destId="{93E841C0-3F5B-C84D-AEC8-CEDC107D2DD8}" srcOrd="1" destOrd="0" presId="urn:microsoft.com/office/officeart/2016/7/layout/BasicLinearProcessNumbered"/>
    <dgm:cxn modelId="{44C2C987-E361-3C44-8D06-70BF9B6208D9}" type="presParOf" srcId="{73C477CB-B6FA-3545-973A-99D0712EA962}" destId="{048FD0D2-B16D-E041-805B-59FE5AA257EE}" srcOrd="2" destOrd="0" presId="urn:microsoft.com/office/officeart/2016/7/layout/BasicLinearProcessNumbered"/>
    <dgm:cxn modelId="{F02838B6-CCFC-BF46-BCB6-F69BFA64F996}" type="presParOf" srcId="{73C477CB-B6FA-3545-973A-99D0712EA962}" destId="{571269E2-35FD-234E-9199-8C6FFF9D6AED}" srcOrd="3" destOrd="0" presId="urn:microsoft.com/office/officeart/2016/7/layout/BasicLinearProcessNumbered"/>
    <dgm:cxn modelId="{CC0E77A7-CB9E-E648-916E-F6770605D09E}" type="presParOf" srcId="{01A0CD3E-D00A-EE40-B465-611AB4B64D6A}" destId="{40F2E8D7-275D-6948-B4E0-857B44F2CE09}" srcOrd="1" destOrd="0" presId="urn:microsoft.com/office/officeart/2016/7/layout/BasicLinearProcessNumbered"/>
    <dgm:cxn modelId="{84B74FDD-F8DE-D741-B8DC-1A25D734BF61}" type="presParOf" srcId="{01A0CD3E-D00A-EE40-B465-611AB4B64D6A}" destId="{5A3D1F9C-A944-8B4F-AEB5-6DF274985F4F}" srcOrd="2" destOrd="0" presId="urn:microsoft.com/office/officeart/2016/7/layout/BasicLinearProcessNumbered"/>
    <dgm:cxn modelId="{4F32BB92-8AD7-554A-889D-985B6404FE52}" type="presParOf" srcId="{5A3D1F9C-A944-8B4F-AEB5-6DF274985F4F}" destId="{18AFE1A3-9C50-CC4A-BD85-679AD8C7E244}" srcOrd="0" destOrd="0" presId="urn:microsoft.com/office/officeart/2016/7/layout/BasicLinearProcessNumbered"/>
    <dgm:cxn modelId="{5DBE45B1-3120-924B-AE23-010C0A048968}" type="presParOf" srcId="{5A3D1F9C-A944-8B4F-AEB5-6DF274985F4F}" destId="{91359025-FADF-144E-941D-4BF2DB69738F}" srcOrd="1" destOrd="0" presId="urn:microsoft.com/office/officeart/2016/7/layout/BasicLinearProcessNumbered"/>
    <dgm:cxn modelId="{7E88CA5D-13EC-F14E-B4C8-6DAF814FC2FD}" type="presParOf" srcId="{5A3D1F9C-A944-8B4F-AEB5-6DF274985F4F}" destId="{2DA490AC-44B8-2645-A832-EB6C5EB5B935}" srcOrd="2" destOrd="0" presId="urn:microsoft.com/office/officeart/2016/7/layout/BasicLinearProcessNumbered"/>
    <dgm:cxn modelId="{E4A4F9DE-20D7-2D40-B1D7-6C1193EC936A}" type="presParOf" srcId="{5A3D1F9C-A944-8B4F-AEB5-6DF274985F4F}" destId="{0319D46A-B69F-7B4C-9C3D-839B77D6F0A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57ED7-CABE-9D42-99C4-A68D5035C469}">
      <dsp:nvSpPr>
        <dsp:cNvPr id="0" name=""/>
        <dsp:cNvSpPr/>
      </dsp:nvSpPr>
      <dsp:spPr>
        <a:xfrm>
          <a:off x="0" y="601320"/>
          <a:ext cx="6900512" cy="2097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749808" rIns="535556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3600" kern="1200"/>
            <a:t>Et objekt eller en ting.</a:t>
          </a:r>
          <a:endParaRPr lang="en-US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3600" kern="1200" dirty="0"/>
            <a:t>Noe som kan ha egenskaper.</a:t>
          </a:r>
          <a:endParaRPr lang="en-US" sz="3600" kern="1200" dirty="0"/>
        </a:p>
      </dsp:txBody>
      <dsp:txXfrm>
        <a:off x="0" y="601320"/>
        <a:ext cx="6900512" cy="2097900"/>
      </dsp:txXfrm>
    </dsp:sp>
    <dsp:sp modelId="{7BD53E0D-F9CD-A64B-BD56-C4868A50E994}">
      <dsp:nvSpPr>
        <dsp:cNvPr id="0" name=""/>
        <dsp:cNvSpPr/>
      </dsp:nvSpPr>
      <dsp:spPr>
        <a:xfrm>
          <a:off x="345025" y="69960"/>
          <a:ext cx="4830358" cy="1062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600" kern="1200"/>
            <a:t>Substans: </a:t>
          </a:r>
          <a:endParaRPr lang="en-US" sz="3600" kern="1200"/>
        </a:p>
      </dsp:txBody>
      <dsp:txXfrm>
        <a:off x="396903" y="121838"/>
        <a:ext cx="4726602" cy="958964"/>
      </dsp:txXfrm>
    </dsp:sp>
    <dsp:sp modelId="{CE068C56-3F27-7441-AB11-5A65F9BF06E4}">
      <dsp:nvSpPr>
        <dsp:cNvPr id="0" name=""/>
        <dsp:cNvSpPr/>
      </dsp:nvSpPr>
      <dsp:spPr>
        <a:xfrm>
          <a:off x="0" y="3424980"/>
          <a:ext cx="6900512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749808" rIns="535556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3600" kern="1200" dirty="0"/>
            <a:t>Noe som kan attribueres til en substans.</a:t>
          </a:r>
          <a:endParaRPr lang="en-US" sz="3600" kern="1200" dirty="0"/>
        </a:p>
      </dsp:txBody>
      <dsp:txXfrm>
        <a:off x="0" y="3424980"/>
        <a:ext cx="6900512" cy="2041200"/>
      </dsp:txXfrm>
    </dsp:sp>
    <dsp:sp modelId="{8131068A-916C-9B41-8A39-DF961750A922}">
      <dsp:nvSpPr>
        <dsp:cNvPr id="0" name=""/>
        <dsp:cNvSpPr/>
      </dsp:nvSpPr>
      <dsp:spPr>
        <a:xfrm>
          <a:off x="345025" y="2893620"/>
          <a:ext cx="4830358" cy="106272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600" kern="1200"/>
            <a:t>Egenskaper:</a:t>
          </a:r>
          <a:endParaRPr lang="en-US" sz="3600" kern="1200"/>
        </a:p>
      </dsp:txBody>
      <dsp:txXfrm>
        <a:off x="396903" y="2945498"/>
        <a:ext cx="4726602" cy="958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23B06-44ED-6744-B5B7-C4D63D160320}">
      <dsp:nvSpPr>
        <dsp:cNvPr id="0" name=""/>
        <dsp:cNvSpPr/>
      </dsp:nvSpPr>
      <dsp:spPr>
        <a:xfrm>
          <a:off x="1283" y="0"/>
          <a:ext cx="5006206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Hva slags type substanser eksisterer? Finnes det mentale substanser i tillegg til fysiske substanser?</a:t>
          </a:r>
          <a:endParaRPr lang="en-US" sz="2600" kern="1200"/>
        </a:p>
      </dsp:txBody>
      <dsp:txXfrm>
        <a:off x="1283" y="1500572"/>
        <a:ext cx="5006206" cy="2369325"/>
      </dsp:txXfrm>
    </dsp:sp>
    <dsp:sp modelId="{93E841C0-3F5B-C84D-AEC8-CEDC107D2DD8}">
      <dsp:nvSpPr>
        <dsp:cNvPr id="0" name=""/>
        <dsp:cNvSpPr/>
      </dsp:nvSpPr>
      <dsp:spPr>
        <a:xfrm>
          <a:off x="1912055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85545" y="568377"/>
        <a:ext cx="837682" cy="837682"/>
      </dsp:txXfrm>
    </dsp:sp>
    <dsp:sp modelId="{048FD0D2-B16D-E041-805B-59FE5AA257EE}">
      <dsp:nvSpPr>
        <dsp:cNvPr id="0" name=""/>
        <dsp:cNvSpPr/>
      </dsp:nvSpPr>
      <dsp:spPr>
        <a:xfrm>
          <a:off x="1283" y="3948804"/>
          <a:ext cx="500620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FE1A3-9C50-CC4A-BD85-679AD8C7E244}">
      <dsp:nvSpPr>
        <dsp:cNvPr id="0" name=""/>
        <dsp:cNvSpPr/>
      </dsp:nvSpPr>
      <dsp:spPr>
        <a:xfrm>
          <a:off x="5508110" y="0"/>
          <a:ext cx="5006206" cy="394887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Er alle </a:t>
          </a:r>
          <a:r>
            <a:rPr lang="en-GB" sz="2600" kern="1200" dirty="0" err="1"/>
            <a:t>egenskaper</a:t>
          </a:r>
          <a:r>
            <a:rPr lang="en-GB" sz="2600" kern="1200" dirty="0"/>
            <a:t> </a:t>
          </a:r>
          <a:r>
            <a:rPr lang="en-GB" sz="2600" kern="1200" dirty="0" err="1"/>
            <a:t>materielle</a:t>
          </a:r>
          <a:r>
            <a:rPr lang="en-GB" sz="2600" kern="1200" dirty="0"/>
            <a:t> </a:t>
          </a:r>
          <a:r>
            <a:rPr lang="en-GB" sz="2600" kern="1200" dirty="0" err="1"/>
            <a:t>egenskaper</a:t>
          </a:r>
          <a:r>
            <a:rPr lang="en-GB" sz="2600" kern="1200" dirty="0"/>
            <a:t>? </a:t>
          </a:r>
          <a:r>
            <a:rPr lang="en-GB" sz="2600" kern="1200" dirty="0" err="1"/>
            <a:t>Finnes</a:t>
          </a:r>
          <a:r>
            <a:rPr lang="en-GB" sz="2600" kern="1200" dirty="0"/>
            <a:t> det </a:t>
          </a:r>
          <a:r>
            <a:rPr lang="en-GB" sz="2600" kern="1200" dirty="0" err="1"/>
            <a:t>mentale</a:t>
          </a:r>
          <a:r>
            <a:rPr lang="en-GB" sz="2600" kern="1200" dirty="0"/>
            <a:t> </a:t>
          </a:r>
          <a:r>
            <a:rPr lang="en-GB" sz="2600" kern="1200" dirty="0" err="1"/>
            <a:t>egenskaper</a:t>
          </a:r>
          <a:r>
            <a:rPr lang="en-GB" sz="2600" kern="1200" dirty="0"/>
            <a:t> </a:t>
          </a:r>
          <a:r>
            <a:rPr lang="en-GB" sz="2600" kern="1200" dirty="0" err="1"/>
            <a:t>i</a:t>
          </a:r>
          <a:r>
            <a:rPr lang="en-GB" sz="2600" kern="1200" dirty="0"/>
            <a:t> </a:t>
          </a:r>
          <a:r>
            <a:rPr lang="en-GB" sz="2600" kern="1200" dirty="0" err="1"/>
            <a:t>tillegg</a:t>
          </a:r>
          <a:r>
            <a:rPr lang="en-GB" sz="2600" kern="1200" dirty="0"/>
            <a:t> </a:t>
          </a:r>
          <a:r>
            <a:rPr lang="en-GB" sz="2600" kern="1200" dirty="0" err="1"/>
            <a:t>til</a:t>
          </a:r>
          <a:r>
            <a:rPr lang="en-GB" sz="2600" kern="1200" dirty="0"/>
            <a:t> </a:t>
          </a:r>
          <a:r>
            <a:rPr lang="en-GB" sz="2600" kern="1200" dirty="0" err="1"/>
            <a:t>materielle</a:t>
          </a:r>
          <a:r>
            <a:rPr lang="en-GB" sz="2600" kern="1200" dirty="0"/>
            <a:t> </a:t>
          </a:r>
          <a:r>
            <a:rPr lang="en-GB" sz="2600" kern="1200" dirty="0" err="1"/>
            <a:t>egenskaper</a:t>
          </a:r>
          <a:r>
            <a:rPr lang="en-GB" sz="2600" kern="1200" dirty="0"/>
            <a:t>?</a:t>
          </a:r>
          <a:endParaRPr lang="en-US" sz="2600" kern="1200" dirty="0"/>
        </a:p>
      </dsp:txBody>
      <dsp:txXfrm>
        <a:off x="5508110" y="1500572"/>
        <a:ext cx="5006206" cy="2369325"/>
      </dsp:txXfrm>
    </dsp:sp>
    <dsp:sp modelId="{91359025-FADF-144E-941D-4BF2DB69738F}">
      <dsp:nvSpPr>
        <dsp:cNvPr id="0" name=""/>
        <dsp:cNvSpPr/>
      </dsp:nvSpPr>
      <dsp:spPr>
        <a:xfrm>
          <a:off x="7418881" y="394887"/>
          <a:ext cx="1184662" cy="11846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592371" y="568377"/>
        <a:ext cx="837682" cy="837682"/>
      </dsp:txXfrm>
    </dsp:sp>
    <dsp:sp modelId="{2DA490AC-44B8-2645-A832-EB6C5EB5B935}">
      <dsp:nvSpPr>
        <dsp:cNvPr id="0" name=""/>
        <dsp:cNvSpPr/>
      </dsp:nvSpPr>
      <dsp:spPr>
        <a:xfrm>
          <a:off x="5508110" y="3948804"/>
          <a:ext cx="500620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57C9-937C-EB46-8162-1A31308CA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8CDBE-4E5C-8E4C-95D1-23988BDF9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FEA6-AC8D-BB41-B938-06C56C27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F8007-36A8-8745-B18C-EF890415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EAA6A-DDE4-154C-8AE8-66079083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582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E257-2BC2-8A48-93F7-C14061AF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3BE23-AAA8-8344-BEB4-023673FC2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32EF-7F34-7A49-B47C-1EF33716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433B9-3A1B-FA49-953F-1EEB530E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3FB53-850D-E945-A363-FBC18828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6563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5075-B6EF-EA4F-9E0E-110CDA0B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13A31-FEE1-0C4E-AF75-45F873F18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BA9D0-C26A-6F44-997E-3A3E30DB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8CBE6-4C59-244F-9306-BAC2CEAA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897AA-B817-C64F-B53A-9E845928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506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9A2C-EBC9-AE48-8556-03EADCE9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06E7-CAD3-954F-96A7-FB0B10873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0913A-E143-324D-866F-95F008915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E3DC0-9FF2-154D-8BD1-B966C5DD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D75AA-1A30-0446-AA5B-82EE7E87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C6240-EB74-8D40-B998-AD409184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012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9647-2060-DA44-BF19-304F2B637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14D6F-607F-F249-8233-D674ECD7D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EF5CB-B65C-7140-B590-0CB394731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6979A-EEAE-9A4B-BEB4-BE707985D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31EA-EC50-1F49-8E6F-7E9CA0939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4EE44-7207-4746-98DD-0C0F8973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D8BDD-8266-F342-9371-E77863E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2E15B-183A-D249-89FC-3597DEAA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8213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455E-2D6A-D24F-A021-8D8EB277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6D0FC-EFB8-B94B-862A-47A09263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88CC8-F615-5A46-B40E-131E2BE9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4748A-D9EE-104E-BC00-3D8EA41F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41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26D18-9A2E-7247-8087-EBFCCD2C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F7DD1-DAD4-724B-B8F3-66FE0CF76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CD0F8-4733-0649-B7E6-AC4BABE9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8184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7FC43-FC39-D746-84CD-E200D852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9363-0930-864E-B9D4-F9DD3ACC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343A-DBD0-1342-B498-5D8725EB2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E6B8E-05CF-9440-9058-817FAFBD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E5B42-DD1A-7845-A2C1-4A8E481C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4761E-8879-FA4C-AFFE-C7AFBA81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203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D0C2-BDA1-084A-9F65-54F0E66D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3C8EB5-35AC-A34B-B372-926709B62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04119-4935-DF4D-8901-48EFCE81A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3681F-1069-4045-A129-EC9A97D2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2943F-9D6B-DF46-84DD-344F7479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5BC90-47F5-F249-A713-1B1D7346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415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46C4-6D2F-F749-9163-9DD8BAB3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DDCA1-9083-7745-85B2-9AA2DC144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C7990-48B0-C34D-978A-C3EA2ABA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44110-56BE-5B4E-B41A-50E5AD6D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7414-5E42-0142-B2D6-683E9D5E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841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F2E75-3681-E748-97A2-DA53A535F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79261-A6FE-0A46-BAA8-3988C0E3A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27C60-E1A5-EE44-B544-447C1FDB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19437-F811-ED45-95F1-5A8715BB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1768-9E13-E04D-BED2-7ECEABE2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42992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page Faculty Pictur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4D768E-AC85-41DD-B1B7-0298BF3316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9880" y="0"/>
            <a:ext cx="598212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/>
          <a:lstStyle/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13" name="Rectangle 12" descr="Bakgrunn">
            <a:extLst>
              <a:ext uri="{FF2B5EF4-FFF2-40B4-BE49-F238E27FC236}">
                <a16:creationId xmlns:a16="http://schemas.microsoft.com/office/drawing/2014/main" id="{CDC2DD76-E94A-435B-BDB4-D10EA8D453D9}"/>
              </a:ext>
            </a:extLst>
          </p:cNvPr>
          <p:cNvSpPr/>
          <p:nvPr userDrawn="1"/>
        </p:nvSpPr>
        <p:spPr>
          <a:xfrm>
            <a:off x="0" y="0"/>
            <a:ext cx="62098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A99F6BB-7452-4A97-9D6D-C9C80D04D2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038" y="239167"/>
            <a:ext cx="5075367" cy="2387600"/>
          </a:xfrm>
          <a:solidFill>
            <a:srgbClr val="0000FF">
              <a:alpha val="0"/>
            </a:srgbClr>
          </a:solidFill>
        </p:spPr>
        <p:txBody>
          <a:bodyPr anchor="t"/>
          <a:lstStyle>
            <a:lvl1pPr algn="l">
              <a:lnSpc>
                <a:spcPct val="100000"/>
              </a:lnSpc>
              <a:defRPr sz="4501"/>
            </a:lvl1pPr>
          </a:lstStyle>
          <a:p>
            <a:r>
              <a:rPr lang="en-US" noProof="0" dirty="0"/>
              <a:t>Choose faculty from the drop-down menu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2797541-CC8A-4BF9-AD61-F95B5D424E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038" y="4112581"/>
            <a:ext cx="5080128" cy="226283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nb-NO" dirty="0" err="1"/>
              <a:t>Name</a:t>
            </a:r>
            <a:r>
              <a:rPr lang="nb-NO" dirty="0"/>
              <a:t> </a:t>
            </a:r>
            <a:r>
              <a:rPr lang="nb-NO" dirty="0" err="1"/>
              <a:t>Surname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7F9F285-7481-495A-B1F0-6CB04E7E3B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3800" y="4379312"/>
            <a:ext cx="5075366" cy="226283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nb-NO" dirty="0" err="1"/>
              <a:t>Title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5D7F869-7DD8-42A9-BFA1-5DF06F572D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800" y="4646043"/>
            <a:ext cx="5075367" cy="226283"/>
          </a:xfrm>
        </p:spPr>
        <p:txBody>
          <a:bodyPr/>
          <a:lstStyle>
            <a:lvl1pPr marL="0" indent="0">
              <a:buNone/>
              <a:defRPr sz="1750"/>
            </a:lvl1pPr>
          </a:lstStyle>
          <a:p>
            <a:pPr lvl="0"/>
            <a:r>
              <a:rPr lang="nb-NO" dirty="0"/>
              <a:t>Unit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9038" y="5135118"/>
            <a:ext cx="5075367" cy="365125"/>
          </a:xfrm>
        </p:spPr>
        <p:txBody>
          <a:bodyPr lIns="0" tIns="0" rIns="0" bIns="0"/>
          <a:lstStyle>
            <a:lvl1pPr>
              <a:defRPr sz="1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2" name="Graphic 21" descr="UiO segl">
            <a:extLst>
              <a:ext uri="{FF2B5EF4-FFF2-40B4-BE49-F238E27FC236}">
                <a16:creationId xmlns:a16="http://schemas.microsoft.com/office/drawing/2014/main" id="{EC01DC75-D0B0-4B26-A9E0-4DA4332550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038" y="5945262"/>
            <a:ext cx="1717464" cy="538688"/>
          </a:xfrm>
          <a:prstGeom prst="rect">
            <a:avLst/>
          </a:prstGeom>
        </p:spPr>
      </p:pic>
      <p:sp>
        <p:nvSpPr>
          <p:cNvPr id="10" name="addin_colorlist" hidden="1">
            <a:extLst>
              <a:ext uri="{FF2B5EF4-FFF2-40B4-BE49-F238E27FC236}">
                <a16:creationId xmlns:a16="http://schemas.microsoft.com/office/drawing/2014/main" id="{39C5D506-67A5-4F89-8560-22F43BCF74AF}"/>
              </a:ext>
            </a:extLst>
          </p:cNvPr>
          <p:cNvSpPr/>
          <p:nvPr userDrawn="1"/>
        </p:nvSpPr>
        <p:spPr>
          <a:xfrm>
            <a:off x="0" y="-1466578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halv1, halv2, halv3, halv4, halv5, halv6, halv7, halv8</a:t>
            </a:r>
          </a:p>
        </p:txBody>
      </p:sp>
      <p:sp>
        <p:nvSpPr>
          <p:cNvPr id="16" name="addin_colorbox" hidden="1">
            <a:extLst>
              <a:ext uri="{FF2B5EF4-FFF2-40B4-BE49-F238E27FC236}">
                <a16:creationId xmlns:a16="http://schemas.microsoft.com/office/drawing/2014/main" id="{FCA3E1BC-B669-4110-87EA-FAF1FA6121DD}"/>
              </a:ext>
            </a:extLst>
          </p:cNvPr>
          <p:cNvSpPr/>
          <p:nvPr userDrawn="1"/>
        </p:nvSpPr>
        <p:spPr>
          <a:xfrm>
            <a:off x="4861870" y="-1512609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addin_colorbox</a:t>
            </a:r>
            <a:endParaRPr lang="nb-NO" dirty="0"/>
          </a:p>
        </p:txBody>
      </p:sp>
      <p:sp>
        <p:nvSpPr>
          <p:cNvPr id="17" name="addin_title" hidden="1">
            <a:extLst>
              <a:ext uri="{FF2B5EF4-FFF2-40B4-BE49-F238E27FC236}">
                <a16:creationId xmlns:a16="http://schemas.microsoft.com/office/drawing/2014/main" id="{3ED724C7-6D8D-4B02-A942-476103665D49}"/>
              </a:ext>
            </a:extLst>
          </p:cNvPr>
          <p:cNvSpPr/>
          <p:nvPr userDrawn="1"/>
        </p:nvSpPr>
        <p:spPr>
          <a:xfrm>
            <a:off x="9723740" y="-1512609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addin_title</a:t>
            </a:r>
            <a:endParaRPr lang="nb-NO" dirty="0"/>
          </a:p>
        </p:txBody>
      </p:sp>
      <p:sp>
        <p:nvSpPr>
          <p:cNvPr id="18" name="addin_text" hidden="1">
            <a:extLst>
              <a:ext uri="{FF2B5EF4-FFF2-40B4-BE49-F238E27FC236}">
                <a16:creationId xmlns:a16="http://schemas.microsoft.com/office/drawing/2014/main" id="{3875A1F9-BE97-453C-A6D3-C2B80FB26DAF}"/>
              </a:ext>
            </a:extLst>
          </p:cNvPr>
          <p:cNvSpPr/>
          <p:nvPr userDrawn="1"/>
        </p:nvSpPr>
        <p:spPr>
          <a:xfrm>
            <a:off x="0" y="-861100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addin_text</a:t>
            </a:r>
            <a:endParaRPr lang="nb-NO" dirty="0"/>
          </a:p>
        </p:txBody>
      </p:sp>
      <p:sp>
        <p:nvSpPr>
          <p:cNvPr id="19" name="addin_image" hidden="1">
            <a:extLst>
              <a:ext uri="{FF2B5EF4-FFF2-40B4-BE49-F238E27FC236}">
                <a16:creationId xmlns:a16="http://schemas.microsoft.com/office/drawing/2014/main" id="{B74C45E3-A0CF-4E11-99D4-B0A97B5ECA6D}"/>
              </a:ext>
            </a:extLst>
          </p:cNvPr>
          <p:cNvSpPr/>
          <p:nvPr userDrawn="1"/>
        </p:nvSpPr>
        <p:spPr>
          <a:xfrm>
            <a:off x="2505076" y="-861100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addin_image</a:t>
            </a:r>
            <a:endParaRPr lang="nb-NO" dirty="0"/>
          </a:p>
        </p:txBody>
      </p:sp>
      <p:sp>
        <p:nvSpPr>
          <p:cNvPr id="20" name="addin_grouplist" hidden="1">
            <a:extLst>
              <a:ext uri="{FF2B5EF4-FFF2-40B4-BE49-F238E27FC236}">
                <a16:creationId xmlns:a16="http://schemas.microsoft.com/office/drawing/2014/main" id="{E863661C-B13F-46BB-BA71-469E9D5AB327}"/>
              </a:ext>
            </a:extLst>
          </p:cNvPr>
          <p:cNvSpPr/>
          <p:nvPr userDrawn="1"/>
        </p:nvSpPr>
        <p:spPr>
          <a:xfrm>
            <a:off x="4973338" y="-861100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900" kern="1200" dirty="0" err="1">
                <a:solidFill>
                  <a:schemeClr val="lt1"/>
                </a:solidFill>
                <a:latin typeface="+mn-lt"/>
                <a:ea typeface="+mn-ea"/>
                <a:cs typeface="+mn-cs"/>
              </a:rPr>
              <a:t>SkiftBakgrunnGroup</a:t>
            </a:r>
            <a:endParaRPr lang="nb-NO" dirty="0"/>
          </a:p>
        </p:txBody>
      </p:sp>
      <p:sp>
        <p:nvSpPr>
          <p:cNvPr id="21" name="addin_logo" hidden="1">
            <a:extLst>
              <a:ext uri="{FF2B5EF4-FFF2-40B4-BE49-F238E27FC236}">
                <a16:creationId xmlns:a16="http://schemas.microsoft.com/office/drawing/2014/main" id="{6B15E5D0-41F1-4B95-AEBC-8FEF29F24DE4}"/>
              </a:ext>
            </a:extLst>
          </p:cNvPr>
          <p:cNvSpPr/>
          <p:nvPr userDrawn="1"/>
        </p:nvSpPr>
        <p:spPr>
          <a:xfrm>
            <a:off x="7441600" y="-861100"/>
            <a:ext cx="2356794" cy="521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addin_logo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5831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39E3F-5BD2-354C-973E-BF72CA0F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00000-28DA-8540-B5D8-42966B19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53650-B5B8-D542-90A3-7458A2786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10A88-E5F8-AB42-914E-94F3C6EE5DB5}" type="datetimeFigureOut">
              <a:rPr lang="nb-NO" smtClean="0"/>
              <a:t>17.09.2024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4675D-A2E5-4340-86A4-1051CC510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71E8E-389D-4E48-92F5-23F4C42FE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B5713-246D-2B44-A75D-818C156E0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330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g"/><Relationship Id="rId5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4D23BCFD-2AAF-4491-BA79-C97992FEF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nb-NO" sz="4500" dirty="0"/>
              <a:t>Det humanistiske fakultet </a:t>
            </a:r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CE48E12-3762-41DA-9AD2-90F6A2F76E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834" y="3943765"/>
            <a:ext cx="5080128" cy="226283"/>
          </a:xfrm>
        </p:spPr>
        <p:txBody>
          <a:bodyPr>
            <a:noAutofit/>
          </a:bodyPr>
          <a:lstStyle/>
          <a:p>
            <a:r>
              <a:rPr lang="en-GB" sz="2000" dirty="0"/>
              <a:t>Sara </a:t>
            </a:r>
            <a:r>
              <a:rPr lang="en-GB" sz="2000" dirty="0" err="1"/>
              <a:t>Kasin</a:t>
            </a:r>
            <a:r>
              <a:rPr lang="en-GB" sz="2000" dirty="0"/>
              <a:t> </a:t>
            </a:r>
            <a:r>
              <a:rPr lang="en-GB" sz="2000" dirty="0" err="1"/>
              <a:t>Vikesdal</a:t>
            </a:r>
            <a:endParaRPr lang="en-GB" sz="2000" dirty="0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F5FF7385-79BE-4AC7-846B-04B2B0B9E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2766" y="5029867"/>
            <a:ext cx="5075367" cy="457179"/>
          </a:xfrm>
        </p:spPr>
        <p:txBody>
          <a:bodyPr>
            <a:normAutofit/>
          </a:bodyPr>
          <a:lstStyle/>
          <a:p>
            <a:r>
              <a:rPr lang="nb-NO" sz="2000" dirty="0"/>
              <a:t>IFIKK</a:t>
            </a:r>
          </a:p>
          <a:p>
            <a:endParaRPr lang="en-US" sz="1400" dirty="0"/>
          </a:p>
        </p:txBody>
      </p:sp>
      <p:sp>
        <p:nvSpPr>
          <p:cNvPr id="8" name="Plassholder for tekst 4">
            <a:extLst>
              <a:ext uri="{FF2B5EF4-FFF2-40B4-BE49-F238E27FC236}">
                <a16:creationId xmlns:a16="http://schemas.microsoft.com/office/drawing/2014/main" id="{A8FD494A-8C48-4E45-952C-4E57279BD42F}"/>
              </a:ext>
            </a:extLst>
          </p:cNvPr>
          <p:cNvSpPr txBox="1">
            <a:spLocks/>
          </p:cNvSpPr>
          <p:nvPr/>
        </p:nvSpPr>
        <p:spPr>
          <a:xfrm>
            <a:off x="379038" y="4442781"/>
            <a:ext cx="6355870" cy="488610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115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HVA ER SINNETS PLASS I NATUREN?</a:t>
            </a:r>
            <a:endParaRPr lang="en-GB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lassholder for bilde 28">
            <a:extLst>
              <a:ext uri="{FF2B5EF4-FFF2-40B4-BE49-F238E27FC236}">
                <a16:creationId xmlns:a16="http://schemas.microsoft.com/office/drawing/2014/main" id="{D741CBE5-D84D-4F13-BCD4-B6156E1E3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60094" y="860239"/>
            <a:ext cx="4319621" cy="495111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6107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F730D-870C-5A49-8658-BB46EAEBD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241" y="647130"/>
            <a:ext cx="10959522" cy="1097264"/>
          </a:xfrm>
        </p:spPr>
        <p:txBody>
          <a:bodyPr>
            <a:normAutofit fontScale="90000"/>
          </a:bodyPr>
          <a:lstStyle/>
          <a:p>
            <a:r>
              <a:rPr lang="en-NO" sz="5300" dirty="0"/>
              <a:t>Plan for forelesningen</a:t>
            </a:r>
            <a:br>
              <a:rPr lang="en-NO" dirty="0"/>
            </a:br>
            <a:br>
              <a:rPr lang="en-NO" dirty="0"/>
            </a:br>
            <a:br>
              <a:rPr lang="en-NO" dirty="0"/>
            </a:br>
            <a:br>
              <a:rPr lang="en-NO" dirty="0"/>
            </a:br>
            <a:endParaRPr lang="en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EFF26-F787-2345-8DA0-35D7BF06F2BB}"/>
              </a:ext>
            </a:extLst>
          </p:cNvPr>
          <p:cNvSpPr txBox="1"/>
          <p:nvPr/>
        </p:nvSpPr>
        <p:spPr>
          <a:xfrm>
            <a:off x="745588" y="2363372"/>
            <a:ext cx="5824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/>
              <a:t>Kropp og sinn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Descartes’ dualisme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Elisabeth av Böhmens innvending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Brevvekslingen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NO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03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6727" y="325369"/>
            <a:ext cx="4873449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Bevissthetsfilosofi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F0141-4416-9C43-BCE3-39E385A6F13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= </a:t>
            </a:r>
            <a:r>
              <a:rPr lang="en-US" sz="2200" dirty="0" err="1"/>
              <a:t>Sinnsfilosofi</a:t>
            </a:r>
            <a:endParaRPr lang="en-US" sz="2200" dirty="0"/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40EC8E3A-6A97-6A40-8EC4-4DCCF21FF5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491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D74C88D8-A1DC-1B43-C2DA-725691CF4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Bildeplansje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oup of people having a conversation&#10;&#10;Description automatically generated with medium confidence">
            <a:extLst>
              <a:ext uri="{FF2B5EF4-FFF2-40B4-BE49-F238E27FC236}">
                <a16:creationId xmlns:a16="http://schemas.microsoft.com/office/drawing/2014/main" id="{A6427A93-B618-A84B-A48F-A85D239186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8242"/>
          <a:stretch/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3" name="Picture 2" descr="A wooden chair with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1E6CA801-EF5B-DC43-ABEA-488301059D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72" t="4543" r="8813" b="8127"/>
          <a:stretch/>
        </p:blipFill>
        <p:spPr>
          <a:xfrm>
            <a:off x="6377050" y="165498"/>
            <a:ext cx="2824066" cy="3181644"/>
          </a:xfrm>
          <a:prstGeom prst="rect">
            <a:avLst/>
          </a:prstGeom>
        </p:spPr>
      </p:pic>
      <p:pic>
        <p:nvPicPr>
          <p:cNvPr id="5" name="Picture 4" descr="A cat and a dog&#10;&#10;Description automatically generated with medium confidence">
            <a:extLst>
              <a:ext uri="{FF2B5EF4-FFF2-40B4-BE49-F238E27FC236}">
                <a16:creationId xmlns:a16="http://schemas.microsoft.com/office/drawing/2014/main" id="{12CF412A-1F96-3445-9095-784877D554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08" r="-2" b="12278"/>
          <a:stretch/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9" name="Picture 8" descr="A large rock with moss growing on it&#10;&#10;Description automatically generated with low confidence">
            <a:extLst>
              <a:ext uri="{FF2B5EF4-FFF2-40B4-BE49-F238E27FC236}">
                <a16:creationId xmlns:a16="http://schemas.microsoft.com/office/drawing/2014/main" id="{F5D5DF91-3ED4-7A42-840C-DE52D8C943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370" b="22155"/>
          <a:stretch/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571FEA-2B72-B140-8E11-EEC7DA02E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ocket watch with roman numerals&#10;&#10;Description automatically generated">
            <a:extLst>
              <a:ext uri="{FF2B5EF4-FFF2-40B4-BE49-F238E27FC236}">
                <a16:creationId xmlns:a16="http://schemas.microsoft.com/office/drawing/2014/main" id="{EF1E2790-B7FD-9927-76D5-1ADC67A66A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96" t="2504" r="12660" b="13420"/>
          <a:stretch/>
        </p:blipFill>
        <p:spPr>
          <a:xfrm>
            <a:off x="9398336" y="165498"/>
            <a:ext cx="2594919" cy="31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7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6727" y="325369"/>
            <a:ext cx="4873449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Bevissthetsfilosofi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F0141-4416-9C43-BCE3-39E385A6F13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= </a:t>
            </a:r>
            <a:r>
              <a:rPr lang="en-US" sz="2200" dirty="0" err="1"/>
              <a:t>Sinnsfilosofi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Hva</a:t>
            </a:r>
            <a:r>
              <a:rPr lang="en-US" sz="2200" dirty="0"/>
              <a:t> er sinnet?</a:t>
            </a:r>
          </a:p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Hva</a:t>
            </a:r>
            <a:r>
              <a:rPr lang="en-US" sz="2200" dirty="0"/>
              <a:t> er </a:t>
            </a:r>
            <a:r>
              <a:rPr lang="en-US" sz="2200" dirty="0" err="1"/>
              <a:t>forholdet</a:t>
            </a:r>
            <a:r>
              <a:rPr lang="en-US" sz="2200" dirty="0"/>
              <a:t> </a:t>
            </a:r>
            <a:r>
              <a:rPr lang="en-US" sz="2200" dirty="0" err="1"/>
              <a:t>mellom</a:t>
            </a:r>
            <a:r>
              <a:rPr lang="en-US" sz="2200" dirty="0"/>
              <a:t> </a:t>
            </a:r>
            <a:r>
              <a:rPr lang="en-US" sz="2200" dirty="0" err="1"/>
              <a:t>kropp</a:t>
            </a:r>
            <a:r>
              <a:rPr lang="en-US" sz="2200" dirty="0"/>
              <a:t> </a:t>
            </a:r>
            <a:r>
              <a:rPr lang="en-US" sz="2200" dirty="0" err="1"/>
              <a:t>og</a:t>
            </a:r>
            <a:r>
              <a:rPr lang="en-US" sz="2200" dirty="0"/>
              <a:t> </a:t>
            </a:r>
            <a:r>
              <a:rPr lang="en-US" sz="2200" dirty="0" err="1"/>
              <a:t>sinn</a:t>
            </a:r>
            <a:r>
              <a:rPr lang="en-US" sz="2200" dirty="0"/>
              <a:t>?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40EC8E3A-6A97-6A40-8EC4-4DCCF21FF5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6079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Forholdet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mellom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kropp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og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sinn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F51BF-419F-FF40-ABA8-A8E98E4E86A7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Er sinnet </a:t>
            </a:r>
            <a:r>
              <a:rPr lang="en-US" sz="2800" dirty="0" err="1"/>
              <a:t>en</a:t>
            </a:r>
            <a:r>
              <a:rPr lang="en-US" sz="2800" dirty="0"/>
              <a:t> del av </a:t>
            </a:r>
            <a:r>
              <a:rPr lang="en-US" sz="2800" dirty="0" err="1"/>
              <a:t>kroppen</a:t>
            </a:r>
            <a:r>
              <a:rPr lang="en-US" sz="2800" dirty="0"/>
              <a:t> </a:t>
            </a:r>
            <a:r>
              <a:rPr lang="en-US" sz="2800" dirty="0" err="1"/>
              <a:t>vår</a:t>
            </a:r>
            <a:r>
              <a:rPr lang="en-US" sz="2800" dirty="0"/>
              <a:t>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Er sinnet </a:t>
            </a:r>
            <a:r>
              <a:rPr lang="en-US" sz="2800" dirty="0" err="1"/>
              <a:t>noe</a:t>
            </a:r>
            <a:r>
              <a:rPr lang="en-US" sz="2800" dirty="0"/>
              <a:t> </a:t>
            </a:r>
            <a:r>
              <a:rPr lang="en-US" sz="2800" dirty="0" err="1"/>
              <a:t>fysisk</a:t>
            </a:r>
            <a:r>
              <a:rPr lang="en-US" sz="2800" dirty="0"/>
              <a:t>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Hvordan</a:t>
            </a:r>
            <a:r>
              <a:rPr lang="en-US" sz="2800" dirty="0"/>
              <a:t>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kropp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sinn</a:t>
            </a:r>
            <a:r>
              <a:rPr lang="en-US" sz="2800" dirty="0"/>
              <a:t> </a:t>
            </a:r>
            <a:r>
              <a:rPr lang="en-US" sz="2800" dirty="0" err="1"/>
              <a:t>påvirke</a:t>
            </a:r>
            <a:r>
              <a:rPr lang="en-US" sz="2800" dirty="0"/>
              <a:t> </a:t>
            </a:r>
            <a:r>
              <a:rPr lang="en-US" sz="2800" dirty="0" err="1"/>
              <a:t>hverande</a:t>
            </a:r>
            <a:r>
              <a:rPr lang="en-US" sz="28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4CC5C-16B4-4A42-9F8B-0723E091F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21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person, person, old&#10;&#10;Description automatically generated">
            <a:extLst>
              <a:ext uri="{FF2B5EF4-FFF2-40B4-BE49-F238E27FC236}">
                <a16:creationId xmlns:a16="http://schemas.microsoft.com/office/drawing/2014/main" id="{7759E958-BE6B-A941-8EE9-C2E3D9C0B7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8E8FD0-395C-C54C-8334-D6E2FFEC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0000" y="4972050"/>
            <a:ext cx="4038600" cy="1390650"/>
          </a:xfrm>
          <a:prstGeom prst="roundRect">
            <a:avLst/>
          </a:prstGeom>
          <a:solidFill>
            <a:schemeClr val="bg1">
              <a:lumMod val="65000"/>
              <a:lumOff val="35000"/>
              <a:alpha val="80000"/>
            </a:schemeClr>
          </a:solidFill>
          <a:ln>
            <a:noFill/>
          </a:ln>
          <a:effectLst>
            <a:glow rad="285849">
              <a:schemeClr val="bg1">
                <a:lumMod val="65000"/>
                <a:lumOff val="35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5C101-E339-5648-91C3-4742F65667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67150" y="5168265"/>
            <a:ext cx="4038600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Phineas</a:t>
            </a:r>
            <a:r>
              <a:rPr kumimoji="0" lang="nb-NO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717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4831EF3-484D-CCB3-80E5-8859BC57F1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Normal hjerne kontra hjerne med Alzheimer</a:t>
            </a:r>
          </a:p>
        </p:txBody>
      </p:sp>
      <p:pic>
        <p:nvPicPr>
          <p:cNvPr id="7" name="Picture 6" descr="A comparison of the same brain&#10;&#10;Description automatically generated">
            <a:extLst>
              <a:ext uri="{FF2B5EF4-FFF2-40B4-BE49-F238E27FC236}">
                <a16:creationId xmlns:a16="http://schemas.microsoft.com/office/drawing/2014/main" id="{49DA1BC9-039D-26B0-D8D8-AE15E8587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266" y="457200"/>
            <a:ext cx="597346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5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79D79DE-FBD7-DB70-0422-7CD0F3E30D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The Human Brain</a:t>
            </a:r>
          </a:p>
        </p:txBody>
      </p:sp>
      <p:pic>
        <p:nvPicPr>
          <p:cNvPr id="4" name="Picture 3" descr="A diagram of the human brain&#10;&#10;Description automatically generated">
            <a:extLst>
              <a:ext uri="{FF2B5EF4-FFF2-40B4-BE49-F238E27FC236}">
                <a16:creationId xmlns:a16="http://schemas.microsoft.com/office/drawing/2014/main" id="{D8CE72AD-5A3B-471B-3AAB-5594A0381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366" y="457200"/>
            <a:ext cx="837126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5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8558839-0873-4376-AE92-C48699D22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2B8A2B3-9838-8A8F-861B-EC01B7CCE5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The Human Brain (2)</a:t>
            </a:r>
          </a:p>
        </p:txBody>
      </p:sp>
      <p:pic>
        <p:nvPicPr>
          <p:cNvPr id="5" name="Picture 4" descr="Picture of Phineas Gage">
            <a:extLst>
              <a:ext uri="{FF2B5EF4-FFF2-40B4-BE49-F238E27FC236}">
                <a16:creationId xmlns:a16="http://schemas.microsoft.com/office/drawing/2014/main" id="{064B88A0-DBB4-EEBC-D43C-D173E716A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8" r="5925" b="1"/>
          <a:stretch/>
        </p:blipFill>
        <p:spPr>
          <a:xfrm>
            <a:off x="20" y="10"/>
            <a:ext cx="4654276" cy="6857990"/>
          </a:xfrm>
          <a:prstGeom prst="rect">
            <a:avLst/>
          </a:prstGeom>
        </p:spPr>
      </p:pic>
      <p:pic>
        <p:nvPicPr>
          <p:cNvPr id="3" name="Picture 2" descr="A diagram of a human brain&#10;&#10;Description automatically generated">
            <a:extLst>
              <a:ext uri="{FF2B5EF4-FFF2-40B4-BE49-F238E27FC236}">
                <a16:creationId xmlns:a16="http://schemas.microsoft.com/office/drawing/2014/main" id="{7FD4A562-9969-4FF3-30F2-522B6125A9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23" t="-1" r="11068" b="-1"/>
          <a:stretch/>
        </p:blipFill>
        <p:spPr>
          <a:xfrm>
            <a:off x="5352565" y="0"/>
            <a:ext cx="815284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8DCA2-EDDC-D028-8282-F552DD0D988E}"/>
              </a:ext>
            </a:extLst>
          </p:cNvPr>
          <p:cNvSpPr txBox="1"/>
          <p:nvPr/>
        </p:nvSpPr>
        <p:spPr>
          <a:xfrm>
            <a:off x="5352565" y="5057502"/>
            <a:ext cx="4076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dirty="0"/>
              <a:t>Forhindrer sosialt upassende oppførsel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dirty="0"/>
              <a:t>Forutsier konsekvenser av handlinger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dirty="0"/>
              <a:t>Spiller en rolle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valget</a:t>
            </a:r>
            <a:r>
              <a:rPr lang="en-GB" dirty="0"/>
              <a:t> </a:t>
            </a:r>
            <a:r>
              <a:rPr lang="en-GB" dirty="0" err="1"/>
              <a:t>mellom</a:t>
            </a:r>
            <a:r>
              <a:rPr lang="en-GB" dirty="0"/>
              <a:t> </a:t>
            </a:r>
            <a:r>
              <a:rPr lang="en-GB" dirty="0" err="1"/>
              <a:t>gode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dårlige</a:t>
            </a:r>
            <a:r>
              <a:rPr lang="en-GB" dirty="0"/>
              <a:t> </a:t>
            </a:r>
            <a:r>
              <a:rPr lang="en-GB" dirty="0" err="1"/>
              <a:t>handlinger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79298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D6B134F-BAB3-EC95-B1D0-E56B8A8DC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Bildeplansje: On or </a:t>
            </a:r>
            <a:r>
              <a:rPr lang="nb-NO" dirty="0" err="1"/>
              <a:t>Off</a:t>
            </a:r>
            <a:endParaRPr lang="nb-NO" dirty="0"/>
          </a:p>
        </p:txBody>
      </p:sp>
      <p:pic>
        <p:nvPicPr>
          <p:cNvPr id="3" name="Picture 2" descr="Drawing of a lightbulb being either on or off.">
            <a:extLst>
              <a:ext uri="{FF2B5EF4-FFF2-40B4-BE49-F238E27FC236}">
                <a16:creationId xmlns:a16="http://schemas.microsoft.com/office/drawing/2014/main" id="{BF23326C-E56E-9246-B6EB-71A5F55D2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89"/>
          <a:stretch/>
        </p:blipFill>
        <p:spPr>
          <a:xfrm>
            <a:off x="741983" y="457200"/>
            <a:ext cx="1070803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8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Metafysiske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spørsmål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F51BF-419F-FF40-ABA8-A8E98E4E86A7}"/>
              </a:ext>
            </a:extLst>
          </p:cNvPr>
          <p:cNvSpPr txBox="1"/>
          <p:nvPr/>
        </p:nvSpPr>
        <p:spPr>
          <a:xfrm>
            <a:off x="-249176" y="2750067"/>
            <a:ext cx="5697475" cy="33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62865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Handler om </a:t>
            </a:r>
            <a:r>
              <a:rPr lang="en-US" sz="2800" dirty="0" err="1"/>
              <a:t>hva</a:t>
            </a:r>
            <a:r>
              <a:rPr lang="en-US" sz="2800" dirty="0"/>
              <a:t> </a:t>
            </a:r>
            <a:r>
              <a:rPr lang="en-US" sz="2800" dirty="0" err="1"/>
              <a:t>som</a:t>
            </a:r>
            <a:r>
              <a:rPr lang="en-US" sz="2800" dirty="0"/>
              <a:t> </a:t>
            </a:r>
            <a:r>
              <a:rPr lang="en-US" sz="2800" dirty="0" err="1"/>
              <a:t>eksisterer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</a:t>
            </a:r>
            <a:r>
              <a:rPr lang="en-US" sz="2800" dirty="0" err="1"/>
              <a:t>hvilken</a:t>
            </a:r>
            <a:r>
              <a:rPr lang="en-US" sz="2800" dirty="0"/>
              <a:t> </a:t>
            </a:r>
            <a:r>
              <a:rPr lang="en-US" sz="2800" dirty="0" err="1"/>
              <a:t>måte</a:t>
            </a:r>
            <a:r>
              <a:rPr lang="en-US" sz="2800" dirty="0"/>
              <a:t> </a:t>
            </a:r>
            <a:r>
              <a:rPr lang="en-US" sz="2800" dirty="0" err="1"/>
              <a:t>noe</a:t>
            </a:r>
            <a:r>
              <a:rPr lang="en-US" sz="2800" dirty="0"/>
              <a:t> </a:t>
            </a:r>
            <a:r>
              <a:rPr lang="en-US" sz="2800" dirty="0" err="1"/>
              <a:t>eksisterer</a:t>
            </a:r>
            <a:r>
              <a:rPr lang="en-US" sz="2800" dirty="0"/>
              <a:t>:</a:t>
            </a:r>
          </a:p>
          <a:p>
            <a:pPr marL="865187" lvl="2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Eksisterer</a:t>
            </a:r>
            <a:r>
              <a:rPr lang="en-US" sz="2800" dirty="0"/>
              <a:t> sinnet </a:t>
            </a:r>
            <a:r>
              <a:rPr lang="en-US" sz="2800" dirty="0" err="1"/>
              <a:t>som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abstrakt</a:t>
            </a:r>
            <a:r>
              <a:rPr lang="en-US" sz="2800" dirty="0"/>
              <a:t> </a:t>
            </a:r>
            <a:r>
              <a:rPr lang="en-US" sz="2800" dirty="0" err="1"/>
              <a:t>størrelse</a:t>
            </a:r>
            <a:r>
              <a:rPr lang="en-US" sz="2800" dirty="0"/>
              <a:t>?</a:t>
            </a:r>
          </a:p>
          <a:p>
            <a:pPr marL="865187" lvl="2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Er sinnet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materiell</a:t>
            </a:r>
            <a:r>
              <a:rPr lang="en-US" sz="2800" dirty="0"/>
              <a:t> </a:t>
            </a:r>
            <a:r>
              <a:rPr lang="en-US" sz="2800" dirty="0" err="1"/>
              <a:t>størrelse</a:t>
            </a:r>
            <a:r>
              <a:rPr lang="en-US" sz="2800" dirty="0"/>
              <a:t>?</a:t>
            </a:r>
          </a:p>
          <a:p>
            <a:pPr marL="865187" lvl="2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Er </a:t>
            </a:r>
            <a:r>
              <a:rPr lang="en-US" sz="2800" dirty="0" err="1"/>
              <a:t>mentale</a:t>
            </a:r>
            <a:r>
              <a:rPr lang="en-US" sz="2800" dirty="0"/>
              <a:t> </a:t>
            </a:r>
            <a:r>
              <a:rPr lang="en-US" sz="2800" dirty="0" err="1"/>
              <a:t>egenskaper</a:t>
            </a:r>
            <a:r>
              <a:rPr lang="en-US" sz="2800" dirty="0"/>
              <a:t> </a:t>
            </a:r>
            <a:r>
              <a:rPr lang="en-US" sz="2800" dirty="0" err="1"/>
              <a:t>materielle</a:t>
            </a:r>
            <a:r>
              <a:rPr lang="en-US" sz="2800" dirty="0"/>
              <a:t> </a:t>
            </a:r>
            <a:r>
              <a:rPr lang="en-US" sz="2800" dirty="0" err="1"/>
              <a:t>egenskaper</a:t>
            </a:r>
            <a:r>
              <a:rPr lang="en-US" sz="28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4CC5C-16B4-4A42-9F8B-0723E091F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45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33EC578-EC38-763D-0D2F-EDC48048B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Fire begreper</a:t>
            </a:r>
          </a:p>
        </p:txBody>
      </p:sp>
      <p:graphicFrame>
        <p:nvGraphicFramePr>
          <p:cNvPr id="2" name="Table 1" descr="Egenskapsmaterialisme/Egenskapsdualisme&#10;&#10;Substansmaterialisme/Substansdualisme">
            <a:extLst>
              <a:ext uri="{FF2B5EF4-FFF2-40B4-BE49-F238E27FC236}">
                <a16:creationId xmlns:a16="http://schemas.microsoft.com/office/drawing/2014/main" id="{10BC7D73-2F05-41BB-27FB-74242F9FB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48209"/>
              </p:ext>
            </p:extLst>
          </p:nvPr>
        </p:nvGraphicFramePr>
        <p:xfrm>
          <a:off x="643467" y="792643"/>
          <a:ext cx="10905066" cy="5272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533">
                  <a:extLst>
                    <a:ext uri="{9D8B030D-6E8A-4147-A177-3AD203B41FA5}">
                      <a16:colId xmlns:a16="http://schemas.microsoft.com/office/drawing/2014/main" val="44225210"/>
                    </a:ext>
                  </a:extLst>
                </a:gridCol>
                <a:gridCol w="5452533">
                  <a:extLst>
                    <a:ext uri="{9D8B030D-6E8A-4147-A177-3AD203B41FA5}">
                      <a16:colId xmlns:a16="http://schemas.microsoft.com/office/drawing/2014/main" val="195225554"/>
                    </a:ext>
                  </a:extLst>
                </a:gridCol>
              </a:tblGrid>
              <a:tr h="2636357">
                <a:tc>
                  <a:txBody>
                    <a:bodyPr/>
                    <a:lstStyle/>
                    <a:p>
                      <a:pPr algn="ctr"/>
                      <a:endParaRPr lang="en-NO" sz="2000" dirty="0"/>
                    </a:p>
                    <a:p>
                      <a:pPr algn="ctr"/>
                      <a:endParaRPr lang="en-NO" sz="2000" dirty="0"/>
                    </a:p>
                    <a:p>
                      <a:pPr algn="ctr"/>
                      <a:endParaRPr lang="en-NO" sz="2000" dirty="0"/>
                    </a:p>
                    <a:p>
                      <a:pPr algn="ctr"/>
                      <a:endParaRPr lang="en-NO" sz="2000" dirty="0"/>
                    </a:p>
                    <a:p>
                      <a:pPr algn="ctr"/>
                      <a:r>
                        <a:rPr lang="en-NO" sz="4100" dirty="0">
                          <a:solidFill>
                            <a:schemeClr val="tx1"/>
                          </a:solidFill>
                        </a:rPr>
                        <a:t>Egenskaps</a:t>
                      </a:r>
                      <a:r>
                        <a:rPr lang="en-NO" sz="4100" u="sng" dirty="0">
                          <a:solidFill>
                            <a:schemeClr val="tx1"/>
                          </a:solidFill>
                        </a:rPr>
                        <a:t>materialisme</a:t>
                      </a:r>
                    </a:p>
                  </a:txBody>
                  <a:tcPr marL="103794" marR="103794" marT="51897" marB="518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4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41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4100" dirty="0">
                          <a:solidFill>
                            <a:schemeClr val="tx1"/>
                          </a:solidFill>
                        </a:rPr>
                        <a:t>Egenskaps</a:t>
                      </a:r>
                      <a:r>
                        <a:rPr lang="en-NO" sz="4100" u="sng" dirty="0">
                          <a:solidFill>
                            <a:schemeClr val="tx1"/>
                          </a:solidFill>
                        </a:rPr>
                        <a:t>dualisme</a:t>
                      </a:r>
                    </a:p>
                    <a:p>
                      <a:endParaRPr lang="en-NO" sz="2000" dirty="0"/>
                    </a:p>
                  </a:txBody>
                  <a:tcPr marL="103794" marR="103794" marT="51897" marB="5189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828955"/>
                  </a:ext>
                </a:extLst>
              </a:tr>
              <a:tr h="2636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2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4100" b="1" dirty="0">
                          <a:solidFill>
                            <a:schemeClr val="tx1"/>
                          </a:solidFill>
                        </a:rPr>
                        <a:t>Substans</a:t>
                      </a:r>
                      <a:r>
                        <a:rPr lang="en-NO" sz="4100" b="1" u="sng" dirty="0">
                          <a:solidFill>
                            <a:schemeClr val="tx1"/>
                          </a:solidFill>
                        </a:rPr>
                        <a:t>materialisme</a:t>
                      </a:r>
                    </a:p>
                    <a:p>
                      <a:endParaRPr lang="en-NO" sz="2000" dirty="0"/>
                    </a:p>
                  </a:txBody>
                  <a:tcPr marL="103794" marR="103794" marT="51897" marB="518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NO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O" sz="41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O" sz="4100" b="1" dirty="0">
                          <a:solidFill>
                            <a:schemeClr val="tx1"/>
                          </a:solidFill>
                        </a:rPr>
                        <a:t>Substans</a:t>
                      </a:r>
                      <a:r>
                        <a:rPr lang="en-NO" sz="4100" b="1" u="sng" dirty="0">
                          <a:solidFill>
                            <a:schemeClr val="tx1"/>
                          </a:solidFill>
                        </a:rPr>
                        <a:t>dualisme</a:t>
                      </a:r>
                    </a:p>
                    <a:p>
                      <a:endParaRPr lang="en-NO" sz="2000" dirty="0"/>
                    </a:p>
                  </a:txBody>
                  <a:tcPr marL="103794" marR="103794" marT="51897" marB="5189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1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445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00AE2-FBB1-C948-9836-5313B327EB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Substanser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og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egenskaper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1594D61-1DC6-4790-A1D7-BCDB7B5F8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26299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803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F630D-59E5-D143-9F95-537C5B45E0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Spørsmål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C751EC22-1070-4BEC-90AD-41C9A3217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30188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66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Materialisme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F51BF-419F-FF40-ABA8-A8E98E4E86A7}"/>
              </a:ext>
            </a:extLst>
          </p:cNvPr>
          <p:cNvSpPr txBox="1"/>
          <p:nvPr/>
        </p:nvSpPr>
        <p:spPr>
          <a:xfrm>
            <a:off x="-1525" y="3305699"/>
            <a:ext cx="5460630" cy="2765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00050">
              <a:lnSpc>
                <a:spcPct val="90000"/>
              </a:lnSpc>
              <a:spcAft>
                <a:spcPts val="1200"/>
              </a:spcAft>
            </a:pPr>
            <a:r>
              <a:rPr lang="en-US" sz="2800" dirty="0" err="1"/>
              <a:t>Substansmaterialisme</a:t>
            </a:r>
            <a:r>
              <a:rPr lang="en-US" sz="2800" dirty="0"/>
              <a:t>:</a:t>
            </a:r>
          </a:p>
          <a:p>
            <a:pPr marL="857250" indent="-4572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Alle ting er </a:t>
            </a:r>
            <a:r>
              <a:rPr lang="en-US" sz="2800" dirty="0" err="1"/>
              <a:t>materielle</a:t>
            </a:r>
            <a:r>
              <a:rPr lang="en-US" sz="2800" dirty="0"/>
              <a:t> ting.</a:t>
            </a:r>
          </a:p>
          <a:p>
            <a:pPr marL="400050">
              <a:lnSpc>
                <a:spcPct val="90000"/>
              </a:lnSpc>
              <a:spcAft>
                <a:spcPts val="1200"/>
              </a:spcAft>
            </a:pPr>
            <a:r>
              <a:rPr lang="en-US" sz="2800" dirty="0" err="1"/>
              <a:t>Egenskapsmaterialisme</a:t>
            </a:r>
            <a:r>
              <a:rPr lang="en-US" sz="2800" dirty="0"/>
              <a:t>:</a:t>
            </a:r>
          </a:p>
          <a:p>
            <a:pPr marL="857250" indent="-4572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Alle </a:t>
            </a:r>
            <a:r>
              <a:rPr lang="en-US" sz="2800" dirty="0" err="1"/>
              <a:t>sinnstilstander</a:t>
            </a:r>
            <a:r>
              <a:rPr lang="en-US" sz="2800" dirty="0"/>
              <a:t> er </a:t>
            </a:r>
            <a:r>
              <a:rPr lang="en-US" sz="2800" dirty="0" err="1"/>
              <a:t>identiske</a:t>
            </a:r>
            <a:r>
              <a:rPr lang="en-US" sz="2800" dirty="0"/>
              <a:t> med </a:t>
            </a:r>
            <a:r>
              <a:rPr lang="en-US" sz="2800" dirty="0" err="1"/>
              <a:t>materielle</a:t>
            </a:r>
            <a:r>
              <a:rPr lang="en-US" sz="2800" dirty="0"/>
              <a:t> </a:t>
            </a:r>
            <a:r>
              <a:rPr lang="en-US" sz="2800" dirty="0" err="1"/>
              <a:t>tilstander</a:t>
            </a:r>
            <a:r>
              <a:rPr lang="en-US" sz="2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4CC5C-16B4-4A42-9F8B-0723E091F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329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FE78-3F74-8190-29D5-A9A0FE9C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O" dirty="0"/>
              <a:t>Frank Jackson: What Mary didn’t know (1986)</a:t>
            </a:r>
          </a:p>
        </p:txBody>
      </p:sp>
      <p:pic>
        <p:nvPicPr>
          <p:cNvPr id="4" name="Picture 3" descr="A cartoon of a person in a room&#10;&#10;Description automatically generated">
            <a:extLst>
              <a:ext uri="{FF2B5EF4-FFF2-40B4-BE49-F238E27FC236}">
                <a16:creationId xmlns:a16="http://schemas.microsoft.com/office/drawing/2014/main" id="{D0425DAF-CFB4-A30B-FBA7-58678199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05" y="1445895"/>
            <a:ext cx="9540023" cy="504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6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FE78-3F74-8190-29D5-A9A0FE9C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O" dirty="0"/>
              <a:t>Frank Jackson: What Mary didn’t know (1986)</a:t>
            </a:r>
          </a:p>
        </p:txBody>
      </p:sp>
      <p:pic>
        <p:nvPicPr>
          <p:cNvPr id="5" name="Picture 4" descr="Cartoon of a person in a white dress&#10;&#10;Description automatically generated">
            <a:extLst>
              <a:ext uri="{FF2B5EF4-FFF2-40B4-BE49-F238E27FC236}">
                <a16:creationId xmlns:a16="http://schemas.microsoft.com/office/drawing/2014/main" id="{8591E871-8DB0-E6E3-3BEF-D48F6CAC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02" y="1549977"/>
            <a:ext cx="9047596" cy="481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04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3899" y="325369"/>
            <a:ext cx="4694783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Egenskapsdualisme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F51BF-419F-FF40-ABA8-A8E98E4E86A7}"/>
              </a:ext>
            </a:extLst>
          </p:cNvPr>
          <p:cNvSpPr txBox="1"/>
          <p:nvPr/>
        </p:nvSpPr>
        <p:spPr>
          <a:xfrm>
            <a:off x="95534" y="2768574"/>
            <a:ext cx="5216168" cy="4071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637794" indent="-342900" defTabSz="786384">
              <a:spcBef>
                <a:spcPts val="1700"/>
              </a:spcBef>
              <a:buFont typeface="Arial" panose="020B0604020202020204" pitchFamily="34" charset="0"/>
              <a:buChar char="•"/>
              <a:defRPr sz="2064"/>
            </a:pPr>
            <a:r>
              <a:rPr lang="en-GB" dirty="0"/>
              <a:t>Det </a:t>
            </a:r>
            <a:r>
              <a:rPr lang="en-GB" dirty="0" err="1"/>
              <a:t>finnes</a:t>
            </a:r>
            <a:r>
              <a:rPr lang="en-GB" dirty="0"/>
              <a:t> bare </a:t>
            </a:r>
            <a:r>
              <a:rPr lang="en-GB" dirty="0" err="1"/>
              <a:t>én</a:t>
            </a:r>
            <a:r>
              <a:rPr lang="en-GB" dirty="0"/>
              <a:t> type </a:t>
            </a:r>
            <a:r>
              <a:rPr lang="en-GB" dirty="0" err="1"/>
              <a:t>substans</a:t>
            </a:r>
            <a:r>
              <a:rPr lang="en-GB" dirty="0"/>
              <a:t>: </a:t>
            </a:r>
            <a:r>
              <a:rPr lang="en-GB" dirty="0" err="1"/>
              <a:t>fysiske</a:t>
            </a:r>
            <a:r>
              <a:rPr lang="en-GB" dirty="0"/>
              <a:t>/</a:t>
            </a:r>
            <a:r>
              <a:rPr lang="en-GB" dirty="0" err="1"/>
              <a:t>materielle</a:t>
            </a:r>
            <a:r>
              <a:rPr lang="en-GB" dirty="0"/>
              <a:t> </a:t>
            </a:r>
            <a:r>
              <a:rPr lang="en-GB" dirty="0" err="1"/>
              <a:t>substanser</a:t>
            </a:r>
            <a:r>
              <a:rPr lang="en-GB" dirty="0"/>
              <a:t>.</a:t>
            </a:r>
          </a:p>
          <a:p>
            <a:pPr marL="637794" indent="-342900" defTabSz="786384">
              <a:spcBef>
                <a:spcPts val="1700"/>
              </a:spcBef>
              <a:buFont typeface="Arial" panose="020B0604020202020204" pitchFamily="34" charset="0"/>
              <a:buChar char="•"/>
              <a:defRPr sz="2064"/>
            </a:pPr>
            <a:r>
              <a:rPr lang="en-GB" dirty="0"/>
              <a:t>Det </a:t>
            </a:r>
            <a:r>
              <a:rPr lang="en-GB" dirty="0" err="1"/>
              <a:t>finnes</a:t>
            </a:r>
            <a:r>
              <a:rPr lang="en-GB" dirty="0"/>
              <a:t> to </a:t>
            </a:r>
            <a:r>
              <a:rPr lang="en-GB" dirty="0" err="1"/>
              <a:t>typer</a:t>
            </a:r>
            <a:r>
              <a:rPr lang="en-GB" dirty="0"/>
              <a:t> </a:t>
            </a:r>
            <a:r>
              <a:rPr lang="en-GB" dirty="0" err="1"/>
              <a:t>egenskaper</a:t>
            </a:r>
            <a:r>
              <a:rPr lang="en-GB" dirty="0"/>
              <a:t>:</a:t>
            </a:r>
          </a:p>
          <a:p>
            <a:pPr marL="841216" lvl="2" indent="-342900" defTabSz="786384">
              <a:spcBef>
                <a:spcPts val="1700"/>
              </a:spcBef>
              <a:buFont typeface="Arial" panose="020B0604020202020204" pitchFamily="34" charset="0"/>
              <a:buChar char="•"/>
              <a:defRPr sz="2064"/>
            </a:pPr>
            <a:r>
              <a:rPr lang="en-GB" dirty="0" err="1"/>
              <a:t>Mentale</a:t>
            </a:r>
            <a:r>
              <a:rPr lang="en-GB" dirty="0"/>
              <a:t> </a:t>
            </a:r>
            <a:r>
              <a:rPr lang="en-GB" dirty="0" err="1"/>
              <a:t>egenskaper</a:t>
            </a:r>
            <a:endParaRPr lang="en-GB" dirty="0"/>
          </a:p>
          <a:p>
            <a:pPr marL="841216" lvl="2" indent="-342900" defTabSz="786384">
              <a:spcBef>
                <a:spcPts val="1700"/>
              </a:spcBef>
              <a:buFont typeface="Arial" panose="020B0604020202020204" pitchFamily="34" charset="0"/>
              <a:buChar char="•"/>
              <a:defRPr sz="2064"/>
            </a:pPr>
            <a:r>
              <a:rPr lang="en-GB" dirty="0" err="1"/>
              <a:t>Fysiske</a:t>
            </a:r>
            <a:r>
              <a:rPr lang="en-GB" dirty="0"/>
              <a:t> </a:t>
            </a:r>
            <a:r>
              <a:rPr lang="en-GB" dirty="0" err="1"/>
              <a:t>egenskaper</a:t>
            </a:r>
            <a:endParaRPr lang="en-GB" dirty="0"/>
          </a:p>
          <a:p>
            <a:pPr marL="637794" indent="-342900" defTabSz="786384">
              <a:spcBef>
                <a:spcPts val="1700"/>
              </a:spcBef>
              <a:buFont typeface="Arial" panose="020B0604020202020204" pitchFamily="34" charset="0"/>
              <a:buChar char="•"/>
              <a:defRPr sz="2064"/>
            </a:pPr>
            <a:r>
              <a:rPr lang="en-GB" dirty="0" err="1"/>
              <a:t>Mentale</a:t>
            </a:r>
            <a:r>
              <a:rPr lang="en-GB" dirty="0"/>
              <a:t> </a:t>
            </a:r>
            <a:r>
              <a:rPr lang="en-GB" dirty="0" err="1"/>
              <a:t>egenskaper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ikke</a:t>
            </a:r>
            <a:r>
              <a:rPr lang="en-GB" dirty="0"/>
              <a:t> </a:t>
            </a:r>
            <a:r>
              <a:rPr lang="en-GB" dirty="0" err="1"/>
              <a:t>reduseres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fysiske</a:t>
            </a:r>
            <a:r>
              <a:rPr lang="en-GB" dirty="0"/>
              <a:t> </a:t>
            </a:r>
            <a:r>
              <a:rPr lang="en-GB" dirty="0" err="1"/>
              <a:t>egenskaper</a:t>
            </a:r>
            <a:r>
              <a:rPr lang="en-GB" dirty="0"/>
              <a:t>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5AC675-E68C-094B-8249-4084564B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3746926"/>
            <a:ext cx="4305300" cy="2439495"/>
          </a:xfrm>
          <a:prstGeom prst="round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20584C-EDAA-F544-81FF-3F96C022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1650" y="1123950"/>
            <a:ext cx="2324100" cy="2266950"/>
          </a:xfrm>
          <a:prstGeom prst="ellipse">
            <a:avLst/>
          </a:prstGeom>
          <a:solidFill>
            <a:schemeClr val="accent1">
              <a:alpha val="3882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DAD021-26CD-474B-8C4E-B99F0B6C9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6198" y="1123950"/>
            <a:ext cx="2324100" cy="2266950"/>
          </a:xfrm>
          <a:prstGeom prst="ellipse">
            <a:avLst/>
          </a:prstGeom>
          <a:solidFill>
            <a:srgbClr val="FF0000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E82D1-F81E-1949-A1C5-D724B66DCACD}"/>
              </a:ext>
            </a:extLst>
          </p:cNvPr>
          <p:cNvSpPr txBox="1"/>
          <p:nvPr/>
        </p:nvSpPr>
        <p:spPr>
          <a:xfrm>
            <a:off x="5855264" y="1841926"/>
            <a:ext cx="1803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dirty="0"/>
              <a:t>Fysiske egenskaper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DF7C3-8478-4141-A5AB-3F1E0183311B}"/>
              </a:ext>
            </a:extLst>
          </p:cNvPr>
          <p:cNvSpPr txBox="1"/>
          <p:nvPr/>
        </p:nvSpPr>
        <p:spPr>
          <a:xfrm>
            <a:off x="8608832" y="1841926"/>
            <a:ext cx="1803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400" dirty="0"/>
              <a:t>Mentale egenskaper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49965-7CBC-BF46-9FB1-62B6E6293AC6}"/>
              </a:ext>
            </a:extLst>
          </p:cNvPr>
          <p:cNvSpPr txBox="1">
            <a:spLocks/>
          </p:cNvSpPr>
          <p:nvPr/>
        </p:nvSpPr>
        <p:spPr>
          <a:xfrm>
            <a:off x="6192933" y="4388638"/>
            <a:ext cx="3959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Fysisk substans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D3458D-4468-754F-8458-C15B067D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953250" y="3390900"/>
            <a:ext cx="247650" cy="3560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CE13B2-462A-EE49-A5F7-84943A59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991600" y="3380782"/>
            <a:ext cx="285750" cy="3661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5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3899" y="325369"/>
            <a:ext cx="4694783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Substansdualisme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F51BF-419F-FF40-ABA8-A8E98E4E86A7}"/>
              </a:ext>
            </a:extLst>
          </p:cNvPr>
          <p:cNvSpPr txBox="1"/>
          <p:nvPr/>
        </p:nvSpPr>
        <p:spPr>
          <a:xfrm>
            <a:off x="95534" y="3035274"/>
            <a:ext cx="5513696" cy="4071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Det </a:t>
            </a:r>
            <a:r>
              <a:rPr lang="en-GB" sz="2800" dirty="0" err="1"/>
              <a:t>mentale</a:t>
            </a:r>
            <a:r>
              <a:rPr lang="en-GB" sz="2800" dirty="0"/>
              <a:t> er </a:t>
            </a:r>
            <a:r>
              <a:rPr lang="en-GB" sz="2800" dirty="0" err="1"/>
              <a:t>en</a:t>
            </a:r>
            <a:r>
              <a:rPr lang="en-GB" sz="2800" dirty="0"/>
              <a:t> </a:t>
            </a:r>
            <a:r>
              <a:rPr lang="en-GB" sz="2800" dirty="0" err="1"/>
              <a:t>egen</a:t>
            </a:r>
            <a:r>
              <a:rPr lang="en-GB" sz="2800" dirty="0"/>
              <a:t> </a:t>
            </a:r>
            <a:r>
              <a:rPr lang="en-GB" sz="2800" dirty="0" err="1"/>
              <a:t>substans</a:t>
            </a:r>
            <a:r>
              <a:rPr lang="en-GB" sz="2800" dirty="0"/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Mental </a:t>
            </a:r>
            <a:r>
              <a:rPr lang="en-GB" sz="2800" dirty="0" err="1"/>
              <a:t>substans</a:t>
            </a:r>
            <a:r>
              <a:rPr lang="en-GB" sz="2800" dirty="0"/>
              <a:t> </a:t>
            </a:r>
            <a:r>
              <a:rPr lang="en-NO" sz="2800" dirty="0"/>
              <a:t>≠</a:t>
            </a:r>
            <a:r>
              <a:rPr lang="en-GB" sz="2800" dirty="0"/>
              <a:t> </a:t>
            </a:r>
            <a:r>
              <a:rPr lang="en-GB" sz="2800" dirty="0" err="1"/>
              <a:t>fysisk</a:t>
            </a:r>
            <a:r>
              <a:rPr lang="en-GB" sz="2800" dirty="0"/>
              <a:t> </a:t>
            </a:r>
            <a:r>
              <a:rPr lang="en-GB" sz="2800" dirty="0" err="1"/>
              <a:t>substans</a:t>
            </a:r>
            <a:r>
              <a:rPr lang="en-GB" sz="2800" dirty="0"/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 err="1"/>
              <a:t>Noen</a:t>
            </a:r>
            <a:r>
              <a:rPr lang="en-GB" sz="2800" dirty="0"/>
              <a:t> ganger </a:t>
            </a:r>
            <a:r>
              <a:rPr lang="en-GB" sz="2800" dirty="0" err="1"/>
              <a:t>kalt</a:t>
            </a:r>
            <a:r>
              <a:rPr lang="en-GB" sz="2800" dirty="0"/>
              <a:t> ‘</a:t>
            </a:r>
            <a:r>
              <a:rPr lang="en-GB" sz="2800" dirty="0" err="1"/>
              <a:t>Kartesiansk</a:t>
            </a:r>
            <a:r>
              <a:rPr lang="en-GB" sz="2800" dirty="0"/>
              <a:t> </a:t>
            </a:r>
            <a:r>
              <a:rPr lang="en-GB" sz="2800" dirty="0" err="1"/>
              <a:t>dualisme</a:t>
            </a:r>
            <a:r>
              <a:rPr lang="en-GB" sz="2800" dirty="0"/>
              <a:t>’.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7AE57-A342-A444-A7B8-2FAE30BD0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3746926"/>
            <a:ext cx="4305300" cy="2439495"/>
          </a:xfrm>
          <a:prstGeom prst="round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DA1F2-0BBA-D243-9E33-0AD7EE42BB48}"/>
              </a:ext>
            </a:extLst>
          </p:cNvPr>
          <p:cNvSpPr txBox="1"/>
          <p:nvPr/>
        </p:nvSpPr>
        <p:spPr>
          <a:xfrm>
            <a:off x="6192933" y="4388638"/>
            <a:ext cx="3959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Fysisk substans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822468-7F69-9049-AC6D-1A128FDDB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1062462"/>
            <a:ext cx="4305300" cy="2439495"/>
          </a:xfrm>
          <a:prstGeom prst="roundRect">
            <a:avLst/>
          </a:prstGeom>
          <a:solidFill>
            <a:srgbClr val="FF0000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53E4E-9320-D247-8084-55911A77E958}"/>
              </a:ext>
            </a:extLst>
          </p:cNvPr>
          <p:cNvSpPr txBox="1"/>
          <p:nvPr/>
        </p:nvSpPr>
        <p:spPr>
          <a:xfrm>
            <a:off x="6021483" y="1818474"/>
            <a:ext cx="42865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Mental substans</a:t>
            </a:r>
          </a:p>
        </p:txBody>
      </p:sp>
    </p:spTree>
    <p:extLst>
      <p:ext uri="{BB962C8B-B14F-4D97-AF65-F5344CB8AC3E}">
        <p14:creationId xmlns:p14="http://schemas.microsoft.com/office/powerpoint/2010/main" val="344568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F730D-870C-5A49-8658-BB46EAEBD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241" y="647130"/>
            <a:ext cx="10959522" cy="1097264"/>
          </a:xfrm>
        </p:spPr>
        <p:txBody>
          <a:bodyPr>
            <a:normAutofit fontScale="90000"/>
          </a:bodyPr>
          <a:lstStyle/>
          <a:p>
            <a:r>
              <a:rPr lang="en-NO" sz="5300" dirty="0"/>
              <a:t>Plan for forelesningen</a:t>
            </a:r>
            <a:br>
              <a:rPr lang="en-NO" dirty="0"/>
            </a:br>
            <a:br>
              <a:rPr lang="en-NO" dirty="0"/>
            </a:br>
            <a:br>
              <a:rPr lang="en-NO" dirty="0"/>
            </a:br>
            <a:br>
              <a:rPr lang="en-NO" dirty="0"/>
            </a:br>
            <a:endParaRPr lang="en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EFF26-F787-2345-8DA0-35D7BF06F2BB}"/>
              </a:ext>
            </a:extLst>
          </p:cNvPr>
          <p:cNvSpPr txBox="1"/>
          <p:nvPr/>
        </p:nvSpPr>
        <p:spPr>
          <a:xfrm>
            <a:off x="745588" y="2363372"/>
            <a:ext cx="5824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Kropp og sinn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/>
              <a:t>Descartes’ dualisme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Elisabeth av Böhmens innvending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Brevvekslingen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NO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071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EF0E3-AB18-CD4D-B428-EF9DE435E3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79C34-0DFB-204E-92FF-DAD51B072F38}"/>
              </a:ext>
            </a:extLst>
          </p:cNvPr>
          <p:cNvSpPr txBox="1"/>
          <p:nvPr/>
        </p:nvSpPr>
        <p:spPr>
          <a:xfrm>
            <a:off x="228600" y="2872899"/>
            <a:ext cx="4780082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>
              <a:lnSpc>
                <a:spcPct val="90000"/>
              </a:lnSpc>
              <a:spcAft>
                <a:spcPts val="1800"/>
              </a:spcAft>
            </a:pPr>
            <a:r>
              <a:rPr lang="en-US" sz="2800" dirty="0"/>
              <a:t>Det </a:t>
            </a:r>
            <a:r>
              <a:rPr lang="en-US" sz="2800" dirty="0" err="1"/>
              <a:t>finnes</a:t>
            </a:r>
            <a:r>
              <a:rPr lang="en-US" sz="2800" dirty="0"/>
              <a:t> to </a:t>
            </a:r>
            <a:r>
              <a:rPr lang="en-US" sz="2800" dirty="0" err="1"/>
              <a:t>typer</a:t>
            </a:r>
            <a:r>
              <a:rPr lang="en-US" sz="2800" dirty="0"/>
              <a:t> </a:t>
            </a:r>
            <a:r>
              <a:rPr lang="en-US" sz="2800" dirty="0" err="1"/>
              <a:t>substanser</a:t>
            </a:r>
            <a:r>
              <a:rPr lang="en-US" sz="2800" dirty="0"/>
              <a:t>:</a:t>
            </a:r>
          </a:p>
          <a:p>
            <a:pPr marL="914400" indent="-457200">
              <a:lnSpc>
                <a:spcPct val="9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sz="2800" dirty="0"/>
              <a:t> Det </a:t>
            </a:r>
            <a:r>
              <a:rPr lang="en-US" sz="2800" dirty="0" err="1"/>
              <a:t>som</a:t>
            </a:r>
            <a:r>
              <a:rPr lang="en-US" sz="2800" dirty="0"/>
              <a:t> har </a:t>
            </a:r>
            <a:r>
              <a:rPr lang="en-US" sz="2800" dirty="0" err="1"/>
              <a:t>utstrekning</a:t>
            </a:r>
            <a:r>
              <a:rPr lang="en-US" sz="2800" dirty="0"/>
              <a:t> (</a:t>
            </a:r>
            <a:r>
              <a:rPr lang="en-US" sz="2800" i="1" dirty="0"/>
              <a:t>res extensa</a:t>
            </a:r>
            <a:r>
              <a:rPr lang="en-US" sz="2800" dirty="0"/>
              <a:t>) </a:t>
            </a:r>
          </a:p>
          <a:p>
            <a:pPr marL="914400" indent="-457200">
              <a:lnSpc>
                <a:spcPct val="9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sz="2800" dirty="0"/>
              <a:t>Det </a:t>
            </a:r>
            <a:r>
              <a:rPr lang="en-US" sz="2800" dirty="0" err="1"/>
              <a:t>som</a:t>
            </a:r>
            <a:r>
              <a:rPr lang="en-US" sz="2800" dirty="0"/>
              <a:t> </a:t>
            </a:r>
            <a:r>
              <a:rPr lang="en-US" sz="2800" dirty="0" err="1"/>
              <a:t>tenker</a:t>
            </a:r>
            <a:r>
              <a:rPr lang="en-US" sz="2800" dirty="0"/>
              <a:t> (</a:t>
            </a:r>
            <a:r>
              <a:rPr lang="en-US" sz="2800" i="1" dirty="0"/>
              <a:t>res cogitans</a:t>
            </a:r>
            <a:r>
              <a:rPr lang="en-US" sz="2800" dirty="0"/>
              <a:t>).</a:t>
            </a:r>
          </a:p>
          <a:p>
            <a:pPr marL="6858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" name="Frans_Hals_-_Portret_van_René_Descartes.jpg">
            <a:extLst>
              <a:ext uri="{FF2B5EF4-FFF2-40B4-BE49-F238E27FC236}">
                <a16:creationId xmlns:a16="http://schemas.microsoft.com/office/drawing/2014/main" id="{0C88280B-CD0A-3E4A-B476-EE74178C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9215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E3D1060C-B0A5-7C30-ACA9-C78894232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Res </a:t>
            </a:r>
            <a:r>
              <a:rPr lang="nb-NO" dirty="0" err="1"/>
              <a:t>cogitans</a:t>
            </a:r>
            <a:r>
              <a:rPr lang="nb-NO" dirty="0"/>
              <a:t> / Res </a:t>
            </a:r>
            <a:r>
              <a:rPr lang="nb-NO" dirty="0" err="1"/>
              <a:t>extensa</a:t>
            </a:r>
            <a:endParaRPr lang="nb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61541-9604-8D44-A5B3-A3320978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550" y="1257300"/>
            <a:ext cx="4838700" cy="4495800"/>
          </a:xfrm>
          <a:prstGeom prst="rect">
            <a:avLst/>
          </a:prstGeom>
          <a:solidFill>
            <a:schemeClr val="accent1">
              <a:alpha val="3974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CF199-EF36-4542-9238-EBD1BD46D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257300"/>
            <a:ext cx="4838700" cy="4495800"/>
          </a:xfrm>
          <a:prstGeom prst="rect">
            <a:avLst/>
          </a:prstGeom>
          <a:solidFill>
            <a:schemeClr val="accent1">
              <a:alpha val="3974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59C3A-7623-2342-ACE6-3B99E7D74D32}"/>
              </a:ext>
            </a:extLst>
          </p:cNvPr>
          <p:cNvSpPr txBox="1"/>
          <p:nvPr/>
        </p:nvSpPr>
        <p:spPr>
          <a:xfrm>
            <a:off x="1836763" y="158115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/>
              <a:t>Res </a:t>
            </a:r>
            <a:r>
              <a:rPr lang="nb-NO" sz="3600" dirty="0" err="1"/>
              <a:t>cogitans</a:t>
            </a:r>
            <a:endParaRPr lang="nb-NO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8776A-B6DB-684D-8629-7B25C0683156}"/>
              </a:ext>
            </a:extLst>
          </p:cNvPr>
          <p:cNvSpPr txBox="1"/>
          <p:nvPr/>
        </p:nvSpPr>
        <p:spPr>
          <a:xfrm>
            <a:off x="1247775" y="2702748"/>
            <a:ext cx="428962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Den mentale substans</a:t>
            </a:r>
            <a:endParaRPr lang="en-US" sz="2400" dirty="0"/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Vesentlig: Tenkning</a:t>
            </a:r>
            <a:endParaRPr lang="en-US" sz="2400" dirty="0"/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Mangler utstrekning</a:t>
            </a:r>
            <a:endParaRPr lang="en-US" sz="2400" dirty="0"/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Sjelen (sinnet) er fri(tt), og er ikke underlagt mekanistiske prinsipper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C26F7-CF1C-0F4B-BB47-E78F68C69FC8}"/>
              </a:ext>
            </a:extLst>
          </p:cNvPr>
          <p:cNvSpPr txBox="1"/>
          <p:nvPr/>
        </p:nvSpPr>
        <p:spPr>
          <a:xfrm>
            <a:off x="7135505" y="1562100"/>
            <a:ext cx="2387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/>
              <a:t>Res </a:t>
            </a:r>
            <a:r>
              <a:rPr lang="nb-NO" sz="3600" dirty="0" err="1"/>
              <a:t>extensa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13B43-1611-5F42-B30A-36E143B4C5E4}"/>
              </a:ext>
            </a:extLst>
          </p:cNvPr>
          <p:cNvSpPr txBox="1"/>
          <p:nvPr/>
        </p:nvSpPr>
        <p:spPr>
          <a:xfrm>
            <a:off x="6502202" y="2645598"/>
            <a:ext cx="405149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Den materielle substans</a:t>
            </a:r>
            <a:endParaRPr lang="en-US" sz="24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Vesentlig: Utstrekning</a:t>
            </a:r>
            <a:endParaRPr lang="en-US" sz="24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Mangler tenkning</a:t>
            </a:r>
            <a:endParaRPr lang="en-US" sz="2400" dirty="0"/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b-NO" sz="2400" dirty="0"/>
              <a:t>Er ikke fri; følger mekanikkens prinsipper.</a:t>
            </a:r>
            <a:endParaRPr lang="en-US" sz="2400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447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51112-D3D5-5648-9990-507478315D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30936" y="639520"/>
            <a:ext cx="3429000" cy="171907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forståelse</a:t>
            </a: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av </a:t>
            </a:r>
            <a:r>
              <a:rPr kumimoji="0" lang="en-US" sz="3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dyr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AEACC-73C2-AB4F-B99F-E259F21C44AB}"/>
              </a:ext>
            </a:extLst>
          </p:cNvPr>
          <p:cNvSpPr txBox="1"/>
          <p:nvPr/>
        </p:nvSpPr>
        <p:spPr>
          <a:xfrm>
            <a:off x="630936" y="3180992"/>
            <a:ext cx="4550664" cy="3036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Sofistikerte </a:t>
            </a:r>
            <a:r>
              <a:rPr lang="en-US" sz="2800" dirty="0" err="1"/>
              <a:t>mekaniske</a:t>
            </a:r>
            <a:r>
              <a:rPr lang="en-US" sz="2800" dirty="0"/>
              <a:t> </a:t>
            </a:r>
            <a:r>
              <a:rPr lang="en-US" sz="2800" dirty="0" err="1"/>
              <a:t>maskiner</a:t>
            </a:r>
            <a:r>
              <a:rPr lang="en-US" sz="2800" dirty="0"/>
              <a:t>.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0337A83D-18C2-824E-8006-BD896313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011" y="640080"/>
            <a:ext cx="672028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9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5E56A94D-4786-04F7-8D79-BA9BC71F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Bildeplansje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oup of people having a conversation&#10;&#10;Description automatically generated with medium confidence">
            <a:extLst>
              <a:ext uri="{FF2B5EF4-FFF2-40B4-BE49-F238E27FC236}">
                <a16:creationId xmlns:a16="http://schemas.microsoft.com/office/drawing/2014/main" id="{A6427A93-B618-A84B-A48F-A85D239186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8242"/>
          <a:stretch/>
        </p:blipFill>
        <p:spPr>
          <a:xfrm>
            <a:off x="0" y="1755429"/>
            <a:ext cx="5112403" cy="2789949"/>
          </a:xfrm>
          <a:prstGeom prst="rect">
            <a:avLst/>
          </a:prstGeom>
        </p:spPr>
      </p:pic>
      <p:pic>
        <p:nvPicPr>
          <p:cNvPr id="3" name="Picture 2" descr="A wooden chair with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1E6CA801-EF5B-DC43-ABEA-488301059D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00" t="3490" r="18247" b="26250"/>
          <a:stretch/>
        </p:blipFill>
        <p:spPr>
          <a:xfrm>
            <a:off x="8835243" y="5393"/>
            <a:ext cx="2594920" cy="2781300"/>
          </a:xfrm>
          <a:prstGeom prst="rect">
            <a:avLst/>
          </a:prstGeom>
        </p:spPr>
      </p:pic>
      <p:pic>
        <p:nvPicPr>
          <p:cNvPr id="2" name="Picture 1" descr="A pocket watch with roman numerals&#10;&#10;Description automatically generated">
            <a:extLst>
              <a:ext uri="{FF2B5EF4-FFF2-40B4-BE49-F238E27FC236}">
                <a16:creationId xmlns:a16="http://schemas.microsoft.com/office/drawing/2014/main" id="{34C76C89-D966-A59A-A994-43ABB937FF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6" t="2504" r="12660" b="13420"/>
          <a:stretch/>
        </p:blipFill>
        <p:spPr>
          <a:xfrm>
            <a:off x="5955640" y="168606"/>
            <a:ext cx="2594919" cy="3173645"/>
          </a:xfrm>
          <a:prstGeom prst="rect">
            <a:avLst/>
          </a:prstGeom>
        </p:spPr>
      </p:pic>
      <p:pic>
        <p:nvPicPr>
          <p:cNvPr id="9" name="Picture 8" descr="A large rock with moss growing on it&#10;&#10;Description automatically generated with low confidence">
            <a:extLst>
              <a:ext uri="{FF2B5EF4-FFF2-40B4-BE49-F238E27FC236}">
                <a16:creationId xmlns:a16="http://schemas.microsoft.com/office/drawing/2014/main" id="{F5D5DF91-3ED4-7A42-840C-DE52D8C943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370" b="22155"/>
          <a:stretch/>
        </p:blipFill>
        <p:spPr>
          <a:xfrm>
            <a:off x="6867993" y="2672393"/>
            <a:ext cx="5244452" cy="2523637"/>
          </a:xfrm>
          <a:prstGeom prst="rect">
            <a:avLst/>
          </a:prstGeom>
        </p:spPr>
      </p:pic>
      <p:pic>
        <p:nvPicPr>
          <p:cNvPr id="5" name="Picture 4" descr="A cat and a dog&#10;&#10;Description automatically generated with medium confidence">
            <a:extLst>
              <a:ext uri="{FF2B5EF4-FFF2-40B4-BE49-F238E27FC236}">
                <a16:creationId xmlns:a16="http://schemas.microsoft.com/office/drawing/2014/main" id="{12CF412A-1F96-3445-9095-784877D554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708" r="-2" b="12278"/>
          <a:stretch/>
        </p:blipFill>
        <p:spPr>
          <a:xfrm>
            <a:off x="5171383" y="4253667"/>
            <a:ext cx="5429178" cy="260972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571FEA-2B72-B140-8E11-EEC7DA02E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112403" y="5393"/>
            <a:ext cx="0" cy="6858000"/>
          </a:xfrm>
          <a:prstGeom prst="line">
            <a:avLst/>
          </a:prstGeom>
          <a:ln w="1047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48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3899" y="325369"/>
            <a:ext cx="4694783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Substansdualisme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7AE57-A342-A444-A7B8-2FAE30BD0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3746926"/>
            <a:ext cx="4305300" cy="2439495"/>
          </a:xfrm>
          <a:prstGeom prst="round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822468-7F69-9049-AC6D-1A128FDDB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1062462"/>
            <a:ext cx="4305300" cy="2439495"/>
          </a:xfrm>
          <a:prstGeom prst="roundRect">
            <a:avLst/>
          </a:prstGeom>
          <a:solidFill>
            <a:srgbClr val="FF0000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53E4E-9320-D247-8084-55911A77E958}"/>
              </a:ext>
            </a:extLst>
          </p:cNvPr>
          <p:cNvSpPr txBox="1"/>
          <p:nvPr/>
        </p:nvSpPr>
        <p:spPr>
          <a:xfrm>
            <a:off x="6021483" y="1818474"/>
            <a:ext cx="42865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Mental substans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39FBB-4D7B-1F47-BA38-342BFBA554D7}"/>
              </a:ext>
            </a:extLst>
          </p:cNvPr>
          <p:cNvSpPr txBox="1"/>
          <p:nvPr/>
        </p:nvSpPr>
        <p:spPr>
          <a:xfrm>
            <a:off x="7665739" y="2649471"/>
            <a:ext cx="1013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«Jeg»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7578A0-300A-4C4D-BACE-2F2605DDB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43500" y="2282209"/>
            <a:ext cx="0" cy="27124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ACB813-1379-EE48-8167-960BD8478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43500" y="4994636"/>
            <a:ext cx="5612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E6131B-E6E9-5C47-A105-7F8D64635514}"/>
              </a:ext>
            </a:extLst>
          </p:cNvPr>
          <p:cNvSpPr txBox="1"/>
          <p:nvPr/>
        </p:nvSpPr>
        <p:spPr>
          <a:xfrm>
            <a:off x="3944074" y="3339296"/>
            <a:ext cx="93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Link?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6190A-1AC7-1A4C-9063-F31841E1F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38382" y="2282209"/>
            <a:ext cx="5612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ADA1F2-0BBA-D243-9E33-0AD7EE42BB48}"/>
              </a:ext>
            </a:extLst>
          </p:cNvPr>
          <p:cNvSpPr txBox="1"/>
          <p:nvPr/>
        </p:nvSpPr>
        <p:spPr>
          <a:xfrm>
            <a:off x="6192933" y="4388638"/>
            <a:ext cx="3959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Fysisk substans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3F7F2-BCF3-0243-A485-A688AD438707}"/>
              </a:ext>
            </a:extLst>
          </p:cNvPr>
          <p:cNvSpPr txBox="1"/>
          <p:nvPr/>
        </p:nvSpPr>
        <p:spPr>
          <a:xfrm>
            <a:off x="7126457" y="5272318"/>
            <a:ext cx="2058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Kroppen min</a:t>
            </a:r>
          </a:p>
        </p:txBody>
      </p:sp>
    </p:spTree>
    <p:extLst>
      <p:ext uri="{BB962C8B-B14F-4D97-AF65-F5344CB8AC3E}">
        <p14:creationId xmlns:p14="http://schemas.microsoft.com/office/powerpoint/2010/main" val="322720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017BF55-61B3-8E4A-A63C-6498452DE7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014" r="-8191"/>
          <a:stretch/>
        </p:blipFill>
        <p:spPr>
          <a:xfrm>
            <a:off x="377596" y="321733"/>
            <a:ext cx="10938103" cy="62145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1DE423-E38B-5F48-9051-24754A54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0400" y="909340"/>
            <a:ext cx="990600" cy="8953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55D4F-793E-6A44-BF23-23FFB85D31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32778" y="909340"/>
            <a:ext cx="2145844" cy="461665"/>
          </a:xfrm>
          <a:prstGeom prst="rect">
            <a:avLst/>
          </a:prstGeom>
          <a:solidFill>
            <a:schemeClr val="tx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Konglekjertelen</a:t>
            </a:r>
          </a:p>
        </p:txBody>
      </p:sp>
    </p:spTree>
    <p:extLst>
      <p:ext uri="{BB962C8B-B14F-4D97-AF65-F5344CB8AC3E}">
        <p14:creationId xmlns:p14="http://schemas.microsoft.com/office/powerpoint/2010/main" val="1256974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EF0E3-AB18-CD4D-B428-EF9DE435E3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79C34-0DFB-204E-92FF-DAD51B072F38}"/>
              </a:ext>
            </a:extLst>
          </p:cNvPr>
          <p:cNvSpPr txBox="1"/>
          <p:nvPr/>
        </p:nvSpPr>
        <p:spPr>
          <a:xfrm>
            <a:off x="228600" y="2872899"/>
            <a:ext cx="4780082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>
              <a:lnSpc>
                <a:spcPct val="90000"/>
              </a:lnSpc>
              <a:spcAft>
                <a:spcPts val="1800"/>
              </a:spcAft>
            </a:pPr>
            <a:r>
              <a:rPr lang="en-US" sz="2800" dirty="0" err="1"/>
              <a:t>Spørsmål</a:t>
            </a:r>
            <a:r>
              <a:rPr lang="en-US" sz="2800" dirty="0"/>
              <a:t>:</a:t>
            </a:r>
          </a:p>
          <a:p>
            <a:pPr marL="914400" indent="-4572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Hvorfor</a:t>
            </a:r>
            <a:r>
              <a:rPr lang="en-US" sz="2800" dirty="0"/>
              <a:t> </a:t>
            </a:r>
            <a:r>
              <a:rPr lang="en-US" sz="2800" dirty="0" err="1"/>
              <a:t>mente</a:t>
            </a:r>
            <a:r>
              <a:rPr lang="en-US" sz="2800" dirty="0"/>
              <a:t> Descartes at sinnet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kroppen</a:t>
            </a:r>
            <a:r>
              <a:rPr lang="en-US" sz="2800" dirty="0"/>
              <a:t> </a:t>
            </a:r>
            <a:r>
              <a:rPr lang="en-US" sz="2800" dirty="0" err="1"/>
              <a:t>ikke</a:t>
            </a:r>
            <a:r>
              <a:rPr lang="en-US" sz="2800" dirty="0"/>
              <a:t> er </a:t>
            </a:r>
            <a:r>
              <a:rPr lang="en-US" sz="2800" dirty="0" err="1"/>
              <a:t>identiske</a:t>
            </a:r>
            <a:r>
              <a:rPr lang="en-US" sz="2800" dirty="0"/>
              <a:t>?</a:t>
            </a:r>
          </a:p>
          <a:p>
            <a:pPr marL="914400" indent="-4572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Hvilke</a:t>
            </a:r>
            <a:r>
              <a:rPr lang="en-US" sz="2800" dirty="0"/>
              <a:t> </a:t>
            </a:r>
            <a:r>
              <a:rPr lang="en-US" sz="2800" dirty="0" err="1"/>
              <a:t>grunner</a:t>
            </a:r>
            <a:r>
              <a:rPr lang="en-US" sz="2800" dirty="0"/>
              <a:t> </a:t>
            </a:r>
            <a:r>
              <a:rPr lang="en-US" sz="2800" dirty="0" err="1"/>
              <a:t>hadde</a:t>
            </a:r>
            <a:r>
              <a:rPr lang="en-US" sz="2800" dirty="0"/>
              <a:t> </a:t>
            </a:r>
            <a:r>
              <a:rPr lang="en-US" sz="2800" dirty="0" err="1"/>
              <a:t>han</a:t>
            </a:r>
            <a:r>
              <a:rPr lang="en-US" sz="2800" dirty="0"/>
              <a:t> for </a:t>
            </a:r>
            <a:r>
              <a:rPr lang="en-US" sz="2800" dirty="0" err="1"/>
              <a:t>å</a:t>
            </a:r>
            <a:r>
              <a:rPr lang="en-US" sz="2800" dirty="0"/>
              <a:t> </a:t>
            </a:r>
            <a:r>
              <a:rPr lang="en-US" sz="2800" dirty="0" err="1"/>
              <a:t>tro</a:t>
            </a:r>
            <a:r>
              <a:rPr lang="en-US" sz="2800" dirty="0"/>
              <a:t> </a:t>
            </a:r>
            <a:r>
              <a:rPr lang="en-US" sz="2800" dirty="0" err="1"/>
              <a:t>dette</a:t>
            </a:r>
            <a:r>
              <a:rPr lang="en-US" sz="2800" dirty="0"/>
              <a:t>? </a:t>
            </a:r>
          </a:p>
          <a:p>
            <a:pPr marL="6858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" name="Frans_Hals_-_Portret_van_René_Descartes.jpg">
            <a:extLst>
              <a:ext uri="{FF2B5EF4-FFF2-40B4-BE49-F238E27FC236}">
                <a16:creationId xmlns:a16="http://schemas.microsoft.com/office/drawing/2014/main" id="{0C88280B-CD0A-3E4A-B476-EE74178C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232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pørsmåls tegn i en linje og ett spørsmåls tegn lyser">
            <a:extLst>
              <a:ext uri="{FF2B5EF4-FFF2-40B4-BE49-F238E27FC236}">
                <a16:creationId xmlns:a16="http://schemas.microsoft.com/office/drawing/2014/main" id="{18EF4444-2DF9-4859-95CA-AD462B053A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056" b="1367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E006EB-9124-4F42-9B59-5833A8FBB2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Spørsmål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Hva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betyr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det at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noe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er </a:t>
            </a:r>
            <a:r>
              <a:rPr kumimoji="0" lang="en-US" sz="60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identisk</a:t>
            </a:r>
            <a:r>
              <a:rPr kumimoji="0" lang="en-US" sz="6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?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29758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128740A-F883-BBE6-8453-D166B84DA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Bildeplansje</a:t>
            </a:r>
          </a:p>
        </p:txBody>
      </p:sp>
      <p:pic>
        <p:nvPicPr>
          <p:cNvPr id="3" name="Picture 2" descr="Clark Kent/Superman">
            <a:extLst>
              <a:ext uri="{FF2B5EF4-FFF2-40B4-BE49-F238E27FC236}">
                <a16:creationId xmlns:a16="http://schemas.microsoft.com/office/drawing/2014/main" id="{0EA83AEB-3A89-834A-9562-3BDC1E54A5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-1"/>
          <a:stretch/>
        </p:blipFill>
        <p:spPr>
          <a:xfrm>
            <a:off x="3793813" y="744344"/>
            <a:ext cx="4627646" cy="4627648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7" name="Picture 6" descr="A person with blonde hair&#10;&#10;Description automatically generated with low confidence">
            <a:extLst>
              <a:ext uri="{FF2B5EF4-FFF2-40B4-BE49-F238E27FC236}">
                <a16:creationId xmlns:a16="http://schemas.microsoft.com/office/drawing/2014/main" id="{7A2F4970-0DF5-C94E-9CDF-F00B30533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9" r="8614" b="-5"/>
          <a:stretch/>
        </p:blipFill>
        <p:spPr>
          <a:xfrm>
            <a:off x="1319706" y="1757695"/>
            <a:ext cx="2590737" cy="2926956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</p:spPr>
      </p:pic>
      <p:pic>
        <p:nvPicPr>
          <p:cNvPr id="5" name="Picture 4" descr="Bob Dylan">
            <a:extLst>
              <a:ext uri="{FF2B5EF4-FFF2-40B4-BE49-F238E27FC236}">
                <a16:creationId xmlns:a16="http://schemas.microsoft.com/office/drawing/2014/main" id="{D8BCE422-C23A-1046-8AC8-00A0EF7A33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57" r="23895" b="-8"/>
          <a:stretch/>
        </p:blipFill>
        <p:spPr>
          <a:xfrm>
            <a:off x="8297994" y="1757695"/>
            <a:ext cx="2577829" cy="2926956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17226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24CFB1-57C8-AF45-8DB2-35C152C5E5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69940" y="365124"/>
            <a:ext cx="6172200" cy="1828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Leibniz’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lov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om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identitet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portrait of a person&#10;&#10;Description automatically generated">
            <a:extLst>
              <a:ext uri="{FF2B5EF4-FFF2-40B4-BE49-F238E27FC236}">
                <a16:creationId xmlns:a16="http://schemas.microsoft.com/office/drawing/2014/main" id="{8C714CDA-2CF4-FC4C-9037-7575B1118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11" r="3532"/>
          <a:stretch/>
        </p:blipFill>
        <p:spPr>
          <a:xfrm>
            <a:off x="20" y="10"/>
            <a:ext cx="4639713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D10158-A35B-FF46-BC1A-D8EE460433E8}"/>
              </a:ext>
            </a:extLst>
          </p:cNvPr>
          <p:cNvSpPr txBox="1"/>
          <p:nvPr/>
        </p:nvSpPr>
        <p:spPr>
          <a:xfrm>
            <a:off x="5069940" y="2322576"/>
            <a:ext cx="617220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Dersom a </a:t>
            </a:r>
            <a:r>
              <a:rPr lang="en-US" sz="3200" dirty="0" err="1"/>
              <a:t>og</a:t>
            </a:r>
            <a:r>
              <a:rPr lang="en-US" sz="3200" dirty="0"/>
              <a:t> b er </a:t>
            </a:r>
            <a:r>
              <a:rPr lang="en-US" sz="3200" dirty="0" err="1"/>
              <a:t>identiske</a:t>
            </a:r>
            <a:r>
              <a:rPr lang="en-US" sz="3200" dirty="0"/>
              <a:t> </a:t>
            </a:r>
            <a:r>
              <a:rPr lang="en-US" sz="3200" dirty="0" err="1"/>
              <a:t>deler</a:t>
            </a:r>
            <a:r>
              <a:rPr lang="en-US" sz="3200" dirty="0"/>
              <a:t> a </a:t>
            </a:r>
            <a:r>
              <a:rPr lang="en-US" sz="3200" dirty="0" err="1"/>
              <a:t>og</a:t>
            </a:r>
            <a:r>
              <a:rPr lang="en-US" sz="3200" dirty="0"/>
              <a:t> b alle </a:t>
            </a:r>
            <a:r>
              <a:rPr lang="en-US" sz="3200" dirty="0" err="1"/>
              <a:t>egenskaper</a:t>
            </a:r>
            <a:r>
              <a:rPr lang="en-US" sz="32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 err="1"/>
              <a:t>Følge</a:t>
            </a:r>
            <a:r>
              <a:rPr lang="en-US" sz="3200" dirty="0"/>
              <a:t>: Dersom a </a:t>
            </a:r>
            <a:r>
              <a:rPr lang="en-US" sz="3200" dirty="0" err="1"/>
              <a:t>og</a:t>
            </a:r>
            <a:r>
              <a:rPr lang="en-US" sz="3200" dirty="0"/>
              <a:t> b </a:t>
            </a:r>
            <a:r>
              <a:rPr lang="en-US" sz="3200" dirty="0" err="1"/>
              <a:t>ikke</a:t>
            </a:r>
            <a:r>
              <a:rPr lang="en-US" sz="3200" dirty="0"/>
              <a:t> </a:t>
            </a:r>
            <a:r>
              <a:rPr lang="en-US" sz="3200" dirty="0" err="1"/>
              <a:t>deler</a:t>
            </a:r>
            <a:r>
              <a:rPr lang="en-US" sz="3200" dirty="0"/>
              <a:t> alle </a:t>
            </a:r>
            <a:r>
              <a:rPr lang="en-US" sz="3200" dirty="0" err="1"/>
              <a:t>egenskaper</a:t>
            </a:r>
            <a:r>
              <a:rPr lang="en-US" sz="3200" dirty="0"/>
              <a:t> er a </a:t>
            </a:r>
            <a:r>
              <a:rPr lang="en-US" sz="3200" dirty="0" err="1"/>
              <a:t>og</a:t>
            </a:r>
            <a:r>
              <a:rPr lang="en-US" sz="3200" dirty="0"/>
              <a:t> b </a:t>
            </a:r>
            <a:r>
              <a:rPr lang="en-US" sz="3200" dirty="0" err="1"/>
              <a:t>ikke</a:t>
            </a:r>
            <a:r>
              <a:rPr lang="en-US" sz="3200" dirty="0"/>
              <a:t> </a:t>
            </a:r>
            <a:r>
              <a:rPr lang="en-US" sz="3200" dirty="0" err="1"/>
              <a:t>identiske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734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359D9A-2E9D-B24E-B2CC-FEA6302DA1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57252" y="762000"/>
            <a:ext cx="8210548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Forholdet mellom kropp og sinn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44874-6B9E-E34F-8AED-D4EA7F7E9B57}"/>
              </a:ext>
            </a:extLst>
          </p:cNvPr>
          <p:cNvSpPr txBox="1"/>
          <p:nvPr/>
        </p:nvSpPr>
        <p:spPr>
          <a:xfrm>
            <a:off x="857251" y="1771650"/>
            <a:ext cx="9753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Hvis sinnet mitt er identisk med kroppen min må kropp og sinn dele alle egenskaper.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Dersom sinnet mitt har en egenskap som kroppen min mangler (og vice versa), er ikke sinnet identisk med kroppen.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2400" dirty="0"/>
          </a:p>
          <a:p>
            <a:r>
              <a:rPr lang="nb-NO" sz="2400" dirty="0"/>
              <a:t>Alternativt: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Dersom sinnet er identisk med hjernen min må sinnet og hjernen dele alle egenskaper.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Dersom sinnet mitt har en egenskap som hjernen min mangler (og vice versa), er ikke sinnet identisk med hjernen.</a:t>
            </a:r>
          </a:p>
        </p:txBody>
      </p:sp>
    </p:spTree>
    <p:extLst>
      <p:ext uri="{BB962C8B-B14F-4D97-AF65-F5344CB8AC3E}">
        <p14:creationId xmlns:p14="http://schemas.microsoft.com/office/powerpoint/2010/main" val="149758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CC3515-1405-8842-AFFE-7298EE7986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6746" y="278535"/>
            <a:ext cx="9895951" cy="103366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Argument for at </a:t>
            </a:r>
            <a:r>
              <a:rPr kumimoji="0" lang="en-US" sz="3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sjelen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ikke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er </a:t>
            </a:r>
            <a:r>
              <a:rPr kumimoji="0" lang="en-US" sz="3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identisk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med </a:t>
            </a:r>
            <a:r>
              <a:rPr kumimoji="0" lang="en-US" sz="3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kroppen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CFA83-9907-094E-B571-F37D4B566C65}"/>
              </a:ext>
            </a:extLst>
          </p:cNvPr>
          <p:cNvSpPr txBox="1"/>
          <p:nvPr/>
        </p:nvSpPr>
        <p:spPr>
          <a:xfrm>
            <a:off x="824172" y="2118666"/>
            <a:ext cx="8801098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err="1"/>
              <a:t>Premiss</a:t>
            </a:r>
            <a:r>
              <a:rPr lang="en-US" sz="2400" b="1" dirty="0"/>
              <a:t> 1</a:t>
            </a:r>
            <a:r>
              <a:rPr lang="en-US" sz="2400" dirty="0"/>
              <a:t>: </a:t>
            </a:r>
            <a:r>
              <a:rPr lang="en-US" sz="2400" dirty="0" err="1"/>
              <a:t>Jeg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klart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tydelig</a:t>
            </a:r>
            <a:r>
              <a:rPr lang="en-US" sz="2400" dirty="0"/>
              <a:t> </a:t>
            </a:r>
            <a:r>
              <a:rPr lang="en-US" sz="2400" dirty="0" err="1"/>
              <a:t>forestille</a:t>
            </a:r>
            <a:r>
              <a:rPr lang="en-US" sz="2400" dirty="0"/>
              <a:t> meg at </a:t>
            </a:r>
            <a:r>
              <a:rPr lang="en-US" sz="2400" dirty="0" err="1"/>
              <a:t>jeg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eksistere</a:t>
            </a:r>
            <a:r>
              <a:rPr lang="en-US" sz="2400" dirty="0"/>
              <a:t> </a:t>
            </a:r>
            <a:r>
              <a:rPr lang="en-US" sz="2400" dirty="0" err="1"/>
              <a:t>uten</a:t>
            </a:r>
            <a:r>
              <a:rPr lang="en-US" sz="2400" dirty="0"/>
              <a:t> at </a:t>
            </a:r>
            <a:r>
              <a:rPr lang="en-US" sz="2400" dirty="0" err="1"/>
              <a:t>kroppen</a:t>
            </a:r>
            <a:r>
              <a:rPr lang="en-US" sz="2400" dirty="0"/>
              <a:t> (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hjernen</a:t>
            </a:r>
            <a:r>
              <a:rPr lang="en-US" sz="2400" dirty="0"/>
              <a:t>) min </a:t>
            </a:r>
            <a:r>
              <a:rPr lang="en-US" sz="2400" dirty="0" err="1"/>
              <a:t>eksisterer</a:t>
            </a:r>
            <a:endParaRPr lang="en-US" sz="2400" dirty="0"/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err="1"/>
              <a:t>Premiss</a:t>
            </a:r>
            <a:r>
              <a:rPr lang="en-US" sz="2400" b="1" dirty="0"/>
              <a:t> 2</a:t>
            </a:r>
            <a:r>
              <a:rPr lang="en-US" sz="2400" dirty="0"/>
              <a:t>: Gud </a:t>
            </a:r>
            <a:r>
              <a:rPr lang="en-US" sz="2400" dirty="0" err="1"/>
              <a:t>eksisterer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ønsker</a:t>
            </a:r>
            <a:r>
              <a:rPr lang="en-US" sz="2400" dirty="0"/>
              <a:t> </a:t>
            </a:r>
            <a:r>
              <a:rPr lang="en-US" sz="2400" dirty="0" err="1"/>
              <a:t>ikke</a:t>
            </a:r>
            <a:r>
              <a:rPr lang="en-US" sz="2400" dirty="0"/>
              <a:t> </a:t>
            </a:r>
            <a:r>
              <a:rPr lang="en-US" sz="2400" dirty="0" err="1"/>
              <a:t>å</a:t>
            </a:r>
            <a:r>
              <a:rPr lang="en-US" sz="2400" dirty="0"/>
              <a:t> </a:t>
            </a:r>
            <a:r>
              <a:rPr lang="en-US" sz="2400" dirty="0" err="1"/>
              <a:t>villede</a:t>
            </a:r>
            <a:r>
              <a:rPr lang="en-US" sz="2400" dirty="0"/>
              <a:t> meg, </a:t>
            </a:r>
            <a:r>
              <a:rPr lang="en-US" sz="2400" dirty="0" err="1"/>
              <a:t>slik</a:t>
            </a:r>
            <a:r>
              <a:rPr lang="en-US" sz="2400" dirty="0"/>
              <a:t> at det </a:t>
            </a:r>
            <a:r>
              <a:rPr lang="en-US" sz="2400" dirty="0" err="1"/>
              <a:t>jeg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forestille</a:t>
            </a:r>
            <a:r>
              <a:rPr lang="en-US" sz="2400" dirty="0"/>
              <a:t> meg </a:t>
            </a:r>
            <a:r>
              <a:rPr lang="en-US" sz="2400" dirty="0" err="1"/>
              <a:t>klart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tydelig</a:t>
            </a:r>
            <a:r>
              <a:rPr lang="en-US" sz="2400" dirty="0"/>
              <a:t> </a:t>
            </a:r>
            <a:r>
              <a:rPr lang="en-US" sz="2400" dirty="0" err="1"/>
              <a:t>må</a:t>
            </a:r>
            <a:r>
              <a:rPr lang="en-US" sz="2400" dirty="0"/>
              <a:t> </a:t>
            </a:r>
            <a:r>
              <a:rPr lang="en-US" sz="2400" dirty="0" err="1"/>
              <a:t>være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reell</a:t>
            </a:r>
            <a:r>
              <a:rPr lang="en-US" sz="2400" dirty="0"/>
              <a:t> </a:t>
            </a:r>
            <a:r>
              <a:rPr lang="en-US" sz="2400" dirty="0" err="1"/>
              <a:t>mulighet</a:t>
            </a:r>
            <a:endParaRPr lang="en-US" sz="2400" dirty="0"/>
          </a:p>
          <a:p>
            <a:pPr marL="228600" lvl="1"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err="1"/>
              <a:t>Konklusjon</a:t>
            </a:r>
            <a:r>
              <a:rPr lang="en-US" sz="2400" b="1" dirty="0"/>
              <a:t> 1</a:t>
            </a:r>
            <a:r>
              <a:rPr lang="en-US" sz="2400" dirty="0"/>
              <a:t>: </a:t>
            </a:r>
            <a:r>
              <a:rPr lang="en-US" sz="2400" dirty="0" err="1"/>
              <a:t>Jeg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eksistere</a:t>
            </a:r>
            <a:r>
              <a:rPr lang="en-US" sz="2400" dirty="0"/>
              <a:t> </a:t>
            </a:r>
            <a:r>
              <a:rPr lang="en-US" sz="2400" dirty="0" err="1"/>
              <a:t>uten</a:t>
            </a:r>
            <a:r>
              <a:rPr lang="en-US" sz="2400" dirty="0"/>
              <a:t> at </a:t>
            </a:r>
            <a:r>
              <a:rPr lang="en-US" sz="2400" dirty="0" err="1"/>
              <a:t>kroppen</a:t>
            </a:r>
            <a:r>
              <a:rPr lang="en-US" sz="2400" dirty="0"/>
              <a:t> (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hjernen</a:t>
            </a:r>
            <a:r>
              <a:rPr lang="en-US" sz="2400" dirty="0"/>
              <a:t>) min </a:t>
            </a:r>
            <a:r>
              <a:rPr lang="en-US" sz="2400" dirty="0" err="1"/>
              <a:t>eksisterer</a:t>
            </a:r>
            <a:endParaRPr lang="en-US" sz="2400" dirty="0"/>
          </a:p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err="1"/>
              <a:t>Premiss</a:t>
            </a:r>
            <a:r>
              <a:rPr lang="en-US" sz="2400" b="1" dirty="0"/>
              <a:t> 3</a:t>
            </a:r>
            <a:r>
              <a:rPr lang="en-US" sz="2400" dirty="0"/>
              <a:t>: </a:t>
            </a:r>
            <a:r>
              <a:rPr lang="en-US" sz="2400" dirty="0" err="1"/>
              <a:t>Kroppen</a:t>
            </a:r>
            <a:r>
              <a:rPr lang="en-US" sz="2400" dirty="0"/>
              <a:t> (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hjernen</a:t>
            </a:r>
            <a:r>
              <a:rPr lang="en-US" sz="2400" dirty="0"/>
              <a:t>) min </a:t>
            </a:r>
            <a:r>
              <a:rPr lang="en-US" sz="2400" dirty="0" err="1"/>
              <a:t>kunne</a:t>
            </a:r>
            <a:r>
              <a:rPr lang="en-US" sz="2400" dirty="0"/>
              <a:t> </a:t>
            </a:r>
            <a:r>
              <a:rPr lang="en-US" sz="2400" dirty="0" err="1"/>
              <a:t>ikke</a:t>
            </a:r>
            <a:r>
              <a:rPr lang="en-US" sz="2400" dirty="0"/>
              <a:t> </a:t>
            </a:r>
            <a:r>
              <a:rPr lang="en-US" sz="2400" dirty="0" err="1"/>
              <a:t>eksistert</a:t>
            </a:r>
            <a:r>
              <a:rPr lang="en-US" sz="2400" dirty="0"/>
              <a:t> </a:t>
            </a:r>
            <a:r>
              <a:rPr lang="en-US" sz="2400" dirty="0" err="1"/>
              <a:t>dersom</a:t>
            </a:r>
            <a:r>
              <a:rPr lang="en-US" sz="2400" dirty="0"/>
              <a:t> </a:t>
            </a:r>
            <a:r>
              <a:rPr lang="en-US" sz="2400" dirty="0" err="1"/>
              <a:t>kroppen</a:t>
            </a:r>
            <a:r>
              <a:rPr lang="en-US" sz="2400" dirty="0"/>
              <a:t> (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hjernen</a:t>
            </a:r>
            <a:r>
              <a:rPr lang="en-US" sz="2400" dirty="0"/>
              <a:t>) min </a:t>
            </a:r>
            <a:r>
              <a:rPr lang="en-US" sz="2400" dirty="0" err="1"/>
              <a:t>ikke</a:t>
            </a:r>
            <a:r>
              <a:rPr lang="en-US" sz="2400" dirty="0"/>
              <a:t> </a:t>
            </a:r>
            <a:r>
              <a:rPr lang="en-US" sz="2400" dirty="0" err="1"/>
              <a:t>eksisterte</a:t>
            </a:r>
            <a:endParaRPr lang="en-US" sz="2400" dirty="0"/>
          </a:p>
          <a:p>
            <a:pPr marL="228600" lvl="1" algn="just">
              <a:lnSpc>
                <a:spcPct val="90000"/>
              </a:lnSpc>
              <a:spcAft>
                <a:spcPts val="1200"/>
              </a:spcAft>
            </a:pPr>
            <a:r>
              <a:rPr lang="en-US" sz="2400" b="1" dirty="0" err="1"/>
              <a:t>Konklusjon</a:t>
            </a:r>
            <a:r>
              <a:rPr lang="en-US" sz="2400" b="1" dirty="0"/>
              <a:t> 2</a:t>
            </a:r>
            <a:r>
              <a:rPr lang="en-US" sz="2400" dirty="0"/>
              <a:t>: </a:t>
            </a:r>
            <a:r>
              <a:rPr lang="en-US" sz="2400" dirty="0" err="1"/>
              <a:t>Jeg</a:t>
            </a:r>
            <a:r>
              <a:rPr lang="en-US" sz="2400" dirty="0"/>
              <a:t> er </a:t>
            </a:r>
            <a:r>
              <a:rPr lang="en-US" sz="2400" dirty="0" err="1"/>
              <a:t>ikke</a:t>
            </a:r>
            <a:r>
              <a:rPr lang="en-US" sz="2400" dirty="0"/>
              <a:t> </a:t>
            </a:r>
            <a:r>
              <a:rPr lang="en-US" sz="2400" dirty="0" err="1"/>
              <a:t>identisk</a:t>
            </a:r>
            <a:r>
              <a:rPr lang="en-US" sz="2400" dirty="0"/>
              <a:t> med </a:t>
            </a:r>
            <a:r>
              <a:rPr lang="en-US" sz="2400" dirty="0" err="1"/>
              <a:t>kroppen</a:t>
            </a:r>
            <a:r>
              <a:rPr lang="en-US" sz="2400" dirty="0"/>
              <a:t> (</a:t>
            </a:r>
            <a:r>
              <a:rPr lang="en-US" sz="2400" dirty="0" err="1"/>
              <a:t>hjernen</a:t>
            </a:r>
            <a:r>
              <a:rPr lang="en-US" sz="2400" dirty="0"/>
              <a:t>) min</a:t>
            </a:r>
          </a:p>
        </p:txBody>
      </p:sp>
    </p:spTree>
    <p:extLst>
      <p:ext uri="{BB962C8B-B14F-4D97-AF65-F5344CB8AC3E}">
        <p14:creationId xmlns:p14="http://schemas.microsoft.com/office/powerpoint/2010/main" val="275343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3A205-360D-B44D-928F-615AA73ECC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Resultat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7F37-8DC2-C247-ED19-3D04D6763C09}"/>
              </a:ext>
            </a:extLst>
          </p:cNvPr>
          <p:cNvSpPr txBox="1"/>
          <p:nvPr/>
        </p:nvSpPr>
        <p:spPr>
          <a:xfrm>
            <a:off x="620893" y="3358346"/>
            <a:ext cx="4406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600" dirty="0"/>
              <a:t>Substansdualisme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600" dirty="0"/>
              <a:t>Kartesiansk dualisme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7AE57-A342-A444-A7B8-2FAE30BD0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3746926"/>
            <a:ext cx="4305300" cy="2439495"/>
          </a:xfrm>
          <a:prstGeom prst="roundRect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822468-7F69-9049-AC6D-1A128FDDB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9800" y="1062462"/>
            <a:ext cx="4305300" cy="2439495"/>
          </a:xfrm>
          <a:prstGeom prst="roundRect">
            <a:avLst/>
          </a:prstGeom>
          <a:solidFill>
            <a:srgbClr val="FF0000">
              <a:alpha val="3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53E4E-9320-D247-8084-55911A77E958}"/>
              </a:ext>
            </a:extLst>
          </p:cNvPr>
          <p:cNvSpPr txBox="1"/>
          <p:nvPr/>
        </p:nvSpPr>
        <p:spPr>
          <a:xfrm>
            <a:off x="6021483" y="1818474"/>
            <a:ext cx="42865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Mental substans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39FBB-4D7B-1F47-BA38-342BFBA554D7}"/>
              </a:ext>
            </a:extLst>
          </p:cNvPr>
          <p:cNvSpPr txBox="1"/>
          <p:nvPr/>
        </p:nvSpPr>
        <p:spPr>
          <a:xfrm>
            <a:off x="7665739" y="2649471"/>
            <a:ext cx="1013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«Jeg»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DA1F2-0BBA-D243-9E33-0AD7EE42BB48}"/>
              </a:ext>
            </a:extLst>
          </p:cNvPr>
          <p:cNvSpPr txBox="1"/>
          <p:nvPr/>
        </p:nvSpPr>
        <p:spPr>
          <a:xfrm>
            <a:off x="6192933" y="4388638"/>
            <a:ext cx="39590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800" dirty="0"/>
              <a:t>Fysisk substans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3F7F2-BCF3-0243-A485-A688AD438707}"/>
              </a:ext>
            </a:extLst>
          </p:cNvPr>
          <p:cNvSpPr txBox="1"/>
          <p:nvPr/>
        </p:nvSpPr>
        <p:spPr>
          <a:xfrm>
            <a:off x="7126457" y="5272318"/>
            <a:ext cx="2058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Kroppen min</a:t>
            </a:r>
          </a:p>
        </p:txBody>
      </p:sp>
    </p:spTree>
    <p:extLst>
      <p:ext uri="{BB962C8B-B14F-4D97-AF65-F5344CB8AC3E}">
        <p14:creationId xmlns:p14="http://schemas.microsoft.com/office/powerpoint/2010/main" val="4154037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F730D-870C-5A49-8658-BB46EAEBD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241" y="647130"/>
            <a:ext cx="10959522" cy="1097264"/>
          </a:xfrm>
        </p:spPr>
        <p:txBody>
          <a:bodyPr>
            <a:normAutofit fontScale="90000"/>
          </a:bodyPr>
          <a:lstStyle/>
          <a:p>
            <a:r>
              <a:rPr lang="en-NO" sz="5300" dirty="0"/>
              <a:t>Plan for forelesningen</a:t>
            </a:r>
            <a:br>
              <a:rPr lang="en-NO" dirty="0"/>
            </a:br>
            <a:br>
              <a:rPr lang="en-NO" dirty="0"/>
            </a:br>
            <a:br>
              <a:rPr lang="en-NO" dirty="0"/>
            </a:br>
            <a:br>
              <a:rPr lang="en-NO" dirty="0"/>
            </a:br>
            <a:endParaRPr lang="en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EFF26-F787-2345-8DA0-35D7BF06F2BB}"/>
              </a:ext>
            </a:extLst>
          </p:cNvPr>
          <p:cNvSpPr txBox="1"/>
          <p:nvPr/>
        </p:nvSpPr>
        <p:spPr>
          <a:xfrm>
            <a:off x="745588" y="2363372"/>
            <a:ext cx="5824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Kropp og sinn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Descartes’ dualisme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/>
              <a:t>Elisabeth av Böhmens innvending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Brevvekslingen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NO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449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A3526-BFE0-A447-94DF-179C6BAFCC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 av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Böhmen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66BF5-BA49-1146-A6B2-2698B703E39A}"/>
              </a:ext>
            </a:extLst>
          </p:cNvPr>
          <p:cNvSpPr txBox="1"/>
          <p:nvPr/>
        </p:nvSpPr>
        <p:spPr>
          <a:xfrm>
            <a:off x="424081" y="2909771"/>
            <a:ext cx="480060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1618-1680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 err="1"/>
              <a:t>Filosof</a:t>
            </a:r>
            <a:r>
              <a:rPr lang="en-US" sz="3200" dirty="0"/>
              <a:t> </a:t>
            </a:r>
            <a:r>
              <a:rPr lang="en-US" sz="3200" dirty="0" err="1"/>
              <a:t>og</a:t>
            </a:r>
            <a:r>
              <a:rPr lang="en-US" sz="3200" dirty="0"/>
              <a:t> </a:t>
            </a:r>
            <a:r>
              <a:rPr lang="en-US" sz="3200" dirty="0" err="1"/>
              <a:t>Prinsesse</a:t>
            </a:r>
            <a:r>
              <a:rPr lang="en-US" sz="3200" dirty="0"/>
              <a:t> av </a:t>
            </a:r>
            <a:r>
              <a:rPr lang="en-US" sz="3200" dirty="0" err="1"/>
              <a:t>Böhmen</a:t>
            </a:r>
            <a:endParaRPr lang="en-US" sz="3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 err="1"/>
              <a:t>Utgangspunktet</a:t>
            </a:r>
            <a:r>
              <a:rPr lang="en-US" sz="3200" dirty="0"/>
              <a:t> for </a:t>
            </a:r>
            <a:r>
              <a:rPr lang="en-US" sz="3200" dirty="0" err="1"/>
              <a:t>brevvekslingen</a:t>
            </a:r>
            <a:r>
              <a:rPr lang="en-US" sz="3200" dirty="0"/>
              <a:t> er </a:t>
            </a:r>
            <a:r>
              <a:rPr lang="en-US" sz="3200" dirty="0" err="1"/>
              <a:t>Meditasjoner</a:t>
            </a:r>
            <a:r>
              <a:rPr lang="en-US" sz="3200" dirty="0"/>
              <a:t> (1641)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" name="Picture 2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175F5E98-2AF4-0348-B78A-799B32AFB4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49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661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CFBA4C-0B0C-6D42-9FFD-2934871FC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42678" y="2273844"/>
            <a:ext cx="6404521" cy="23103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Brev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1: Elisabeth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Descartes,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6.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1643</a:t>
            </a:r>
          </a:p>
        </p:txBody>
      </p:sp>
    </p:spTree>
    <p:extLst>
      <p:ext uri="{BB962C8B-B14F-4D97-AF65-F5344CB8AC3E}">
        <p14:creationId xmlns:p14="http://schemas.microsoft.com/office/powerpoint/2010/main" val="2959600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E11A1926-795F-3F19-0A7C-808C359F6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Sitater fra brevet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80B14-172C-5044-B75A-1250420837B3}"/>
              </a:ext>
            </a:extLst>
          </p:cNvPr>
          <p:cNvSpPr txBox="1"/>
          <p:nvPr/>
        </p:nvSpPr>
        <p:spPr>
          <a:xfrm>
            <a:off x="139701" y="223423"/>
            <a:ext cx="78056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nb-NO" sz="2400" dirty="0"/>
              <a:t>«</a:t>
            </a:r>
            <a:r>
              <a:rPr lang="en-GB" sz="2400" dirty="0" err="1"/>
              <a:t>na</a:t>
            </a:r>
            <a:r>
              <a:rPr lang="en-GB" sz="2400" dirty="0"/>
              <a:t>̊ </a:t>
            </a:r>
            <a:r>
              <a:rPr lang="en-GB" sz="2400" dirty="0" err="1"/>
              <a:t>ber</a:t>
            </a:r>
            <a:r>
              <a:rPr lang="en-GB" sz="2400" dirty="0"/>
              <a:t> </a:t>
            </a:r>
            <a:r>
              <a:rPr lang="en-GB" sz="2400" dirty="0" err="1"/>
              <a:t>jeg</a:t>
            </a:r>
            <a:r>
              <a:rPr lang="en-GB" sz="2400" dirty="0"/>
              <a:t> Dem </a:t>
            </a:r>
            <a:r>
              <a:rPr lang="en-GB" sz="2400" dirty="0" err="1"/>
              <a:t>være</a:t>
            </a:r>
            <a:r>
              <a:rPr lang="en-GB" sz="2400" dirty="0"/>
              <a:t> </a:t>
            </a:r>
            <a:r>
              <a:rPr lang="en-GB" sz="2400" dirty="0" err="1"/>
              <a:t>sa</a:t>
            </a:r>
            <a:r>
              <a:rPr lang="en-GB" sz="2400" dirty="0"/>
              <a:t>̊ </a:t>
            </a:r>
            <a:r>
              <a:rPr lang="en-GB" sz="2400" dirty="0" err="1"/>
              <a:t>vennlig</a:t>
            </a:r>
            <a:r>
              <a:rPr lang="en-GB" sz="2400" dirty="0"/>
              <a:t> å </a:t>
            </a:r>
            <a:r>
              <a:rPr lang="en-GB" sz="2400" dirty="0" err="1"/>
              <a:t>forklare</a:t>
            </a:r>
            <a:r>
              <a:rPr lang="en-GB" sz="2400" dirty="0"/>
              <a:t> meg </a:t>
            </a:r>
            <a:r>
              <a:rPr lang="en-GB" sz="2400" dirty="0" err="1"/>
              <a:t>hvordan</a:t>
            </a:r>
            <a:r>
              <a:rPr lang="en-GB" sz="2400" dirty="0"/>
              <a:t> det </a:t>
            </a:r>
            <a:r>
              <a:rPr lang="en-GB" sz="2400" dirty="0" err="1"/>
              <a:t>kan</a:t>
            </a:r>
            <a:r>
              <a:rPr lang="en-GB" sz="2400" dirty="0"/>
              <a:t> ha seg at </a:t>
            </a:r>
            <a:r>
              <a:rPr lang="en-GB" sz="2400" dirty="0" err="1"/>
              <a:t>menneskesjelen</a:t>
            </a:r>
            <a:r>
              <a:rPr lang="en-GB" sz="2400" dirty="0"/>
              <a:t>,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kun</a:t>
            </a:r>
            <a:r>
              <a:rPr lang="en-GB" sz="2400" dirty="0"/>
              <a:t> er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tenkende</a:t>
            </a:r>
            <a:r>
              <a:rPr lang="en-GB" sz="2400" dirty="0"/>
              <a:t> </a:t>
            </a:r>
            <a:r>
              <a:rPr lang="en-GB" sz="2400" dirty="0" err="1"/>
              <a:t>substans</a:t>
            </a:r>
            <a:r>
              <a:rPr lang="en-GB" sz="2400" dirty="0"/>
              <a:t>,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styre</a:t>
            </a:r>
            <a:r>
              <a:rPr lang="en-GB" sz="2400" dirty="0"/>
              <a:t> </a:t>
            </a:r>
            <a:r>
              <a:rPr lang="en-GB" sz="2400" dirty="0" err="1"/>
              <a:t>kroppens</a:t>
            </a:r>
            <a:r>
              <a:rPr lang="en-GB" sz="2400" dirty="0"/>
              <a:t> </a:t>
            </a:r>
            <a:r>
              <a:rPr lang="en-GB" sz="2400" dirty="0" err="1"/>
              <a:t>ånder</a:t>
            </a:r>
            <a:r>
              <a:rPr lang="en-GB" sz="2400" dirty="0"/>
              <a:t> [</a:t>
            </a:r>
            <a:r>
              <a:rPr lang="en-GB" sz="2400" i="1" dirty="0"/>
              <a:t>esprits</a:t>
            </a:r>
            <a:r>
              <a:rPr lang="en-GB" sz="2400" dirty="0"/>
              <a:t>]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forårsake</a:t>
            </a:r>
            <a:r>
              <a:rPr lang="en-GB" sz="2400" dirty="0"/>
              <a:t> </a:t>
            </a:r>
            <a:r>
              <a:rPr lang="en-GB" sz="2400" dirty="0" err="1"/>
              <a:t>frivillige</a:t>
            </a:r>
            <a:r>
              <a:rPr lang="en-GB" sz="2400" dirty="0"/>
              <a:t> </a:t>
            </a:r>
            <a:r>
              <a:rPr lang="en-GB" sz="2400" dirty="0" err="1"/>
              <a:t>handlinger</a:t>
            </a:r>
            <a:r>
              <a:rPr lang="en-GB" sz="2400" dirty="0"/>
              <a:t>” (s. 215-216) </a:t>
            </a:r>
          </a:p>
          <a:p>
            <a:endParaRPr lang="nb-N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C3A2C-FA49-0A4F-B983-C7FEF0448F73}"/>
              </a:ext>
            </a:extLst>
          </p:cNvPr>
          <p:cNvSpPr txBox="1"/>
          <p:nvPr/>
        </p:nvSpPr>
        <p:spPr>
          <a:xfrm>
            <a:off x="139701" y="2063473"/>
            <a:ext cx="78056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/>
              <a:t>“…det </a:t>
            </a:r>
            <a:r>
              <a:rPr lang="en-GB" sz="2400" dirty="0" err="1"/>
              <a:t>virker</a:t>
            </a:r>
            <a:r>
              <a:rPr lang="en-GB" sz="2400" dirty="0"/>
              <a:t>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enhver</a:t>
            </a:r>
            <a:r>
              <a:rPr lang="en-GB" sz="2400" dirty="0"/>
              <a:t> </a:t>
            </a:r>
            <a:r>
              <a:rPr lang="en-GB" sz="2400" dirty="0" err="1"/>
              <a:t>bevegelse</a:t>
            </a:r>
            <a:r>
              <a:rPr lang="en-GB" sz="2400" dirty="0"/>
              <a:t> </a:t>
            </a:r>
            <a:r>
              <a:rPr lang="en-GB" sz="2400" dirty="0" err="1"/>
              <a:t>skjer</a:t>
            </a:r>
            <a:r>
              <a:rPr lang="en-GB" sz="2400" dirty="0"/>
              <a:t> </a:t>
            </a:r>
            <a:r>
              <a:rPr lang="en-GB" sz="2400" dirty="0" err="1"/>
              <a:t>ved</a:t>
            </a:r>
            <a:r>
              <a:rPr lang="en-GB" sz="2400" dirty="0"/>
              <a:t> at den </a:t>
            </a:r>
            <a:r>
              <a:rPr lang="en-GB" sz="2400" dirty="0" err="1"/>
              <a:t>bevegede</a:t>
            </a:r>
            <a:r>
              <a:rPr lang="en-GB" sz="2400" dirty="0"/>
              <a:t> </a:t>
            </a:r>
            <a:r>
              <a:rPr lang="en-GB" sz="2400" dirty="0" err="1"/>
              <a:t>tingen</a:t>
            </a:r>
            <a:r>
              <a:rPr lang="en-GB" sz="2400" dirty="0"/>
              <a:t> </a:t>
            </a:r>
            <a:r>
              <a:rPr lang="en-GB" sz="2400" dirty="0" err="1"/>
              <a:t>dyttes</a:t>
            </a:r>
            <a:r>
              <a:rPr lang="en-GB" sz="2400" dirty="0"/>
              <a:t>, </a:t>
            </a:r>
            <a:r>
              <a:rPr lang="en-GB" sz="2400" dirty="0" err="1"/>
              <a:t>ved</a:t>
            </a:r>
            <a:r>
              <a:rPr lang="en-GB" sz="2400" dirty="0"/>
              <a:t> at den </a:t>
            </a:r>
            <a:r>
              <a:rPr lang="en-GB" sz="2400" dirty="0" err="1"/>
              <a:t>dyttes</a:t>
            </a:r>
            <a:r>
              <a:rPr lang="en-GB" sz="2400" dirty="0"/>
              <a:t> på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spesiell</a:t>
            </a:r>
            <a:r>
              <a:rPr lang="en-GB" sz="2400" dirty="0"/>
              <a:t> </a:t>
            </a:r>
            <a:r>
              <a:rPr lang="en-GB" sz="2400" dirty="0" err="1"/>
              <a:t>måte</a:t>
            </a:r>
            <a:r>
              <a:rPr lang="en-GB" sz="2400" dirty="0"/>
              <a:t>, </a:t>
            </a:r>
            <a:r>
              <a:rPr lang="en-GB" sz="2400" dirty="0" err="1"/>
              <a:t>eller</a:t>
            </a:r>
            <a:r>
              <a:rPr lang="en-GB" sz="2400" dirty="0"/>
              <a:t> </a:t>
            </a:r>
            <a:r>
              <a:rPr lang="en-GB" sz="2400" dirty="0" err="1"/>
              <a:t>ved</a:t>
            </a:r>
            <a:r>
              <a:rPr lang="en-GB" sz="2400" dirty="0"/>
              <a:t> de </a:t>
            </a:r>
            <a:r>
              <a:rPr lang="en-GB" sz="2400" dirty="0" err="1"/>
              <a:t>spesielle</a:t>
            </a:r>
            <a:r>
              <a:rPr lang="en-GB" sz="2400" dirty="0"/>
              <a:t> </a:t>
            </a:r>
            <a:r>
              <a:rPr lang="en-GB" sz="2400" dirty="0" err="1"/>
              <a:t>egenskapene</a:t>
            </a:r>
            <a:r>
              <a:rPr lang="en-GB" sz="2400" dirty="0"/>
              <a:t> </a:t>
            </a:r>
            <a:r>
              <a:rPr lang="en-GB" sz="2400" dirty="0" err="1"/>
              <a:t>eller</a:t>
            </a:r>
            <a:r>
              <a:rPr lang="en-GB" sz="2400" dirty="0"/>
              <a:t> </a:t>
            </a:r>
            <a:br>
              <a:rPr lang="en-GB" sz="2400" dirty="0"/>
            </a:br>
            <a:r>
              <a:rPr lang="en-GB" sz="2400" dirty="0" err="1"/>
              <a:t>overflateteksturen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det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dytter</a:t>
            </a:r>
            <a:r>
              <a:rPr lang="en-GB" sz="2400" dirty="0"/>
              <a:t>” (s. 216)</a:t>
            </a:r>
          </a:p>
          <a:p>
            <a:endParaRPr lang="en-GB" dirty="0"/>
          </a:p>
          <a:p>
            <a:endParaRPr lang="nb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CD36A-DEDC-1841-B0E0-F15B736031F8}"/>
              </a:ext>
            </a:extLst>
          </p:cNvPr>
          <p:cNvSpPr txBox="1"/>
          <p:nvPr/>
        </p:nvSpPr>
        <p:spPr>
          <a:xfrm>
            <a:off x="139700" y="3875723"/>
            <a:ext cx="78056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/>
              <a:t>“For de to </a:t>
            </a:r>
            <a:r>
              <a:rPr lang="en-GB" sz="2400" dirty="0" err="1"/>
              <a:t>førstnevnte</a:t>
            </a:r>
            <a:r>
              <a:rPr lang="en-GB" sz="2400" dirty="0"/>
              <a:t> er </a:t>
            </a:r>
            <a:r>
              <a:rPr lang="en-GB" sz="2400" dirty="0" err="1"/>
              <a:t>berøring</a:t>
            </a:r>
            <a:r>
              <a:rPr lang="en-GB" sz="2400" dirty="0"/>
              <a:t>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nødvendig</a:t>
            </a:r>
            <a:r>
              <a:rPr lang="en-GB" sz="2400" dirty="0"/>
              <a:t> </a:t>
            </a:r>
          </a:p>
          <a:p>
            <a:pPr algn="just"/>
            <a:r>
              <a:rPr lang="en-GB" sz="2400" dirty="0" err="1"/>
              <a:t>betingelse</a:t>
            </a:r>
            <a:r>
              <a:rPr lang="en-GB" sz="2400" dirty="0"/>
              <a:t>, </a:t>
            </a:r>
            <a:r>
              <a:rPr lang="en-GB" sz="2400" dirty="0" err="1"/>
              <a:t>og</a:t>
            </a:r>
            <a:r>
              <a:rPr lang="en-GB" sz="2400" dirty="0"/>
              <a:t> det </a:t>
            </a:r>
            <a:r>
              <a:rPr lang="en-GB" sz="2400" dirty="0" err="1"/>
              <a:t>siste</a:t>
            </a:r>
            <a:r>
              <a:rPr lang="en-GB" sz="2400" dirty="0"/>
              <a:t> </a:t>
            </a:r>
            <a:r>
              <a:rPr lang="en-GB" sz="2400" dirty="0" err="1"/>
              <a:t>krever</a:t>
            </a:r>
            <a:r>
              <a:rPr lang="en-GB" sz="2400" dirty="0"/>
              <a:t> at det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dytter</a:t>
            </a:r>
            <a:r>
              <a:rPr lang="en-GB" sz="2400" dirty="0"/>
              <a:t>, har </a:t>
            </a:r>
            <a:r>
              <a:rPr lang="en-GB" sz="2400" dirty="0" err="1"/>
              <a:t>utstrekning</a:t>
            </a:r>
            <a:r>
              <a:rPr lang="en-GB" sz="2400" dirty="0"/>
              <a:t>. </a:t>
            </a:r>
            <a:r>
              <a:rPr lang="en-GB" sz="2400" dirty="0" err="1"/>
              <a:t>Likevel</a:t>
            </a:r>
            <a:r>
              <a:rPr lang="en-GB" sz="2400" dirty="0"/>
              <a:t> </a:t>
            </a:r>
            <a:r>
              <a:rPr lang="en-GB" sz="2400" dirty="0" err="1"/>
              <a:t>utelukker</a:t>
            </a:r>
            <a:r>
              <a:rPr lang="en-GB" sz="2400" dirty="0"/>
              <a:t> De </a:t>
            </a:r>
            <a:r>
              <a:rPr lang="en-GB" sz="2400" dirty="0" err="1"/>
              <a:t>utstrekning</a:t>
            </a:r>
            <a:r>
              <a:rPr lang="en-GB" sz="2400" dirty="0"/>
              <a:t> </a:t>
            </a:r>
            <a:r>
              <a:rPr lang="en-GB" sz="2400" dirty="0" err="1"/>
              <a:t>fullstendig</a:t>
            </a:r>
            <a:r>
              <a:rPr lang="en-GB" sz="2400" dirty="0"/>
              <a:t> </a:t>
            </a:r>
            <a:r>
              <a:rPr lang="en-GB" sz="2400" dirty="0" err="1"/>
              <a:t>fra</a:t>
            </a:r>
            <a:r>
              <a:rPr lang="en-GB" sz="2400" dirty="0"/>
              <a:t> </a:t>
            </a:r>
            <a:r>
              <a:rPr lang="en-GB" sz="2400" dirty="0" err="1"/>
              <a:t>Deres</a:t>
            </a:r>
            <a:r>
              <a:rPr lang="en-GB" sz="2400" dirty="0"/>
              <a:t> idé om </a:t>
            </a:r>
            <a:r>
              <a:rPr lang="en-GB" sz="2400" dirty="0" err="1"/>
              <a:t>sjelen</a:t>
            </a:r>
            <a:r>
              <a:rPr lang="en-GB" sz="2400" dirty="0"/>
              <a:t>,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berøring</a:t>
            </a:r>
            <a:r>
              <a:rPr lang="en-GB" sz="2400" dirty="0"/>
              <a:t> </a:t>
            </a:r>
            <a:r>
              <a:rPr lang="en-GB" sz="2400" dirty="0" err="1"/>
              <a:t>synes</a:t>
            </a:r>
            <a:r>
              <a:rPr lang="en-GB" sz="2400" dirty="0"/>
              <a:t> meg </a:t>
            </a:r>
            <a:r>
              <a:rPr lang="en-GB" sz="2400" dirty="0" err="1"/>
              <a:t>uforenlig</a:t>
            </a:r>
            <a:r>
              <a:rPr lang="en-GB" sz="2400" dirty="0"/>
              <a:t> med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immateriell</a:t>
            </a:r>
            <a:r>
              <a:rPr lang="en-GB" sz="2400" dirty="0"/>
              <a:t> </a:t>
            </a:r>
            <a:r>
              <a:rPr lang="en-GB" sz="2400" dirty="0" err="1"/>
              <a:t>substans</a:t>
            </a:r>
            <a:r>
              <a:rPr lang="en-GB" sz="2400" dirty="0"/>
              <a:t>.” (s.216)</a:t>
            </a:r>
          </a:p>
          <a:p>
            <a:endParaRPr lang="nb-N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13718C-C18C-814E-B5A1-E6CDD13CF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468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93D173E-4B0E-24A9-1555-BACBB927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38" y="-2387600"/>
            <a:ext cx="507536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b-NO" dirty="0"/>
              <a:t>Bildeplansje</a:t>
            </a:r>
          </a:p>
        </p:txBody>
      </p:sp>
      <p:pic>
        <p:nvPicPr>
          <p:cNvPr id="7" name="Picture 6" descr="A person standing in a library&#10;&#10;Description automatically generated with low confidence">
            <a:extLst>
              <a:ext uri="{FF2B5EF4-FFF2-40B4-BE49-F238E27FC236}">
                <a16:creationId xmlns:a16="http://schemas.microsoft.com/office/drawing/2014/main" id="{0CB66876-98DD-C74C-B60B-5024F0396C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6" r="2" b="2"/>
          <a:stretch/>
        </p:blipFill>
        <p:spPr>
          <a:xfrm>
            <a:off x="6887045" y="-5"/>
            <a:ext cx="4661488" cy="3104198"/>
          </a:xfrm>
          <a:prstGeom prst="rect">
            <a:avLst/>
          </a:prstGeom>
        </p:spPr>
      </p:pic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BFE1F267-430D-2E4D-95C3-9B08008B8A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438" b="-1"/>
          <a:stretch/>
        </p:blipFill>
        <p:spPr>
          <a:xfrm>
            <a:off x="5419264" y="3265080"/>
            <a:ext cx="6129269" cy="3592925"/>
          </a:xfrm>
          <a:prstGeom prst="rect">
            <a:avLst/>
          </a:prstGeom>
        </p:spPr>
      </p:pic>
      <p:pic>
        <p:nvPicPr>
          <p:cNvPr id="10" name="Picture 9" descr="A person jumping over a fence&#10;&#10;Description automatically generated with medium confidence">
            <a:extLst>
              <a:ext uri="{FF2B5EF4-FFF2-40B4-BE49-F238E27FC236}">
                <a16:creationId xmlns:a16="http://schemas.microsoft.com/office/drawing/2014/main" id="{5390B22F-A0E8-FB48-82F5-40D17BEE27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58" r="1" b="1"/>
          <a:stretch/>
        </p:blipFill>
        <p:spPr>
          <a:xfrm>
            <a:off x="643467" y="-5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9FA6A2-2239-4EF2-9EB3-B1DC295FE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4080063"/>
            <a:ext cx="4614930" cy="215614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5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CC9031-F07B-7E47-B915-9CB762A44F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04672" y="640080"/>
            <a:ext cx="3282696" cy="5257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innvending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51181-5DE5-7641-BDB0-133EE1998F08}"/>
              </a:ext>
            </a:extLst>
          </p:cNvPr>
          <p:cNvSpPr txBox="1"/>
          <p:nvPr/>
        </p:nvSpPr>
        <p:spPr>
          <a:xfrm>
            <a:off x="5358384" y="640080"/>
            <a:ext cx="6024654" cy="5913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" algn="just">
              <a:lnSpc>
                <a:spcPct val="90000"/>
              </a:lnSpc>
              <a:spcAft>
                <a:spcPts val="1800"/>
              </a:spcAft>
            </a:pPr>
            <a:r>
              <a:rPr lang="en-US" sz="2800" dirty="0"/>
              <a:t>Problemet med mental </a:t>
            </a:r>
            <a:r>
              <a:rPr lang="en-US" sz="2800" dirty="0" err="1"/>
              <a:t>kausalitet</a:t>
            </a:r>
            <a:r>
              <a:rPr lang="en-US" sz="2800" dirty="0"/>
              <a:t>:</a:t>
            </a:r>
          </a:p>
          <a:p>
            <a:pPr marL="285750" indent="-228600" algn="just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Kausalitet</a:t>
            </a:r>
            <a:r>
              <a:rPr lang="en-US" sz="2800" dirty="0"/>
              <a:t>: </a:t>
            </a:r>
            <a:r>
              <a:rPr lang="en-US" sz="2800" dirty="0" err="1"/>
              <a:t>Forholdet</a:t>
            </a:r>
            <a:r>
              <a:rPr lang="en-US" sz="2800" dirty="0"/>
              <a:t> </a:t>
            </a:r>
            <a:r>
              <a:rPr lang="en-US" sz="2800" dirty="0" err="1"/>
              <a:t>mellom</a:t>
            </a:r>
            <a:r>
              <a:rPr lang="en-US" sz="2800" dirty="0"/>
              <a:t> </a:t>
            </a:r>
            <a:r>
              <a:rPr lang="en-US" sz="2800" dirty="0" err="1"/>
              <a:t>årsak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virkning</a:t>
            </a:r>
            <a:endParaRPr lang="en-US" sz="2800" dirty="0"/>
          </a:p>
          <a:p>
            <a:pPr marL="285750" indent="-228600" algn="just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Spørsmål</a:t>
            </a:r>
            <a:r>
              <a:rPr lang="en-US" sz="2800" dirty="0"/>
              <a:t>: Dersom det </a:t>
            </a:r>
            <a:r>
              <a:rPr lang="en-US" sz="2800" dirty="0" err="1"/>
              <a:t>mentale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det </a:t>
            </a:r>
            <a:r>
              <a:rPr lang="en-US" sz="2800" dirty="0" err="1"/>
              <a:t>materielle</a:t>
            </a:r>
            <a:r>
              <a:rPr lang="en-US" sz="2800" dirty="0"/>
              <a:t> er to </a:t>
            </a:r>
            <a:r>
              <a:rPr lang="en-US" sz="2800" dirty="0" err="1"/>
              <a:t>fundamentalt</a:t>
            </a:r>
            <a:r>
              <a:rPr lang="en-US" sz="2800" dirty="0"/>
              <a:t> </a:t>
            </a:r>
            <a:r>
              <a:rPr lang="en-US" sz="2800" dirty="0" err="1"/>
              <a:t>ulike</a:t>
            </a:r>
            <a:r>
              <a:rPr lang="en-US" sz="2800" dirty="0"/>
              <a:t> </a:t>
            </a:r>
            <a:r>
              <a:rPr lang="en-US" sz="2800" dirty="0" err="1"/>
              <a:t>substanser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den </a:t>
            </a:r>
            <a:r>
              <a:rPr lang="en-US" sz="2800" dirty="0" err="1"/>
              <a:t>måten</a:t>
            </a:r>
            <a:r>
              <a:rPr lang="en-US" sz="2800" dirty="0"/>
              <a:t> Descartes </a:t>
            </a:r>
            <a:r>
              <a:rPr lang="en-US" sz="2800" dirty="0" err="1"/>
              <a:t>beskriver</a:t>
            </a:r>
            <a:r>
              <a:rPr lang="en-US" sz="2800" dirty="0"/>
              <a:t>, </a:t>
            </a:r>
            <a:r>
              <a:rPr lang="en-US" sz="2800" dirty="0" err="1"/>
              <a:t>hvordan</a:t>
            </a:r>
            <a:r>
              <a:rPr lang="en-US" sz="2800" dirty="0"/>
              <a:t> </a:t>
            </a:r>
            <a:r>
              <a:rPr lang="en-US" sz="2800" dirty="0" err="1"/>
              <a:t>kan</a:t>
            </a:r>
            <a:r>
              <a:rPr lang="en-US" sz="2800" dirty="0"/>
              <a:t> det </a:t>
            </a:r>
            <a:r>
              <a:rPr lang="en-US" sz="2800" dirty="0" err="1"/>
              <a:t>mentale</a:t>
            </a:r>
            <a:r>
              <a:rPr lang="en-US" sz="2800" dirty="0"/>
              <a:t> ha </a:t>
            </a:r>
            <a:r>
              <a:rPr lang="en-US" sz="2800" dirty="0" err="1"/>
              <a:t>kausal</a:t>
            </a:r>
            <a:r>
              <a:rPr lang="en-US" sz="2800" dirty="0"/>
              <a:t> </a:t>
            </a:r>
            <a:r>
              <a:rPr lang="en-US" sz="2800" dirty="0" err="1"/>
              <a:t>påvirkning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det </a:t>
            </a:r>
            <a:r>
              <a:rPr lang="en-US" sz="2800" dirty="0" err="1"/>
              <a:t>fysiske</a:t>
            </a:r>
            <a:r>
              <a:rPr lang="en-US" sz="2800" dirty="0"/>
              <a:t>?</a:t>
            </a:r>
          </a:p>
          <a:p>
            <a:pPr marL="742950" lvl="1" indent="-228600" algn="just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Hvordan</a:t>
            </a:r>
            <a:r>
              <a:rPr lang="en-US" sz="2800" dirty="0"/>
              <a:t> </a:t>
            </a:r>
            <a:r>
              <a:rPr lang="en-US" sz="2800" dirty="0" err="1"/>
              <a:t>kan</a:t>
            </a:r>
            <a:r>
              <a:rPr lang="en-US" sz="2800" dirty="0"/>
              <a:t> det </a:t>
            </a:r>
            <a:r>
              <a:rPr lang="en-US" sz="2800" dirty="0" err="1"/>
              <a:t>mentale</a:t>
            </a:r>
            <a:r>
              <a:rPr lang="en-US" sz="2800" dirty="0"/>
              <a:t> </a:t>
            </a:r>
            <a:r>
              <a:rPr lang="en-US" sz="2800" dirty="0" err="1"/>
              <a:t>være</a:t>
            </a:r>
            <a:r>
              <a:rPr lang="en-US" sz="2800" dirty="0"/>
              <a:t> </a:t>
            </a:r>
            <a:r>
              <a:rPr lang="en-US" sz="2800" dirty="0" err="1"/>
              <a:t>årsak</a:t>
            </a:r>
            <a:r>
              <a:rPr lang="en-US" sz="2800" dirty="0"/>
              <a:t> </a:t>
            </a:r>
            <a:r>
              <a:rPr lang="en-US" sz="2800" dirty="0" err="1"/>
              <a:t>til</a:t>
            </a:r>
            <a:r>
              <a:rPr lang="en-US" sz="2800" dirty="0"/>
              <a:t> </a:t>
            </a:r>
            <a:r>
              <a:rPr lang="en-US" sz="2800" dirty="0" err="1"/>
              <a:t>noe</a:t>
            </a:r>
            <a:r>
              <a:rPr lang="en-US" sz="2800" dirty="0"/>
              <a:t> </a:t>
            </a:r>
            <a:r>
              <a:rPr lang="en-US" sz="2800" dirty="0" err="1"/>
              <a:t>fysisk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606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B846D-B924-5145-91C3-B22970A4D3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26235" y="3643938"/>
            <a:ext cx="3290887" cy="245268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Kausal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lukning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av den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fysiske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verden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52EDD-378A-E746-AC94-18DD4D506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437" b="16258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9EAC98-6721-064D-88F4-EF47CC2BF543}"/>
              </a:ext>
            </a:extLst>
          </p:cNvPr>
          <p:cNvSpPr txBox="1"/>
          <p:nvPr/>
        </p:nvSpPr>
        <p:spPr>
          <a:xfrm>
            <a:off x="3986193" y="3577263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Enhver </a:t>
            </a:r>
            <a:r>
              <a:rPr lang="en-US" sz="2400" dirty="0" err="1"/>
              <a:t>fysisk</a:t>
            </a:r>
            <a:r>
              <a:rPr lang="en-US" sz="2400" dirty="0"/>
              <a:t> </a:t>
            </a:r>
            <a:r>
              <a:rPr lang="en-US" sz="2400" dirty="0" err="1"/>
              <a:t>hendelse</a:t>
            </a:r>
            <a:r>
              <a:rPr lang="en-US" sz="2400" dirty="0"/>
              <a:t> har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fysisk</a:t>
            </a:r>
            <a:r>
              <a:rPr lang="en-US" sz="2400" dirty="0"/>
              <a:t> </a:t>
            </a:r>
            <a:r>
              <a:rPr lang="en-US" sz="2400" dirty="0" err="1"/>
              <a:t>forklaring</a:t>
            </a: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Enhver </a:t>
            </a:r>
            <a:r>
              <a:rPr lang="en-US" sz="2400" dirty="0" err="1"/>
              <a:t>fysisk</a:t>
            </a:r>
            <a:r>
              <a:rPr lang="en-US" sz="2400" dirty="0"/>
              <a:t> </a:t>
            </a:r>
            <a:r>
              <a:rPr lang="en-US" sz="2400" dirty="0" err="1"/>
              <a:t>virkning</a:t>
            </a:r>
            <a:r>
              <a:rPr lang="en-US" sz="2400" dirty="0"/>
              <a:t> har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tilstrekkelig</a:t>
            </a:r>
            <a:r>
              <a:rPr lang="en-US" sz="2400" dirty="0"/>
              <a:t> </a:t>
            </a:r>
            <a:r>
              <a:rPr lang="en-US" sz="2400" dirty="0" err="1"/>
              <a:t>fysisk</a:t>
            </a:r>
            <a:r>
              <a:rPr lang="en-US" sz="2400" dirty="0"/>
              <a:t> </a:t>
            </a:r>
            <a:r>
              <a:rPr lang="en-US" sz="2400" dirty="0" err="1"/>
              <a:t>årsak</a:t>
            </a:r>
            <a:endParaRPr lang="en-US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5F0928-0711-4649-9584-4C858F152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448050" y="4210050"/>
            <a:ext cx="0" cy="11049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783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18245-CD3A-064B-9365-14B58939EF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43150" y="914400"/>
            <a:ext cx="3152851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Elisabeths argument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F2512-5EB0-A24B-926E-BB4E158E0713}"/>
              </a:ext>
            </a:extLst>
          </p:cNvPr>
          <p:cNvSpPr txBox="1"/>
          <p:nvPr/>
        </p:nvSpPr>
        <p:spPr>
          <a:xfrm>
            <a:off x="1238251" y="1847850"/>
            <a:ext cx="800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b-NO" dirty="0"/>
              <a:t>Sinnet kan påvirke kroppen kausalt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Kausal påvirkning på kroppen krever fysisk kontakt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Fysisk kontakt er bare mulig mellom materielle objekter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Sinnet er ikke et materielt objekt (Descartes’ dualisme)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Sinnet kan ikke påvirke kroppen kausalt (fra 2-4)</a:t>
            </a:r>
          </a:p>
          <a:p>
            <a:endParaRPr lang="nb-NO" dirty="0"/>
          </a:p>
        </p:txBody>
      </p:sp>
      <p:pic>
        <p:nvPicPr>
          <p:cNvPr id="4" name="Picture 3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5FEFC27C-1C96-5444-BDCE-8594F6663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992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26CF74-B7BD-9A48-962C-ED4E6F91F7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43150" y="914400"/>
            <a:ext cx="3152851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Elisabeths argument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F2512-5EB0-A24B-926E-BB4E158E0713}"/>
              </a:ext>
            </a:extLst>
          </p:cNvPr>
          <p:cNvSpPr txBox="1"/>
          <p:nvPr/>
        </p:nvSpPr>
        <p:spPr>
          <a:xfrm>
            <a:off x="1238251" y="1847850"/>
            <a:ext cx="65722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b-NO" dirty="0">
                <a:solidFill>
                  <a:srgbClr val="FF0000"/>
                </a:solidFill>
              </a:rPr>
              <a:t>Sinnet kan påvirke kroppen kausalt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Kausal påvirkning på kroppen krever fysisk kontakt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Fysisk kontakt er bare mulig mellom materielle objekter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Sinnet er ikke et materielt objekt (Descartes’ dualisme)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>
                <a:solidFill>
                  <a:srgbClr val="FF0000"/>
                </a:solidFill>
              </a:rPr>
              <a:t>Sinnet kan ikke påvirke kroppen kausalt (fra 2-4)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Dette fører til en selvmotsigelse: 1) Sinnet kan påvirke kroppen kausalt, og 5) sinnet kan ikke påvirke kroppen kausalt.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Konklusjon: Enten (i) Sinnet kan ikke påvirke kroppen kausalt, eller (ii) Descartes’ dualisme er feil.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FAEDF-1404-6B4D-A466-C5A6ECCA3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732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8B7FF-0331-1AE5-5828-558EC50AF3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4219" y="463137"/>
            <a:ext cx="40399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O" sz="40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Epifenomenalisme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B8B17-F683-C2E4-E794-42084472F8E5}"/>
              </a:ext>
            </a:extLst>
          </p:cNvPr>
          <p:cNvSpPr txBox="1"/>
          <p:nvPr/>
        </p:nvSpPr>
        <p:spPr>
          <a:xfrm>
            <a:off x="991161" y="1469732"/>
            <a:ext cx="107072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Kroppen kan påvirke sinnet kausalt, men </a:t>
            </a:r>
            <a:r>
              <a:rPr lang="nb-NO" sz="2400" b="1" dirty="0"/>
              <a:t>sinnet kan ikke påvirke kroppen kausalt.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C678E-0F16-1BB6-4139-C72EB898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3903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C66AB-5C78-A8B3-131D-1B365854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352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3D829-2D40-91CA-35DB-C38937771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8801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8479B-D88E-E84F-88E5-9DE485E77C92}"/>
              </a:ext>
            </a:extLst>
          </p:cNvPr>
          <p:cNvSpPr txBox="1"/>
          <p:nvPr/>
        </p:nvSpPr>
        <p:spPr>
          <a:xfrm>
            <a:off x="1252779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1548CC-D76F-3D34-A6CC-C380A30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12718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C850A4-E4E8-8110-A552-56057B64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70219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50705E-3988-339C-3DDF-A80CB2626A5C}"/>
              </a:ext>
            </a:extLst>
          </p:cNvPr>
          <p:cNvSpPr txBox="1"/>
          <p:nvPr/>
        </p:nvSpPr>
        <p:spPr>
          <a:xfrm>
            <a:off x="5115228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88366-03D0-85AA-19C7-9F9D2A911BB7}"/>
              </a:ext>
            </a:extLst>
          </p:cNvPr>
          <p:cNvSpPr txBox="1"/>
          <p:nvPr/>
        </p:nvSpPr>
        <p:spPr>
          <a:xfrm>
            <a:off x="8977677" y="5450221"/>
            <a:ext cx="1859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3</a:t>
            </a:r>
          </a:p>
        </p:txBody>
      </p:sp>
    </p:spTree>
    <p:extLst>
      <p:ext uri="{BB962C8B-B14F-4D97-AF65-F5344CB8AC3E}">
        <p14:creationId xmlns:p14="http://schemas.microsoft.com/office/powerpoint/2010/main" val="32698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2" grpId="0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8B7FF-0331-1AE5-5828-558EC50AF3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54219" y="463137"/>
            <a:ext cx="4039952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O" sz="40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Epifenomenalisme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C678E-0F16-1BB6-4139-C72EB898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3903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C66AB-5C78-A8B3-131D-1B365854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352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3D829-2D40-91CA-35DB-C38937771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8801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1548CC-D76F-3D34-A6CC-C380A30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12718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C850A4-E4E8-8110-A552-56057B64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70219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B8479B-D88E-E84F-88E5-9DE485E77C92}"/>
              </a:ext>
            </a:extLst>
          </p:cNvPr>
          <p:cNvSpPr txBox="1"/>
          <p:nvPr/>
        </p:nvSpPr>
        <p:spPr>
          <a:xfrm>
            <a:off x="1252779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0705E-3988-339C-3DDF-A80CB2626A5C}"/>
              </a:ext>
            </a:extLst>
          </p:cNvPr>
          <p:cNvSpPr txBox="1"/>
          <p:nvPr/>
        </p:nvSpPr>
        <p:spPr>
          <a:xfrm>
            <a:off x="5115228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88366-03D0-85AA-19C7-9F9D2A911BB7}"/>
              </a:ext>
            </a:extLst>
          </p:cNvPr>
          <p:cNvSpPr txBox="1"/>
          <p:nvPr/>
        </p:nvSpPr>
        <p:spPr>
          <a:xfrm>
            <a:off x="8977677" y="5450221"/>
            <a:ext cx="1859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B8B17-F683-C2E4-E794-42084472F8E5}"/>
              </a:ext>
            </a:extLst>
          </p:cNvPr>
          <p:cNvSpPr txBox="1"/>
          <p:nvPr/>
        </p:nvSpPr>
        <p:spPr>
          <a:xfrm>
            <a:off x="991161" y="1469732"/>
            <a:ext cx="107072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Kroppen kan påvirke sinnet kausalt, men </a:t>
            </a:r>
            <a:r>
              <a:rPr lang="nb-NO" sz="2400" b="1" dirty="0"/>
              <a:t>sinnet kan ikke påvirke kroppen kausalt.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O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0FB2CE-CF67-55F5-D165-FFD1A8BFC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148309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306DE0-2EC2-42BE-74D7-84F21CC92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52520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BE599-15CD-9F05-7018-279053D3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848665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Callout 15">
            <a:extLst>
              <a:ext uri="{FF2B5EF4-FFF2-40B4-BE49-F238E27FC236}">
                <a16:creationId xmlns:a16="http://schemas.microsoft.com/office/drawing/2014/main" id="{5C0F3A7F-C3EA-1005-449E-F20DC9B5D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8342" y="2679745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Cloud Callout 16">
            <a:extLst>
              <a:ext uri="{FF2B5EF4-FFF2-40B4-BE49-F238E27FC236}">
                <a16:creationId xmlns:a16="http://schemas.microsoft.com/office/drawing/2014/main" id="{0856ED6B-E301-38AB-4815-C7B02D2DA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5163" y="2778091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8" name="Cloud Callout 17">
            <a:extLst>
              <a:ext uri="{FF2B5EF4-FFF2-40B4-BE49-F238E27FC236}">
                <a16:creationId xmlns:a16="http://schemas.microsoft.com/office/drawing/2014/main" id="{D85418B4-654B-E47F-1859-3274608E3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2444" y="2679745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F6E06-D607-17B9-8E1A-D33B1B36BF11}"/>
              </a:ext>
            </a:extLst>
          </p:cNvPr>
          <p:cNvSpPr txBox="1"/>
          <p:nvPr/>
        </p:nvSpPr>
        <p:spPr>
          <a:xfrm>
            <a:off x="1150599" y="3160085"/>
            <a:ext cx="1995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43854-EA32-DAB9-7EE5-3DB0D2BA4F71}"/>
              </a:ext>
            </a:extLst>
          </p:cNvPr>
          <p:cNvSpPr txBox="1"/>
          <p:nvPr/>
        </p:nvSpPr>
        <p:spPr>
          <a:xfrm>
            <a:off x="5098291" y="3258431"/>
            <a:ext cx="1996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6B2DF1-A927-35EE-5671-28878503638F}"/>
              </a:ext>
            </a:extLst>
          </p:cNvPr>
          <p:cNvSpPr txBox="1"/>
          <p:nvPr/>
        </p:nvSpPr>
        <p:spPr>
          <a:xfrm>
            <a:off x="8764701" y="3160085"/>
            <a:ext cx="1995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3</a:t>
            </a:r>
          </a:p>
        </p:txBody>
      </p:sp>
    </p:spTree>
    <p:extLst>
      <p:ext uri="{BB962C8B-B14F-4D97-AF65-F5344CB8AC3E}">
        <p14:creationId xmlns:p14="http://schemas.microsoft.com/office/powerpoint/2010/main" val="1806858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8B7FF-0331-1AE5-5828-558EC50AF3D6}"/>
              </a:ext>
            </a:extLst>
          </p:cNvPr>
          <p:cNvSpPr txBox="1"/>
          <p:nvPr/>
        </p:nvSpPr>
        <p:spPr>
          <a:xfrm>
            <a:off x="3754219" y="463137"/>
            <a:ext cx="4039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O" sz="4000" u="sng" dirty="0"/>
              <a:t>Epifenomenalisme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C678E-0F16-1BB6-4139-C72EB898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3903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C66AB-5C78-A8B3-131D-1B365854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6352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53D829-2D40-91CA-35DB-C38937771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38801" y="5151512"/>
            <a:ext cx="2137558" cy="997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1548CC-D76F-3D34-A6CC-C380A30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12718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C850A4-E4E8-8110-A552-56057B64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70219" y="5650276"/>
            <a:ext cx="108065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B8479B-D88E-E84F-88E5-9DE485E77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52779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0705E-3988-339C-3DDF-A80CB2626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115228" y="5450221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88366-03D0-85AA-19C7-9F9D2A91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77677" y="5450221"/>
            <a:ext cx="1859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Fysisk tilstand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B8B17-F683-C2E4-E794-42084472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1161" y="1469732"/>
            <a:ext cx="107072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Kroppen kan påvirke sinnet kausalt, men </a:t>
            </a:r>
            <a:r>
              <a:rPr lang="nb-NO" sz="2400" b="1" dirty="0"/>
              <a:t>sinnet kan ikke påvirke kroppen kausalt.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O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0FB2CE-CF67-55F5-D165-FFD1A8BFC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148309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306DE0-2EC2-42BE-74D7-84F21CC92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52520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EBE599-15CD-9F05-7018-279053D3A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848665" y="4339244"/>
            <a:ext cx="0" cy="6820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Callout 15">
            <a:extLst>
              <a:ext uri="{FF2B5EF4-FFF2-40B4-BE49-F238E27FC236}">
                <a16:creationId xmlns:a16="http://schemas.microsoft.com/office/drawing/2014/main" id="{5C0F3A7F-C3EA-1005-449E-F20DC9B5D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8342" y="2679745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Cloud Callout 16">
            <a:extLst>
              <a:ext uri="{FF2B5EF4-FFF2-40B4-BE49-F238E27FC236}">
                <a16:creationId xmlns:a16="http://schemas.microsoft.com/office/drawing/2014/main" id="{0856ED6B-E301-38AB-4815-C7B02D2DA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5163" y="2778091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8" name="Cloud Callout 17">
            <a:extLst>
              <a:ext uri="{FF2B5EF4-FFF2-40B4-BE49-F238E27FC236}">
                <a16:creationId xmlns:a16="http://schemas.microsoft.com/office/drawing/2014/main" id="{D85418B4-654B-E47F-1859-3274608E3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2444" y="2679745"/>
            <a:ext cx="2259933" cy="1360790"/>
          </a:xfrm>
          <a:prstGeom prst="cloudCallout">
            <a:avLst>
              <a:gd name="adj1" fmla="val -49524"/>
              <a:gd name="adj2" fmla="val 4417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F6E06-D607-17B9-8E1A-D33B1B36B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50599" y="3160085"/>
            <a:ext cx="1995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43854-EA32-DAB9-7EE5-3DB0D2BA4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098291" y="3258431"/>
            <a:ext cx="1996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6B2DF1-A927-35EE-5671-28878503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64701" y="3160085"/>
            <a:ext cx="1995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000" b="1" dirty="0"/>
              <a:t>Mental tilstand 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3F095B4-49C7-7C08-943D-1CB01F6C3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434" y="1736240"/>
            <a:ext cx="10141530" cy="3621421"/>
          </a:xfrm>
          <a:prstGeom prst="roundRect">
            <a:avLst/>
          </a:prstGeom>
          <a:solidFill>
            <a:srgbClr val="FF0000">
              <a:alpha val="844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A6722D-9BFF-F08B-8C11-4A5B0DA03D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05237" y="2696379"/>
            <a:ext cx="9100245" cy="18136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O" sz="5400" b="1" i="0" u="none" strike="noStrike" kern="1200" cap="none" spc="50" normalizeH="0" baseline="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NB! DETTE ER </a:t>
            </a:r>
            <a:r>
              <a:rPr kumimoji="0" lang="en-NO" sz="5400" b="1" i="0" u="sng" strike="noStrike" kern="1200" cap="none" spc="50" normalizeH="0" baseline="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IKKE</a:t>
            </a:r>
            <a:r>
              <a:rPr kumimoji="0" lang="en-NO" sz="5400" b="1" i="0" u="none" strike="noStrike" kern="1200" cap="none" spc="50" normalizeH="0" baseline="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uLnTx/>
                <a:uFillTx/>
                <a:latin typeface="+mn-lt"/>
                <a:ea typeface="+mn-ea"/>
                <a:cs typeface="+mn-cs"/>
              </a:rPr>
              <a:t> DESCARTES’ SYN</a:t>
            </a:r>
          </a:p>
        </p:txBody>
      </p:sp>
    </p:spTree>
    <p:extLst>
      <p:ext uri="{BB962C8B-B14F-4D97-AF65-F5344CB8AC3E}">
        <p14:creationId xmlns:p14="http://schemas.microsoft.com/office/powerpoint/2010/main" val="2404659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26CF74-B7BD-9A48-962C-ED4E6F91F7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343150" y="914400"/>
            <a:ext cx="3152851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Elisabeths argument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F2512-5EB0-A24B-926E-BB4E158E0713}"/>
              </a:ext>
            </a:extLst>
          </p:cNvPr>
          <p:cNvSpPr txBox="1"/>
          <p:nvPr/>
        </p:nvSpPr>
        <p:spPr>
          <a:xfrm>
            <a:off x="1238251" y="1847850"/>
            <a:ext cx="65722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nb-NO" dirty="0">
                <a:solidFill>
                  <a:srgbClr val="FF0000"/>
                </a:solidFill>
              </a:rPr>
              <a:t>Sinnet kan påvirke kroppen kausalt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Kausal påvirkning på kroppen krever fysisk kontakt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Fysisk kontakt er bare mulig mellom materielle objekter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/>
              <a:t>Sinnet er ikke et materielt objekt (Descartes’ dualisme)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>
                <a:solidFill>
                  <a:srgbClr val="FF0000"/>
                </a:solidFill>
              </a:rPr>
              <a:t>Sinnet kan ikke påvirke kroppen kausalt (fra 2-4)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Dette fører til en selvmotsigelse: 1) Sinnet kan påvirke kroppen kausalt, og 5) sinnet kan ikke påvirke kroppen kausalt.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Konklusjon: Enten (i) Sinnet kan ikke påvirke kroppen kausalt, eller (ii) Descartes’ dualisme er feil.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FAEDF-1404-6B4D-A466-C5A6ECCA3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11165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F730D-870C-5A49-8658-BB46EAEBD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241" y="647130"/>
            <a:ext cx="10959522" cy="1097264"/>
          </a:xfrm>
        </p:spPr>
        <p:txBody>
          <a:bodyPr>
            <a:normAutofit fontScale="90000"/>
          </a:bodyPr>
          <a:lstStyle/>
          <a:p>
            <a:r>
              <a:rPr lang="en-NO" sz="5300" dirty="0"/>
              <a:t>Plan for forelesningen</a:t>
            </a:r>
            <a:br>
              <a:rPr lang="en-NO" dirty="0"/>
            </a:br>
            <a:br>
              <a:rPr lang="en-NO" dirty="0"/>
            </a:br>
            <a:br>
              <a:rPr lang="en-NO" dirty="0"/>
            </a:br>
            <a:br>
              <a:rPr lang="en-NO" dirty="0"/>
            </a:br>
            <a:endParaRPr lang="en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EFF26-F787-2345-8DA0-35D7BF06F2BB}"/>
              </a:ext>
            </a:extLst>
          </p:cNvPr>
          <p:cNvSpPr txBox="1"/>
          <p:nvPr/>
        </p:nvSpPr>
        <p:spPr>
          <a:xfrm>
            <a:off x="745588" y="2363372"/>
            <a:ext cx="5824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Kropp og sinn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Descartes’ dualisme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Elisabeth av Böhmens innvending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NO" sz="2800" dirty="0"/>
              <a:t>Brevvekslingen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endParaRPr lang="en-NO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585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CFBA4C-0B0C-6D42-9FFD-2934871FC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42678" y="2273844"/>
            <a:ext cx="6404521" cy="23103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Brev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2: Descartes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Elisabeth,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21.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1643</a:t>
            </a:r>
          </a:p>
        </p:txBody>
      </p:sp>
    </p:spTree>
    <p:extLst>
      <p:ext uri="{BB962C8B-B14F-4D97-AF65-F5344CB8AC3E}">
        <p14:creationId xmlns:p14="http://schemas.microsoft.com/office/powerpoint/2010/main" val="19124834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B153-6BB0-4540-8D02-7429731D6E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7FA78-8D8A-294D-B0AB-E76EE76EC767}"/>
              </a:ext>
            </a:extLst>
          </p:cNvPr>
          <p:cNvSpPr txBox="1"/>
          <p:nvPr/>
        </p:nvSpPr>
        <p:spPr>
          <a:xfrm>
            <a:off x="95250" y="2720499"/>
            <a:ext cx="7591750" cy="4119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/>
              <a:t>“det er  to ting å </a:t>
            </a:r>
            <a:r>
              <a:rPr lang="en-GB" sz="2000" dirty="0" err="1"/>
              <a:t>si</a:t>
            </a:r>
            <a:r>
              <a:rPr lang="en-GB" sz="2000" dirty="0"/>
              <a:t> om den </a:t>
            </a:r>
            <a:r>
              <a:rPr lang="en-GB" sz="2000" dirty="0" err="1"/>
              <a:t>menneskelige</a:t>
            </a:r>
            <a:r>
              <a:rPr lang="en-GB" sz="2000" dirty="0"/>
              <a:t> </a:t>
            </a:r>
            <a:r>
              <a:rPr lang="en-GB" sz="2000" dirty="0" err="1"/>
              <a:t>sjel</a:t>
            </a:r>
            <a:r>
              <a:rPr lang="en-GB" sz="2000" dirty="0"/>
              <a:t>, </a:t>
            </a:r>
            <a:r>
              <a:rPr lang="en-GB" sz="2000" dirty="0" err="1"/>
              <a:t>og</a:t>
            </a:r>
            <a:r>
              <a:rPr lang="en-GB" sz="2000" dirty="0"/>
              <a:t> all </a:t>
            </a:r>
            <a:r>
              <a:rPr lang="en-GB" sz="2000" dirty="0" err="1"/>
              <a:t>mulig</a:t>
            </a:r>
            <a:r>
              <a:rPr lang="en-GB" sz="2000" dirty="0"/>
              <a:t> </a:t>
            </a:r>
            <a:r>
              <a:rPr lang="en-GB" sz="2000" dirty="0" err="1"/>
              <a:t>kunnskap</a:t>
            </a:r>
            <a:r>
              <a:rPr lang="en-GB" sz="2000" dirty="0"/>
              <a:t> om </a:t>
            </a:r>
            <a:r>
              <a:rPr lang="en-GB" sz="2000" dirty="0" err="1"/>
              <a:t>sjelens</a:t>
            </a:r>
            <a:r>
              <a:rPr lang="en-GB" sz="2000" dirty="0"/>
              <a:t> </a:t>
            </a:r>
            <a:r>
              <a:rPr lang="en-GB" sz="2000" dirty="0" err="1"/>
              <a:t>natur</a:t>
            </a:r>
            <a:r>
              <a:rPr lang="en-GB" sz="2000" dirty="0"/>
              <a:t> </a:t>
            </a:r>
            <a:r>
              <a:rPr lang="en-GB" sz="2000" dirty="0" err="1"/>
              <a:t>avhenger</a:t>
            </a:r>
            <a:r>
              <a:rPr lang="en-GB" sz="2000" dirty="0"/>
              <a:t>  </a:t>
            </a:r>
            <a:r>
              <a:rPr lang="en-GB" sz="2000" dirty="0" err="1"/>
              <a:t>av</a:t>
            </a:r>
            <a:r>
              <a:rPr lang="en-GB" sz="2000" dirty="0"/>
              <a:t> </a:t>
            </a:r>
            <a:r>
              <a:rPr lang="en-GB" sz="2000" dirty="0" err="1"/>
              <a:t>disse</a:t>
            </a:r>
            <a:r>
              <a:rPr lang="en-GB" sz="2000" dirty="0"/>
              <a:t> to. Det </a:t>
            </a:r>
            <a:r>
              <a:rPr lang="en-GB" sz="2000" i="1" dirty="0" err="1"/>
              <a:t>ene</a:t>
            </a:r>
            <a:r>
              <a:rPr lang="en-GB" sz="2000" i="1" dirty="0"/>
              <a:t> </a:t>
            </a:r>
            <a:r>
              <a:rPr lang="en-GB" sz="2000" dirty="0"/>
              <a:t>er at </a:t>
            </a:r>
            <a:r>
              <a:rPr lang="en-GB" sz="2000" dirty="0" err="1"/>
              <a:t>sjelen</a:t>
            </a:r>
            <a:r>
              <a:rPr lang="en-GB" sz="2000" dirty="0"/>
              <a:t> </a:t>
            </a:r>
            <a:r>
              <a:rPr lang="en-GB" sz="2000" dirty="0" err="1"/>
              <a:t>tenker</a:t>
            </a:r>
            <a:r>
              <a:rPr lang="en-GB" sz="2000" dirty="0"/>
              <a:t>, </a:t>
            </a:r>
            <a:r>
              <a:rPr lang="en-GB" sz="2000" dirty="0" err="1"/>
              <a:t>og</a:t>
            </a:r>
            <a:r>
              <a:rPr lang="en-GB" sz="2000" dirty="0"/>
              <a:t> det </a:t>
            </a:r>
            <a:r>
              <a:rPr lang="en-GB" sz="2000" i="1" dirty="0" err="1"/>
              <a:t>andre</a:t>
            </a:r>
            <a:r>
              <a:rPr lang="en-GB" sz="2000" i="1" dirty="0"/>
              <a:t> </a:t>
            </a:r>
            <a:r>
              <a:rPr lang="en-GB" sz="2000" dirty="0"/>
              <a:t>er at </a:t>
            </a:r>
            <a:r>
              <a:rPr lang="en-GB" sz="2000" dirty="0" err="1"/>
              <a:t>siden</a:t>
            </a:r>
            <a:r>
              <a:rPr lang="en-GB" sz="2000" dirty="0"/>
              <a:t> </a:t>
            </a:r>
            <a:r>
              <a:rPr lang="en-GB" sz="2000" dirty="0" err="1"/>
              <a:t>sjelen</a:t>
            </a:r>
            <a:r>
              <a:rPr lang="en-GB" sz="2000" dirty="0"/>
              <a:t> er </a:t>
            </a:r>
            <a:r>
              <a:rPr lang="en-GB" sz="2000" dirty="0" err="1"/>
              <a:t>forenet</a:t>
            </a:r>
            <a:r>
              <a:rPr lang="en-GB" sz="2000" dirty="0"/>
              <a:t> med </a:t>
            </a:r>
            <a:r>
              <a:rPr lang="en-GB" sz="2000" dirty="0" err="1"/>
              <a:t>kroppen</a:t>
            </a:r>
            <a:r>
              <a:rPr lang="en-GB" sz="2000" dirty="0"/>
              <a:t>, </a:t>
            </a:r>
            <a:r>
              <a:rPr lang="en-GB" sz="2000" dirty="0" err="1"/>
              <a:t>kan</a:t>
            </a:r>
            <a:r>
              <a:rPr lang="en-GB" sz="2000" dirty="0"/>
              <a:t> den </a:t>
            </a:r>
            <a:r>
              <a:rPr lang="en-GB" sz="2000" dirty="0" err="1"/>
              <a:t>virke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</a:t>
            </a:r>
            <a:r>
              <a:rPr lang="en-GB" sz="2000" dirty="0" err="1"/>
              <a:t>og</a:t>
            </a:r>
            <a:r>
              <a:rPr lang="en-GB" sz="2000" dirty="0"/>
              <a:t> </a:t>
            </a:r>
            <a:r>
              <a:rPr lang="en-GB" sz="2000" dirty="0" err="1"/>
              <a:t>påvirkes</a:t>
            </a:r>
            <a:r>
              <a:rPr lang="en-GB" sz="2000" dirty="0"/>
              <a:t> </a:t>
            </a:r>
            <a:r>
              <a:rPr lang="en-GB" sz="2000" dirty="0" err="1"/>
              <a:t>sammen</a:t>
            </a:r>
            <a:r>
              <a:rPr lang="en-GB" sz="2000" dirty="0"/>
              <a:t> med den.” (s. 217)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/>
              <a:t>“</a:t>
            </a:r>
            <a:r>
              <a:rPr lang="en-GB" sz="2000" dirty="0" err="1"/>
              <a:t>Siden</a:t>
            </a:r>
            <a:r>
              <a:rPr lang="en-GB" sz="2000" dirty="0"/>
              <a:t> min </a:t>
            </a:r>
            <a:r>
              <a:rPr lang="en-GB" sz="2000" dirty="0" err="1"/>
              <a:t>fremste</a:t>
            </a:r>
            <a:r>
              <a:rPr lang="en-GB" sz="2000" dirty="0"/>
              <a:t> </a:t>
            </a:r>
            <a:r>
              <a:rPr lang="en-GB" sz="2000" dirty="0" err="1"/>
              <a:t>hensikt</a:t>
            </a:r>
            <a:r>
              <a:rPr lang="en-GB" sz="2000" dirty="0"/>
              <a:t> var å </a:t>
            </a:r>
            <a:r>
              <a:rPr lang="en-GB" sz="2000" dirty="0" err="1"/>
              <a:t>bevise</a:t>
            </a:r>
            <a:r>
              <a:rPr lang="en-GB" sz="2000" dirty="0"/>
              <a:t> at </a:t>
            </a:r>
            <a:r>
              <a:rPr lang="en-GB" sz="2000" dirty="0" err="1"/>
              <a:t>sjelen</a:t>
            </a:r>
            <a:r>
              <a:rPr lang="en-GB" sz="2000" dirty="0"/>
              <a:t> </a:t>
            </a:r>
            <a:r>
              <a:rPr lang="en-GB" sz="2000" dirty="0" err="1"/>
              <a:t>og</a:t>
            </a:r>
            <a:r>
              <a:rPr lang="en-GB" sz="2000" dirty="0"/>
              <a:t> </a:t>
            </a:r>
            <a:r>
              <a:rPr lang="en-GB" sz="2000" dirty="0" err="1"/>
              <a:t>kroppen</a:t>
            </a:r>
            <a:r>
              <a:rPr lang="en-GB" sz="2000" dirty="0"/>
              <a:t> er </a:t>
            </a:r>
            <a:r>
              <a:rPr lang="en-GB" sz="2000" dirty="0" err="1"/>
              <a:t>distinkte</a:t>
            </a:r>
            <a:r>
              <a:rPr lang="en-GB" sz="2000" dirty="0"/>
              <a:t>, har </a:t>
            </a:r>
            <a:r>
              <a:rPr lang="en-GB" sz="2000" dirty="0" err="1"/>
              <a:t>jeg</a:t>
            </a:r>
            <a:r>
              <a:rPr lang="en-GB" sz="2000" dirty="0"/>
              <a:t> </a:t>
            </a:r>
            <a:r>
              <a:rPr lang="en-GB" sz="2000" dirty="0" err="1"/>
              <a:t>sagt</a:t>
            </a:r>
            <a:r>
              <a:rPr lang="en-GB" sz="2000" dirty="0"/>
              <a:t> </a:t>
            </a:r>
            <a:r>
              <a:rPr lang="en-GB" sz="2000" dirty="0" err="1"/>
              <a:t>sa</a:t>
            </a:r>
            <a:r>
              <a:rPr lang="en-GB" sz="2000" dirty="0"/>
              <a:t>̊ </a:t>
            </a:r>
            <a:r>
              <a:rPr lang="en-GB" sz="2000" dirty="0" err="1"/>
              <a:t>godt</a:t>
            </a:r>
            <a:r>
              <a:rPr lang="en-GB" sz="2000" dirty="0"/>
              <a:t> </a:t>
            </a:r>
            <a:r>
              <a:rPr lang="en-GB" sz="2000" dirty="0" err="1"/>
              <a:t>som</a:t>
            </a:r>
            <a:r>
              <a:rPr lang="en-GB" sz="2000" dirty="0"/>
              <a:t> </a:t>
            </a:r>
            <a:r>
              <a:rPr lang="en-GB" sz="2000" dirty="0" err="1"/>
              <a:t>ingenting</a:t>
            </a:r>
            <a:r>
              <a:rPr lang="en-GB" sz="2000" dirty="0"/>
              <a:t> om </a:t>
            </a:r>
            <a:r>
              <a:rPr lang="en-GB" sz="2000" dirty="0" err="1"/>
              <a:t>dette</a:t>
            </a:r>
            <a:r>
              <a:rPr lang="en-GB" sz="2000" dirty="0"/>
              <a:t> </a:t>
            </a:r>
            <a:r>
              <a:rPr lang="en-GB" sz="2000" dirty="0" err="1"/>
              <a:t>andre</a:t>
            </a:r>
            <a:r>
              <a:rPr lang="en-GB" sz="2000" dirty="0"/>
              <a:t>, men heller </a:t>
            </a:r>
            <a:r>
              <a:rPr lang="en-GB" sz="2000" dirty="0" err="1"/>
              <a:t>ivret</a:t>
            </a:r>
            <a:r>
              <a:rPr lang="en-GB" sz="2000" dirty="0"/>
              <a:t> </a:t>
            </a:r>
            <a:r>
              <a:rPr lang="en-GB" sz="2000" dirty="0" err="1"/>
              <a:t>etter</a:t>
            </a:r>
            <a:r>
              <a:rPr lang="en-GB" sz="2000" dirty="0"/>
              <a:t> å </a:t>
            </a:r>
            <a:r>
              <a:rPr lang="en-GB" sz="2000" dirty="0" err="1"/>
              <a:t>gjøre</a:t>
            </a:r>
            <a:r>
              <a:rPr lang="en-GB" sz="2000" dirty="0"/>
              <a:t> det </a:t>
            </a:r>
            <a:r>
              <a:rPr lang="en-GB" sz="2000" dirty="0" err="1"/>
              <a:t>første</a:t>
            </a:r>
            <a:r>
              <a:rPr lang="en-GB" sz="2000" dirty="0"/>
              <a:t> </a:t>
            </a:r>
            <a:r>
              <a:rPr lang="en-GB" sz="2000" dirty="0" err="1"/>
              <a:t>forståelig</a:t>
            </a:r>
            <a:r>
              <a:rPr lang="en-GB" sz="2000" dirty="0"/>
              <a:t>.” (s. 217)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sz="2000" dirty="0"/>
              <a:t>F</a:t>
            </a:r>
            <a:r>
              <a:rPr lang="en-US" sz="2000" dirty="0" err="1"/>
              <a:t>okusert</a:t>
            </a:r>
            <a:r>
              <a:rPr lang="en-US" sz="2000" dirty="0"/>
              <a:t>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idéene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tilhører</a:t>
            </a:r>
            <a:r>
              <a:rPr lang="en-US" sz="2000" dirty="0"/>
              <a:t> </a:t>
            </a:r>
            <a:r>
              <a:rPr lang="en-US" sz="2000" dirty="0" err="1"/>
              <a:t>sjelen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idéene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tilhører</a:t>
            </a:r>
            <a:r>
              <a:rPr lang="en-US" sz="2000" dirty="0"/>
              <a:t> </a:t>
            </a:r>
            <a:r>
              <a:rPr lang="en-US" sz="2000" dirty="0" err="1"/>
              <a:t>legemet</a:t>
            </a:r>
            <a:r>
              <a:rPr lang="en-US" sz="2000" dirty="0"/>
              <a:t>, men </a:t>
            </a:r>
            <a:r>
              <a:rPr lang="en-US" sz="2000" dirty="0" err="1"/>
              <a:t>ikke</a:t>
            </a:r>
            <a:r>
              <a:rPr lang="en-US" sz="2000" dirty="0"/>
              <a:t> de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knytter</a:t>
            </a:r>
            <a:r>
              <a:rPr lang="en-US" sz="2000" dirty="0"/>
              <a:t> seg </a:t>
            </a:r>
            <a:r>
              <a:rPr lang="en-US" sz="2000" dirty="0" err="1"/>
              <a:t>til</a:t>
            </a:r>
            <a:r>
              <a:rPr lang="en-US" sz="2000" dirty="0"/>
              <a:t> </a:t>
            </a:r>
            <a:r>
              <a:rPr lang="en-US" sz="2000" dirty="0" err="1"/>
              <a:t>foreningen</a:t>
            </a:r>
            <a:r>
              <a:rPr lang="en-US" sz="2000" dirty="0"/>
              <a:t> </a:t>
            </a:r>
            <a:r>
              <a:rPr lang="en-US" sz="2000" dirty="0" err="1"/>
              <a:t>mellom</a:t>
            </a:r>
            <a:r>
              <a:rPr lang="en-US" sz="2000" dirty="0"/>
              <a:t> dem.</a:t>
            </a:r>
          </a:p>
        </p:txBody>
      </p:sp>
      <p:pic>
        <p:nvPicPr>
          <p:cNvPr id="4" name="Frans_Hals_-_Portret_van_René_Descartes.jpg">
            <a:extLst>
              <a:ext uri="{FF2B5EF4-FFF2-40B4-BE49-F238E27FC236}">
                <a16:creationId xmlns:a16="http://schemas.microsoft.com/office/drawing/2014/main" id="{68CD00CB-7A12-284F-B5FA-59C8626C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880" t="-1" r="17612" b="53"/>
          <a:stretch/>
        </p:blipFill>
        <p:spPr>
          <a:xfrm>
            <a:off x="7820350" y="10"/>
            <a:ext cx="4368602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2336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B153-6BB0-4540-8D02-7429731D6E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7FA78-8D8A-294D-B0AB-E76EE76EC767}"/>
              </a:ext>
            </a:extLst>
          </p:cNvPr>
          <p:cNvSpPr txBox="1"/>
          <p:nvPr/>
        </p:nvSpPr>
        <p:spPr>
          <a:xfrm>
            <a:off x="640080" y="2720499"/>
            <a:ext cx="6846570" cy="4119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US" sz="2400" dirty="0"/>
              <a:t>Tre </a:t>
            </a:r>
            <a:r>
              <a:rPr lang="en-US" sz="2400" dirty="0" err="1"/>
              <a:t>ulike</a:t>
            </a:r>
            <a:r>
              <a:rPr lang="en-US" sz="2400" dirty="0"/>
              <a:t> </a:t>
            </a:r>
            <a:r>
              <a:rPr lang="en-US" sz="2400" dirty="0" err="1"/>
              <a:t>idéer</a:t>
            </a:r>
            <a:r>
              <a:rPr lang="en-US" sz="2400" dirty="0"/>
              <a:t>:</a:t>
            </a:r>
          </a:p>
          <a:p>
            <a:pPr marL="457200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Kropp: </a:t>
            </a:r>
            <a:r>
              <a:rPr lang="en-US" sz="2400" dirty="0" err="1"/>
              <a:t>Idéen</a:t>
            </a:r>
            <a:r>
              <a:rPr lang="en-US" sz="2400" dirty="0"/>
              <a:t> om </a:t>
            </a:r>
            <a:r>
              <a:rPr lang="en-US" sz="2400" dirty="0" err="1"/>
              <a:t>utstrekning</a:t>
            </a:r>
            <a:endParaRPr lang="en-US" sz="2400" dirty="0"/>
          </a:p>
          <a:p>
            <a:pPr marL="457200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 err="1"/>
              <a:t>Sjelen</a:t>
            </a:r>
            <a:r>
              <a:rPr lang="en-US" sz="2400" dirty="0"/>
              <a:t>: </a:t>
            </a:r>
            <a:r>
              <a:rPr lang="en-US" sz="2400" dirty="0" err="1"/>
              <a:t>Idéen</a:t>
            </a:r>
            <a:r>
              <a:rPr lang="en-US" sz="2400" dirty="0"/>
              <a:t> om </a:t>
            </a:r>
            <a:r>
              <a:rPr lang="en-US" sz="2400" dirty="0" err="1"/>
              <a:t>tenkning</a:t>
            </a:r>
            <a:endParaRPr lang="en-US" sz="2400" dirty="0"/>
          </a:p>
          <a:p>
            <a:pPr marL="457200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2400" dirty="0" err="1"/>
              <a:t>Sjelen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kroppen</a:t>
            </a:r>
            <a:r>
              <a:rPr lang="en-US" sz="2400" dirty="0"/>
              <a:t>: </a:t>
            </a:r>
            <a:r>
              <a:rPr lang="en-US" sz="2400" dirty="0" err="1"/>
              <a:t>Idéen</a:t>
            </a:r>
            <a:r>
              <a:rPr lang="en-US" sz="2400" dirty="0"/>
              <a:t> om </a:t>
            </a:r>
            <a:r>
              <a:rPr lang="en-US" sz="2400" dirty="0" err="1"/>
              <a:t>deres</a:t>
            </a:r>
            <a:r>
              <a:rPr lang="en-US" sz="2400" dirty="0"/>
              <a:t> </a:t>
            </a:r>
            <a:r>
              <a:rPr lang="en-US" sz="2400" dirty="0" err="1"/>
              <a:t>forening</a:t>
            </a:r>
            <a:endParaRPr lang="en-US" sz="2400" dirty="0"/>
          </a:p>
          <a:p>
            <a:pPr marL="800100" lvl="1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GB" sz="2400" dirty="0" err="1"/>
              <a:t>Ideene</a:t>
            </a:r>
            <a:r>
              <a:rPr lang="en-GB" sz="2400" dirty="0"/>
              <a:t> om </a:t>
            </a:r>
            <a:r>
              <a:rPr lang="en-GB" sz="2400" dirty="0" err="1"/>
              <a:t>sjelens</a:t>
            </a:r>
            <a:r>
              <a:rPr lang="en-GB" sz="2400" dirty="0"/>
              <a:t> </a:t>
            </a:r>
            <a:r>
              <a:rPr lang="en-GB" sz="2400" dirty="0" err="1"/>
              <a:t>makt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å </a:t>
            </a:r>
            <a:r>
              <a:rPr lang="en-GB" sz="2400" dirty="0" err="1"/>
              <a:t>bevege</a:t>
            </a:r>
            <a:r>
              <a:rPr lang="en-GB" sz="2400" dirty="0"/>
              <a:t> </a:t>
            </a:r>
            <a:r>
              <a:rPr lang="en-GB" sz="2400" dirty="0" err="1"/>
              <a:t>kroppen</a:t>
            </a:r>
            <a:r>
              <a:rPr lang="en-GB" sz="2400" dirty="0"/>
              <a:t>, </a:t>
            </a:r>
            <a:r>
              <a:rPr lang="en-GB" sz="2400" dirty="0" err="1"/>
              <a:t>og</a:t>
            </a:r>
            <a:r>
              <a:rPr lang="en-GB" sz="2400" dirty="0"/>
              <a:t> om </a:t>
            </a:r>
            <a:r>
              <a:rPr lang="en-GB" sz="2400" dirty="0" err="1"/>
              <a:t>kroppens</a:t>
            </a:r>
            <a:r>
              <a:rPr lang="en-GB" sz="2400" dirty="0"/>
              <a:t> </a:t>
            </a:r>
            <a:r>
              <a:rPr lang="en-GB" sz="2400" dirty="0" err="1"/>
              <a:t>makt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å </a:t>
            </a:r>
            <a:r>
              <a:rPr lang="en-GB" sz="2400" dirty="0" err="1"/>
              <a:t>påvirke</a:t>
            </a:r>
            <a:r>
              <a:rPr lang="en-GB" sz="2400" dirty="0"/>
              <a:t> </a:t>
            </a:r>
            <a:r>
              <a:rPr lang="en-GB" sz="2400" dirty="0" err="1"/>
              <a:t>sjelen</a:t>
            </a:r>
            <a:r>
              <a:rPr lang="en-GB" sz="2400" dirty="0"/>
              <a:t> </a:t>
            </a:r>
            <a:r>
              <a:rPr lang="en-GB" sz="2400" dirty="0" err="1"/>
              <a:t>ved</a:t>
            </a:r>
            <a:r>
              <a:rPr lang="en-GB" sz="2400" dirty="0"/>
              <a:t> å </a:t>
            </a:r>
            <a:r>
              <a:rPr lang="en-GB" sz="2400" dirty="0" err="1"/>
              <a:t>forårsake</a:t>
            </a:r>
            <a:r>
              <a:rPr lang="en-GB" sz="2400" dirty="0"/>
              <a:t> dens </a:t>
            </a:r>
            <a:r>
              <a:rPr lang="en-GB" sz="2400" dirty="0" err="1"/>
              <a:t>følelser</a:t>
            </a:r>
            <a:r>
              <a:rPr lang="en-GB" sz="2400" dirty="0"/>
              <a:t>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lidenskaper</a:t>
            </a:r>
            <a:r>
              <a:rPr lang="en-GB" sz="2400" dirty="0"/>
              <a:t>, </a:t>
            </a:r>
            <a:r>
              <a:rPr lang="en-GB" sz="2400" dirty="0" err="1"/>
              <a:t>avhenger</a:t>
            </a:r>
            <a:r>
              <a:rPr lang="en-GB" sz="2400" dirty="0"/>
              <a:t> </a:t>
            </a:r>
            <a:r>
              <a:rPr lang="en-GB" sz="2400" dirty="0" err="1"/>
              <a:t>begge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</a:t>
            </a:r>
            <a:r>
              <a:rPr lang="en-GB" sz="2400" dirty="0" err="1"/>
              <a:t>denne</a:t>
            </a:r>
            <a:r>
              <a:rPr lang="en-GB" sz="2400" dirty="0"/>
              <a:t> </a:t>
            </a:r>
            <a:r>
              <a:rPr lang="en-GB" sz="2400" dirty="0" err="1"/>
              <a:t>ideen</a:t>
            </a:r>
            <a:r>
              <a:rPr lang="en-GB" sz="2400" dirty="0"/>
              <a:t>.” (s.217)</a:t>
            </a:r>
          </a:p>
        </p:txBody>
      </p:sp>
      <p:pic>
        <p:nvPicPr>
          <p:cNvPr id="4" name="Frans_Hals_-_Portret_van_René_Descartes.jpg">
            <a:extLst>
              <a:ext uri="{FF2B5EF4-FFF2-40B4-BE49-F238E27FC236}">
                <a16:creationId xmlns:a16="http://schemas.microsoft.com/office/drawing/2014/main" id="{68CD00CB-7A12-284F-B5FA-59C8626C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880" t="-1" r="17612" b="53"/>
          <a:stretch/>
        </p:blipFill>
        <p:spPr>
          <a:xfrm>
            <a:off x="7820350" y="10"/>
            <a:ext cx="4368602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72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B153-6BB0-4540-8D02-7429731D6E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7FA78-8D8A-294D-B0AB-E76EE76EC767}"/>
              </a:ext>
            </a:extLst>
          </p:cNvPr>
          <p:cNvSpPr txBox="1"/>
          <p:nvPr/>
        </p:nvSpPr>
        <p:spPr>
          <a:xfrm>
            <a:off x="637087" y="3264700"/>
            <a:ext cx="54559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1200"/>
              </a:spcAft>
            </a:pPr>
            <a:r>
              <a:rPr lang="en-US" sz="2800" dirty="0"/>
              <a:t>Analogi med </a:t>
            </a:r>
            <a:r>
              <a:rPr lang="en-US" sz="2800" dirty="0" err="1"/>
              <a:t>tyngde</a:t>
            </a:r>
            <a:r>
              <a:rPr lang="en-US" sz="2800" dirty="0"/>
              <a:t>:</a:t>
            </a:r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Tyngde</a:t>
            </a:r>
            <a:r>
              <a:rPr lang="en-US" sz="2800" dirty="0"/>
              <a:t> </a:t>
            </a:r>
            <a:r>
              <a:rPr lang="en-US" sz="2800" dirty="0" err="1"/>
              <a:t>beveger</a:t>
            </a:r>
            <a:r>
              <a:rPr lang="en-US" sz="2800" dirty="0"/>
              <a:t> </a:t>
            </a:r>
            <a:r>
              <a:rPr lang="en-US" sz="2800" dirty="0" err="1"/>
              <a:t>legemer</a:t>
            </a:r>
            <a:r>
              <a:rPr lang="en-US" sz="2800" dirty="0"/>
              <a:t> </a:t>
            </a:r>
            <a:r>
              <a:rPr lang="en-US" sz="2800" dirty="0" err="1"/>
              <a:t>uten</a:t>
            </a:r>
            <a:r>
              <a:rPr lang="en-US" sz="2800" dirty="0"/>
              <a:t> at det er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berøring</a:t>
            </a:r>
            <a:r>
              <a:rPr lang="en-US" sz="2800" dirty="0"/>
              <a:t> </a:t>
            </a:r>
            <a:r>
              <a:rPr lang="en-US" sz="2800" dirty="0" err="1"/>
              <a:t>mellom</a:t>
            </a:r>
            <a:r>
              <a:rPr lang="en-US" sz="2800" dirty="0"/>
              <a:t> to </a:t>
            </a:r>
            <a:r>
              <a:rPr lang="en-US" sz="2800" dirty="0" err="1"/>
              <a:t>flater</a:t>
            </a:r>
            <a:endParaRPr lang="en-US" sz="2800" dirty="0"/>
          </a:p>
        </p:txBody>
      </p:sp>
      <p:pic>
        <p:nvPicPr>
          <p:cNvPr id="6" name="Picture 5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A03A39BA-74D3-F744-877D-E8AE7B8C8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08" t="302"/>
          <a:stretch/>
        </p:blipFill>
        <p:spPr>
          <a:xfrm>
            <a:off x="7183320" y="10"/>
            <a:ext cx="5007157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757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B153-6BB0-4540-8D02-7429731D6E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7FA78-8D8A-294D-B0AB-E76EE76EC767}"/>
              </a:ext>
            </a:extLst>
          </p:cNvPr>
          <p:cNvSpPr txBox="1"/>
          <p:nvPr/>
        </p:nvSpPr>
        <p:spPr>
          <a:xfrm>
            <a:off x="323850" y="2872899"/>
            <a:ext cx="7219950" cy="36597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Descartes </a:t>
            </a:r>
            <a:r>
              <a:rPr lang="en-US" sz="2800" dirty="0" err="1"/>
              <a:t>sier</a:t>
            </a:r>
            <a:r>
              <a:rPr lang="en-US" sz="2800" dirty="0"/>
              <a:t> at </a:t>
            </a:r>
            <a:r>
              <a:rPr lang="en-US" sz="2800" dirty="0" err="1"/>
              <a:t>han</a:t>
            </a:r>
            <a:r>
              <a:rPr lang="en-US" sz="2800" dirty="0"/>
              <a:t> </a:t>
            </a:r>
            <a:r>
              <a:rPr lang="en-US" sz="2800" dirty="0" err="1"/>
              <a:t>ikke</a:t>
            </a:r>
            <a:r>
              <a:rPr lang="en-US" sz="2800" dirty="0"/>
              <a:t> </a:t>
            </a:r>
            <a:r>
              <a:rPr lang="en-US" sz="2800" dirty="0" err="1"/>
              <a:t>mener</a:t>
            </a:r>
            <a:r>
              <a:rPr lang="en-US" sz="2800" dirty="0"/>
              <a:t> det er </a:t>
            </a:r>
            <a:r>
              <a:rPr lang="en-US" sz="2800" dirty="0" err="1"/>
              <a:t>slik</a:t>
            </a:r>
            <a:r>
              <a:rPr lang="en-US" sz="2800" dirty="0"/>
              <a:t> </a:t>
            </a:r>
            <a:r>
              <a:rPr lang="en-US" sz="2800" dirty="0" err="1"/>
              <a:t>tyngde</a:t>
            </a:r>
            <a:r>
              <a:rPr lang="en-US" sz="2800" dirty="0"/>
              <a:t> </a:t>
            </a:r>
            <a:r>
              <a:rPr lang="en-US" sz="2800" dirty="0" err="1"/>
              <a:t>fungerer</a:t>
            </a:r>
            <a:r>
              <a:rPr lang="en-US" sz="2800" dirty="0"/>
              <a:t>, men det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likevel</a:t>
            </a:r>
            <a:r>
              <a:rPr lang="en-US" sz="2800" dirty="0"/>
              <a:t> </a:t>
            </a:r>
            <a:r>
              <a:rPr lang="en-US" sz="2800" dirty="0" err="1"/>
              <a:t>gi</a:t>
            </a:r>
            <a:r>
              <a:rPr lang="en-US" sz="2800" dirty="0"/>
              <a:t> </a:t>
            </a:r>
            <a:r>
              <a:rPr lang="en-US" sz="2800" dirty="0" err="1"/>
              <a:t>oss</a:t>
            </a:r>
            <a:r>
              <a:rPr lang="en-US" sz="2800" dirty="0"/>
              <a:t> et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modell</a:t>
            </a:r>
            <a:r>
              <a:rPr lang="en-US" sz="2800" dirty="0"/>
              <a:t> for </a:t>
            </a:r>
            <a:r>
              <a:rPr lang="en-US" sz="2800" dirty="0" err="1"/>
              <a:t>hvordan</a:t>
            </a:r>
            <a:r>
              <a:rPr lang="en-US" sz="2800" dirty="0"/>
              <a:t> sinnet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påvirke</a:t>
            </a:r>
            <a:r>
              <a:rPr lang="en-US" sz="2800" dirty="0"/>
              <a:t> </a:t>
            </a:r>
            <a:r>
              <a:rPr lang="en-US" sz="2800" dirty="0" err="1"/>
              <a:t>kroppen</a:t>
            </a:r>
            <a:r>
              <a:rPr lang="en-US" sz="2800" dirty="0"/>
              <a:t>.</a:t>
            </a:r>
          </a:p>
          <a:p>
            <a:pPr marL="57150" algn="just">
              <a:lnSpc>
                <a:spcPct val="90000"/>
              </a:lnSpc>
              <a:spcAft>
                <a:spcPts val="600"/>
              </a:spcAft>
            </a:pPr>
            <a:endParaRPr lang="en-US" sz="2800" dirty="0"/>
          </a:p>
          <a:p>
            <a:pPr marL="285750" indent="-228600" algn="just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“</a:t>
            </a:r>
            <a:r>
              <a:rPr lang="en-GB" sz="2800" dirty="0" err="1"/>
              <a:t>jeg</a:t>
            </a:r>
            <a:r>
              <a:rPr lang="en-GB" sz="2800" dirty="0"/>
              <a:t> </a:t>
            </a:r>
            <a:r>
              <a:rPr lang="en-GB" sz="2800" dirty="0" err="1"/>
              <a:t>tror</a:t>
            </a:r>
            <a:r>
              <a:rPr lang="en-GB" sz="2800" dirty="0"/>
              <a:t> at å </a:t>
            </a:r>
            <a:r>
              <a:rPr lang="en-GB" sz="2800" dirty="0" err="1"/>
              <a:t>bruke</a:t>
            </a:r>
            <a:r>
              <a:rPr lang="en-GB" sz="2800" dirty="0"/>
              <a:t> </a:t>
            </a:r>
            <a:r>
              <a:rPr lang="en-GB" sz="2800" dirty="0" err="1"/>
              <a:t>denne</a:t>
            </a:r>
            <a:r>
              <a:rPr lang="en-GB" sz="2800" dirty="0"/>
              <a:t> </a:t>
            </a:r>
            <a:r>
              <a:rPr lang="en-GB" sz="2800" dirty="0" err="1"/>
              <a:t>ideen</a:t>
            </a:r>
            <a:r>
              <a:rPr lang="en-GB" sz="2800" dirty="0"/>
              <a:t> på </a:t>
            </a:r>
            <a:r>
              <a:rPr lang="en-GB" sz="2800" dirty="0" err="1"/>
              <a:t>tyngde</a:t>
            </a:r>
            <a:r>
              <a:rPr lang="en-GB" sz="2800" dirty="0"/>
              <a:t> er å </a:t>
            </a:r>
            <a:r>
              <a:rPr lang="en-GB" sz="2800" dirty="0" err="1"/>
              <a:t>bruke</a:t>
            </a:r>
            <a:r>
              <a:rPr lang="en-GB" sz="2800" dirty="0"/>
              <a:t> den på </a:t>
            </a:r>
            <a:r>
              <a:rPr lang="en-GB" sz="2800" dirty="0" err="1"/>
              <a:t>en</a:t>
            </a:r>
            <a:r>
              <a:rPr lang="en-GB" sz="2800" dirty="0"/>
              <a:t> </a:t>
            </a:r>
            <a:r>
              <a:rPr lang="en-GB" sz="2800" dirty="0" err="1"/>
              <a:t>dårlig</a:t>
            </a:r>
            <a:r>
              <a:rPr lang="en-GB" sz="2800" dirty="0"/>
              <a:t> </a:t>
            </a:r>
            <a:r>
              <a:rPr lang="en-GB" sz="2800" dirty="0" err="1"/>
              <a:t>måte</a:t>
            </a:r>
            <a:r>
              <a:rPr lang="en-GB" sz="2800" dirty="0"/>
              <a:t>, for </a:t>
            </a:r>
            <a:r>
              <a:rPr lang="en-GB" sz="2800" dirty="0" err="1"/>
              <a:t>tyngden</a:t>
            </a:r>
            <a:r>
              <a:rPr lang="en-GB" sz="2800" dirty="0"/>
              <a:t> er </a:t>
            </a:r>
            <a:r>
              <a:rPr lang="en-GB" sz="2800" dirty="0" err="1"/>
              <a:t>ikke</a:t>
            </a:r>
            <a:r>
              <a:rPr lang="en-GB" sz="2800" dirty="0"/>
              <a:t> </a:t>
            </a:r>
            <a:r>
              <a:rPr lang="en-GB" sz="2800" dirty="0" err="1"/>
              <a:t>faktisk</a:t>
            </a:r>
            <a:r>
              <a:rPr lang="en-GB" sz="2800" dirty="0"/>
              <a:t> </a:t>
            </a:r>
            <a:r>
              <a:rPr lang="en-GB" sz="2800" dirty="0" err="1"/>
              <a:t>adskilt</a:t>
            </a:r>
            <a:r>
              <a:rPr lang="en-GB" sz="2800" dirty="0"/>
              <a:t> </a:t>
            </a:r>
            <a:r>
              <a:rPr lang="en-GB" sz="2800" dirty="0" err="1"/>
              <a:t>fra</a:t>
            </a:r>
            <a:r>
              <a:rPr lang="en-GB" sz="2800" dirty="0"/>
              <a:t> </a:t>
            </a:r>
            <a:r>
              <a:rPr lang="en-GB" sz="2800" dirty="0" err="1"/>
              <a:t>kroppen</a:t>
            </a:r>
            <a:r>
              <a:rPr lang="en-GB" sz="2800" dirty="0"/>
              <a:t> – noe </a:t>
            </a:r>
            <a:r>
              <a:rPr lang="en-GB" sz="2800" dirty="0" err="1"/>
              <a:t>jeg</a:t>
            </a:r>
            <a:r>
              <a:rPr lang="en-GB" sz="2800" dirty="0"/>
              <a:t> </a:t>
            </a:r>
            <a:r>
              <a:rPr lang="en-GB" sz="2800" dirty="0" err="1"/>
              <a:t>håper</a:t>
            </a:r>
            <a:r>
              <a:rPr lang="en-GB" sz="2800" dirty="0"/>
              <a:t> å </a:t>
            </a:r>
            <a:r>
              <a:rPr lang="en-GB" sz="2800" dirty="0" err="1"/>
              <a:t>vise</a:t>
            </a:r>
            <a:r>
              <a:rPr lang="en-GB" sz="2800" dirty="0"/>
              <a:t> </a:t>
            </a:r>
            <a:r>
              <a:rPr lang="en-GB" sz="2800" dirty="0" err="1"/>
              <a:t>i</a:t>
            </a:r>
            <a:r>
              <a:rPr lang="en-GB" sz="2800" dirty="0"/>
              <a:t> </a:t>
            </a:r>
            <a:r>
              <a:rPr lang="en-GB" sz="2800" i="1" dirty="0" err="1"/>
              <a:t>Fysikken</a:t>
            </a:r>
            <a:r>
              <a:rPr lang="en-GB" sz="2800" dirty="0"/>
              <a:t>. </a:t>
            </a:r>
            <a:r>
              <a:rPr lang="en-GB" sz="2800" dirty="0" err="1"/>
              <a:t>Jeg</a:t>
            </a:r>
            <a:r>
              <a:rPr lang="en-GB" sz="2800" dirty="0"/>
              <a:t> </a:t>
            </a:r>
            <a:r>
              <a:rPr lang="en-GB" sz="2800" dirty="0" err="1"/>
              <a:t>tror</a:t>
            </a:r>
            <a:r>
              <a:rPr lang="en-GB" sz="2800" dirty="0"/>
              <a:t> </a:t>
            </a:r>
            <a:r>
              <a:rPr lang="en-GB" sz="2800" dirty="0" err="1"/>
              <a:t>derimot</a:t>
            </a:r>
            <a:r>
              <a:rPr lang="en-GB" sz="2800" dirty="0"/>
              <a:t> </a:t>
            </a:r>
            <a:r>
              <a:rPr lang="en-GB" sz="2800" dirty="0" err="1"/>
              <a:t>denne</a:t>
            </a:r>
            <a:r>
              <a:rPr lang="en-GB" sz="2800" dirty="0"/>
              <a:t> </a:t>
            </a:r>
            <a:r>
              <a:rPr lang="en-GB" sz="2800" dirty="0" err="1"/>
              <a:t>ideen</a:t>
            </a:r>
            <a:r>
              <a:rPr lang="en-GB" sz="2800" dirty="0"/>
              <a:t> er </a:t>
            </a:r>
            <a:r>
              <a:rPr lang="en-GB" sz="2800" dirty="0" err="1"/>
              <a:t>gitt</a:t>
            </a:r>
            <a:r>
              <a:rPr lang="en-GB" sz="2800" dirty="0"/>
              <a:t> </a:t>
            </a:r>
            <a:r>
              <a:rPr lang="en-GB" sz="2800" dirty="0" err="1"/>
              <a:t>oss</a:t>
            </a:r>
            <a:r>
              <a:rPr lang="en-GB" sz="2800" dirty="0"/>
              <a:t> for at vi </a:t>
            </a:r>
            <a:r>
              <a:rPr lang="en-GB" sz="2800" dirty="0" err="1"/>
              <a:t>skal</a:t>
            </a:r>
            <a:r>
              <a:rPr lang="en-GB" sz="2800" dirty="0"/>
              <a:t> </a:t>
            </a:r>
            <a:r>
              <a:rPr lang="en-GB" sz="2800" dirty="0" err="1"/>
              <a:t>begripe</a:t>
            </a:r>
            <a:r>
              <a:rPr lang="en-GB" sz="2800" dirty="0"/>
              <a:t> </a:t>
            </a:r>
            <a:r>
              <a:rPr lang="en-GB" sz="2800" dirty="0" err="1"/>
              <a:t>hvordan</a:t>
            </a:r>
            <a:r>
              <a:rPr lang="en-GB" sz="2800" dirty="0"/>
              <a:t> </a:t>
            </a:r>
            <a:r>
              <a:rPr lang="en-GB" sz="2800" dirty="0" err="1"/>
              <a:t>sjelen</a:t>
            </a:r>
            <a:r>
              <a:rPr lang="en-GB" sz="2800" dirty="0"/>
              <a:t> </a:t>
            </a:r>
            <a:r>
              <a:rPr lang="en-GB" sz="2800" dirty="0" err="1"/>
              <a:t>beveger</a:t>
            </a:r>
            <a:r>
              <a:rPr lang="en-GB" sz="2800" dirty="0"/>
              <a:t> </a:t>
            </a:r>
            <a:r>
              <a:rPr lang="en-GB" sz="2800" dirty="0" err="1"/>
              <a:t>kroppen</a:t>
            </a:r>
            <a:r>
              <a:rPr lang="en-GB" sz="2800" dirty="0"/>
              <a:t>.“ (s.218)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Frans_Hals_-_Portret_van_René_Descartes.jpg">
            <a:extLst>
              <a:ext uri="{FF2B5EF4-FFF2-40B4-BE49-F238E27FC236}">
                <a16:creationId xmlns:a16="http://schemas.microsoft.com/office/drawing/2014/main" id="{28AE2823-8192-284B-B7C0-4364B2A0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880" t="-1" r="17612" b="53"/>
          <a:stretch/>
        </p:blipFill>
        <p:spPr>
          <a:xfrm>
            <a:off x="7820350" y="10"/>
            <a:ext cx="4368602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736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CFBA4C-0B0C-6D42-9FFD-2934871FC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42678" y="2273844"/>
            <a:ext cx="6404521" cy="23103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Brev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3: Elisabeth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Descartes,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10.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juni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1643</a:t>
            </a:r>
          </a:p>
        </p:txBody>
      </p:sp>
    </p:spTree>
    <p:extLst>
      <p:ext uri="{BB962C8B-B14F-4D97-AF65-F5344CB8AC3E}">
        <p14:creationId xmlns:p14="http://schemas.microsoft.com/office/powerpoint/2010/main" val="3871907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DC82F-23D1-D047-926C-C3D38565D3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E180D-23FD-C44D-AFB7-BC16E877CAB9}"/>
              </a:ext>
            </a:extLst>
          </p:cNvPr>
          <p:cNvSpPr txBox="1"/>
          <p:nvPr/>
        </p:nvSpPr>
        <p:spPr>
          <a:xfrm>
            <a:off x="640080" y="2872899"/>
            <a:ext cx="64084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Elisabeth </a:t>
            </a:r>
            <a:r>
              <a:rPr lang="en-GB" sz="2400" dirty="0" err="1"/>
              <a:t>utfordrer</a:t>
            </a:r>
            <a:r>
              <a:rPr lang="en-GB" sz="2400" dirty="0"/>
              <a:t> Descartes’ </a:t>
            </a:r>
            <a:r>
              <a:rPr lang="en-GB" sz="2400" dirty="0" err="1"/>
              <a:t>forklaring</a:t>
            </a:r>
            <a:r>
              <a:rPr lang="en-GB" sz="2400" dirty="0"/>
              <a:t>:</a:t>
            </a:r>
          </a:p>
          <a:p>
            <a:pPr lvl="1" algn="just"/>
            <a:endParaRPr lang="en-GB" sz="2400" dirty="0"/>
          </a:p>
          <a:p>
            <a:pPr lvl="1" algn="just"/>
            <a:r>
              <a:rPr lang="en-GB" sz="2400" dirty="0"/>
              <a:t>“</a:t>
            </a:r>
            <a:r>
              <a:rPr lang="en-GB" sz="2400" dirty="0" err="1"/>
              <a:t>jeg</a:t>
            </a:r>
            <a:r>
              <a:rPr lang="en-GB" sz="2400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ikke</a:t>
            </a:r>
            <a:r>
              <a:rPr lang="en-GB" sz="2400" dirty="0"/>
              <a:t> </a:t>
            </a:r>
            <a:r>
              <a:rPr lang="en-GB" sz="2400" dirty="0" err="1"/>
              <a:t>forsta</a:t>
            </a:r>
            <a:r>
              <a:rPr lang="en-GB" sz="2400" dirty="0"/>
              <a:t>̊ </a:t>
            </a:r>
            <a:r>
              <a:rPr lang="en-GB" sz="2400" dirty="0" err="1"/>
              <a:t>hvordan</a:t>
            </a:r>
            <a:r>
              <a:rPr lang="en-GB" sz="2400" dirty="0"/>
              <a:t> vi </a:t>
            </a:r>
            <a:r>
              <a:rPr lang="en-GB" sz="2400" dirty="0" err="1"/>
              <a:t>ved</a:t>
            </a:r>
            <a:r>
              <a:rPr lang="en-GB" sz="2400" dirty="0"/>
              <a:t> </a:t>
            </a:r>
            <a:r>
              <a:rPr lang="en-GB" sz="2400" dirty="0" err="1"/>
              <a:t>hjelp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</a:t>
            </a:r>
            <a:r>
              <a:rPr lang="en-GB" sz="2400" dirty="0" err="1"/>
              <a:t>ideen</a:t>
            </a:r>
            <a:r>
              <a:rPr lang="en-GB" sz="2400" dirty="0"/>
              <a:t> om </a:t>
            </a:r>
            <a:r>
              <a:rPr lang="en-GB" sz="2400" i="1" dirty="0" err="1"/>
              <a:t>tyngde</a:t>
            </a:r>
            <a:r>
              <a:rPr lang="en-GB" sz="2400" i="1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̊ </a:t>
            </a:r>
            <a:r>
              <a:rPr lang="en-GB" sz="2400" dirty="0" err="1"/>
              <a:t>ideen</a:t>
            </a:r>
            <a:r>
              <a:rPr lang="en-GB" sz="2400" dirty="0"/>
              <a:t> om </a:t>
            </a:r>
            <a:r>
              <a:rPr lang="en-GB" sz="2400" dirty="0" err="1"/>
              <a:t>hvordan</a:t>
            </a:r>
            <a:r>
              <a:rPr lang="en-GB" sz="2400" dirty="0"/>
              <a:t> (den </a:t>
            </a:r>
            <a:r>
              <a:rPr lang="en-GB" sz="2400" dirty="0" err="1"/>
              <a:t>ikke-utstrakte</a:t>
            </a:r>
            <a:r>
              <a:rPr lang="en-GB" sz="2400" dirty="0"/>
              <a:t>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immaterielle</a:t>
            </a:r>
            <a:r>
              <a:rPr lang="en-GB" sz="2400" dirty="0"/>
              <a:t>) </a:t>
            </a:r>
            <a:r>
              <a:rPr lang="en-GB" sz="2400" dirty="0" err="1"/>
              <a:t>sjelen</a:t>
            </a:r>
            <a:r>
              <a:rPr lang="en-GB" sz="2400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bevege</a:t>
            </a:r>
            <a:r>
              <a:rPr lang="en-GB" sz="2400" dirty="0"/>
              <a:t> </a:t>
            </a:r>
            <a:r>
              <a:rPr lang="en-GB" sz="2400" dirty="0" err="1"/>
              <a:t>kroppen</a:t>
            </a:r>
            <a:r>
              <a:rPr lang="en-GB" sz="2400" dirty="0"/>
              <a:t>.” (s. 219)</a:t>
            </a:r>
          </a:p>
        </p:txBody>
      </p:sp>
      <p:pic>
        <p:nvPicPr>
          <p:cNvPr id="4" name="Picture 3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BD4C1162-47DE-DF43-B113-1D98B0693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28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DC82F-23D1-D047-926C-C3D38565D3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E180D-23FD-C44D-AFB7-BC16E877CAB9}"/>
              </a:ext>
            </a:extLst>
          </p:cNvPr>
          <p:cNvSpPr txBox="1"/>
          <p:nvPr/>
        </p:nvSpPr>
        <p:spPr>
          <a:xfrm>
            <a:off x="247650" y="2914650"/>
            <a:ext cx="7448550" cy="3145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GB" sz="2400" dirty="0"/>
              <a:t>“</a:t>
            </a:r>
            <a:r>
              <a:rPr lang="en-GB" sz="2400" dirty="0" err="1"/>
              <a:t>Jeg</a:t>
            </a:r>
            <a:r>
              <a:rPr lang="en-GB" sz="2400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heller </a:t>
            </a:r>
            <a:r>
              <a:rPr lang="en-GB" sz="2400" dirty="0" err="1"/>
              <a:t>ikke</a:t>
            </a:r>
            <a:r>
              <a:rPr lang="en-GB" sz="2400" dirty="0"/>
              <a:t> se </a:t>
            </a:r>
            <a:r>
              <a:rPr lang="en-GB" sz="2400" dirty="0" err="1"/>
              <a:t>hvorfor</a:t>
            </a:r>
            <a:r>
              <a:rPr lang="en-GB" sz="2400" dirty="0"/>
              <a:t> </a:t>
            </a:r>
            <a:r>
              <a:rPr lang="en-GB" sz="2400" dirty="0" err="1"/>
              <a:t>denne</a:t>
            </a:r>
            <a:r>
              <a:rPr lang="en-GB" sz="2400" dirty="0"/>
              <a:t> </a:t>
            </a:r>
            <a:r>
              <a:rPr lang="en-GB" sz="2400" dirty="0" err="1"/>
              <a:t>kraften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å </a:t>
            </a:r>
            <a:r>
              <a:rPr lang="en-GB" sz="2400" dirty="0" err="1"/>
              <a:t>flytte</a:t>
            </a:r>
            <a:r>
              <a:rPr lang="en-GB" sz="2400" dirty="0"/>
              <a:t> </a:t>
            </a:r>
            <a:r>
              <a:rPr lang="en-GB" sz="2400" dirty="0" err="1"/>
              <a:t>kroppen</a:t>
            </a:r>
            <a:r>
              <a:rPr lang="en-GB" sz="2400" dirty="0"/>
              <a:t> mot </a:t>
            </a:r>
            <a:r>
              <a:rPr lang="en-GB" sz="2400" dirty="0" err="1"/>
              <a:t>jordas</a:t>
            </a:r>
            <a:r>
              <a:rPr lang="en-GB" sz="2400" dirty="0"/>
              <a:t> </a:t>
            </a:r>
            <a:r>
              <a:rPr lang="en-GB" sz="2400" dirty="0" err="1"/>
              <a:t>kjerne</a:t>
            </a:r>
            <a:r>
              <a:rPr lang="en-GB" sz="2400" dirty="0"/>
              <a:t>, </a:t>
            </a:r>
            <a:r>
              <a:rPr lang="en-GB" sz="2400" dirty="0" err="1"/>
              <a:t>som</a:t>
            </a:r>
            <a:r>
              <a:rPr lang="en-GB" sz="2400" dirty="0"/>
              <a:t> De </a:t>
            </a:r>
            <a:r>
              <a:rPr lang="en-GB" sz="2400" dirty="0" err="1"/>
              <a:t>uriktig</a:t>
            </a:r>
            <a:r>
              <a:rPr lang="en-GB" sz="2400" dirty="0"/>
              <a:t> tilla </a:t>
            </a:r>
            <a:r>
              <a:rPr lang="en-GB" sz="2400" dirty="0" err="1"/>
              <a:t>tyngden</a:t>
            </a:r>
            <a:r>
              <a:rPr lang="en-GB" sz="2400" dirty="0"/>
              <a:t> under </a:t>
            </a:r>
            <a:r>
              <a:rPr lang="en-GB" sz="2400" dirty="0" err="1"/>
              <a:t>navnet</a:t>
            </a:r>
            <a:r>
              <a:rPr lang="en-GB" sz="2400" dirty="0"/>
              <a:t> </a:t>
            </a:r>
            <a:r>
              <a:rPr lang="en-GB" sz="2400" i="1" dirty="0" err="1"/>
              <a:t>egenskap</a:t>
            </a:r>
            <a:r>
              <a:rPr lang="en-GB" sz="2400" dirty="0"/>
              <a:t>, </a:t>
            </a:r>
            <a:r>
              <a:rPr lang="en-GB" sz="2400" dirty="0" err="1"/>
              <a:t>skulle</a:t>
            </a:r>
            <a:r>
              <a:rPr lang="en-GB" sz="2400" dirty="0"/>
              <a:t> </a:t>
            </a:r>
            <a:r>
              <a:rPr lang="en-GB" sz="2400" dirty="0" err="1"/>
              <a:t>tjene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å </a:t>
            </a:r>
            <a:r>
              <a:rPr lang="en-GB" sz="2400" dirty="0" err="1"/>
              <a:t>overbevise</a:t>
            </a:r>
            <a:r>
              <a:rPr lang="en-GB" sz="2400" dirty="0"/>
              <a:t> </a:t>
            </a:r>
            <a:r>
              <a:rPr lang="en-GB" sz="2400" dirty="0" err="1"/>
              <a:t>oss</a:t>
            </a:r>
            <a:r>
              <a:rPr lang="en-GB" sz="2400" dirty="0"/>
              <a:t> om at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kropp</a:t>
            </a:r>
            <a:r>
              <a:rPr lang="en-GB" sz="2400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dyttes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noe </a:t>
            </a:r>
            <a:r>
              <a:rPr lang="en-GB" sz="2400" dirty="0" err="1"/>
              <a:t>immaterielt</a:t>
            </a:r>
            <a:r>
              <a:rPr lang="en-GB" sz="2400" dirty="0"/>
              <a:t>. Kan det </a:t>
            </a:r>
            <a:r>
              <a:rPr lang="en-GB" sz="2400" dirty="0" err="1"/>
              <a:t>ikke</a:t>
            </a:r>
            <a:r>
              <a:rPr lang="en-GB" sz="2400" dirty="0"/>
              <a:t> like </a:t>
            </a:r>
            <a:r>
              <a:rPr lang="en-GB" sz="2400" dirty="0" err="1"/>
              <a:t>godt</a:t>
            </a:r>
            <a:r>
              <a:rPr lang="en-GB" sz="2400" dirty="0"/>
              <a:t> </a:t>
            </a:r>
            <a:r>
              <a:rPr lang="en-GB" sz="2400" dirty="0" err="1"/>
              <a:t>være</a:t>
            </a:r>
            <a:r>
              <a:rPr lang="en-GB" sz="2400" dirty="0"/>
              <a:t> at </a:t>
            </a:r>
            <a:r>
              <a:rPr lang="en-GB" sz="2400" dirty="0" err="1"/>
              <a:t>Deres</a:t>
            </a:r>
            <a:r>
              <a:rPr lang="en-GB" sz="2400" dirty="0"/>
              <a:t> </a:t>
            </a:r>
            <a:r>
              <a:rPr lang="en-GB" sz="2400" dirty="0" err="1"/>
              <a:t>demonstrasjon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at </a:t>
            </a:r>
            <a:r>
              <a:rPr lang="en-GB" sz="2400" dirty="0" err="1"/>
              <a:t>tyngden</a:t>
            </a:r>
            <a:r>
              <a:rPr lang="en-GB" sz="2400" dirty="0"/>
              <a:t> </a:t>
            </a:r>
            <a:r>
              <a:rPr lang="en-GB" sz="2400" i="1" dirty="0" err="1"/>
              <a:t>ikke</a:t>
            </a:r>
            <a:r>
              <a:rPr lang="en-GB" sz="2400" i="1" dirty="0"/>
              <a:t> </a:t>
            </a:r>
            <a:r>
              <a:rPr lang="en-GB" sz="2400" dirty="0" err="1"/>
              <a:t>opererer</a:t>
            </a:r>
            <a:r>
              <a:rPr lang="en-GB" sz="2400" dirty="0"/>
              <a:t> på </a:t>
            </a:r>
            <a:r>
              <a:rPr lang="en-GB" sz="2400" dirty="0" err="1"/>
              <a:t>denne</a:t>
            </a:r>
            <a:r>
              <a:rPr lang="en-GB" sz="2400" dirty="0"/>
              <a:t> </a:t>
            </a:r>
            <a:r>
              <a:rPr lang="en-GB" sz="2400" dirty="0" err="1"/>
              <a:t>måten</a:t>
            </a:r>
            <a:r>
              <a:rPr lang="en-GB" sz="2400" dirty="0"/>
              <a:t> (</a:t>
            </a:r>
            <a:r>
              <a:rPr lang="en-GB" sz="2400" dirty="0" err="1"/>
              <a:t>som</a:t>
            </a:r>
            <a:r>
              <a:rPr lang="en-GB" sz="2400" dirty="0"/>
              <a:t> De lover å </a:t>
            </a:r>
            <a:r>
              <a:rPr lang="en-GB" sz="2400" dirty="0" err="1"/>
              <a:t>gi</a:t>
            </a:r>
            <a:r>
              <a:rPr lang="en-GB" sz="2400" dirty="0"/>
              <a:t> </a:t>
            </a:r>
            <a:r>
              <a:rPr lang="en-GB" sz="2400" dirty="0" err="1"/>
              <a:t>i</a:t>
            </a:r>
            <a:r>
              <a:rPr lang="en-GB" sz="2400" dirty="0"/>
              <a:t> </a:t>
            </a:r>
            <a:r>
              <a:rPr lang="en-GB" sz="2400" i="1" dirty="0" err="1"/>
              <a:t>Fysikken</a:t>
            </a:r>
            <a:r>
              <a:rPr lang="en-GB" sz="2400" dirty="0"/>
              <a:t>) </a:t>
            </a:r>
            <a:r>
              <a:rPr lang="en-GB" sz="2400" dirty="0" err="1"/>
              <a:t>tvert</a:t>
            </a:r>
            <a:r>
              <a:rPr lang="en-GB" sz="2400" dirty="0"/>
              <a:t> </a:t>
            </a:r>
            <a:r>
              <a:rPr lang="en-GB" sz="2400" dirty="0" err="1"/>
              <a:t>imot</a:t>
            </a:r>
            <a:r>
              <a:rPr lang="en-GB" sz="2400" dirty="0"/>
              <a:t> </a:t>
            </a:r>
            <a:r>
              <a:rPr lang="en-GB" sz="2400" dirty="0" err="1"/>
              <a:t>skulle</a:t>
            </a:r>
            <a:r>
              <a:rPr lang="en-GB" sz="2400" dirty="0"/>
              <a:t> </a:t>
            </a:r>
            <a:r>
              <a:rPr lang="en-GB" sz="2400" dirty="0" err="1"/>
              <a:t>overbevise</a:t>
            </a:r>
            <a:r>
              <a:rPr lang="en-GB" sz="2400" dirty="0"/>
              <a:t> </a:t>
            </a:r>
            <a:r>
              <a:rPr lang="en-GB" sz="2400" dirty="0" err="1"/>
              <a:t>oss</a:t>
            </a:r>
            <a:r>
              <a:rPr lang="en-GB" sz="2400" dirty="0"/>
              <a:t> om at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kropp</a:t>
            </a:r>
            <a:r>
              <a:rPr lang="en-GB" sz="2400" dirty="0"/>
              <a:t> </a:t>
            </a:r>
            <a:r>
              <a:rPr lang="en-GB" sz="2400" dirty="0" err="1"/>
              <a:t>umulig</a:t>
            </a:r>
            <a:r>
              <a:rPr lang="en-GB" sz="2400" dirty="0"/>
              <a:t> </a:t>
            </a:r>
            <a:r>
              <a:rPr lang="en-GB" sz="2400" dirty="0" err="1"/>
              <a:t>kan</a:t>
            </a:r>
            <a:r>
              <a:rPr lang="en-GB" sz="2400" dirty="0"/>
              <a:t> </a:t>
            </a:r>
            <a:r>
              <a:rPr lang="en-GB" sz="2400" dirty="0" err="1"/>
              <a:t>dyttes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noe </a:t>
            </a:r>
            <a:r>
              <a:rPr lang="en-GB" sz="2400" dirty="0" err="1"/>
              <a:t>immaterielt</a:t>
            </a:r>
            <a:r>
              <a:rPr lang="en-GB" sz="2400" dirty="0"/>
              <a:t>?” </a:t>
            </a:r>
          </a:p>
          <a:p>
            <a:pPr algn="just"/>
            <a:r>
              <a:rPr lang="en-GB" sz="2400" dirty="0"/>
              <a:t>(s. 219)</a:t>
            </a:r>
          </a:p>
        </p:txBody>
      </p:sp>
      <p:pic>
        <p:nvPicPr>
          <p:cNvPr id="4" name="Picture 3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BD4C1162-47DE-DF43-B113-1D98B0693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7056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DC82F-23D1-D047-926C-C3D38565D3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E180D-23FD-C44D-AFB7-BC16E877CAB9}"/>
              </a:ext>
            </a:extLst>
          </p:cNvPr>
          <p:cNvSpPr txBox="1"/>
          <p:nvPr/>
        </p:nvSpPr>
        <p:spPr>
          <a:xfrm>
            <a:off x="330322" y="2915457"/>
            <a:ext cx="7284720" cy="3924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Du </a:t>
            </a:r>
            <a:r>
              <a:rPr lang="en-US" sz="2200" dirty="0" err="1"/>
              <a:t>sier</a:t>
            </a:r>
            <a:r>
              <a:rPr lang="en-US" sz="2200" dirty="0"/>
              <a:t> at </a:t>
            </a:r>
            <a:r>
              <a:rPr lang="en-US" sz="2200" dirty="0" err="1"/>
              <a:t>eksempelet</a:t>
            </a:r>
            <a:r>
              <a:rPr lang="en-US" sz="2200" dirty="0"/>
              <a:t> med </a:t>
            </a:r>
            <a:r>
              <a:rPr lang="en-US" sz="2200" dirty="0" err="1"/>
              <a:t>tyngde</a:t>
            </a:r>
            <a:r>
              <a:rPr lang="en-US" sz="2200" dirty="0"/>
              <a:t> </a:t>
            </a:r>
            <a:r>
              <a:rPr lang="en-US" sz="2200" dirty="0" err="1"/>
              <a:t>kan</a:t>
            </a:r>
            <a:r>
              <a:rPr lang="en-US" sz="2200" dirty="0"/>
              <a:t> </a:t>
            </a:r>
            <a:r>
              <a:rPr lang="en-US" sz="2200" dirty="0" err="1"/>
              <a:t>gi</a:t>
            </a:r>
            <a:r>
              <a:rPr lang="en-US" sz="2200" dirty="0"/>
              <a:t> </a:t>
            </a:r>
            <a:r>
              <a:rPr lang="en-US" sz="2200" dirty="0" err="1"/>
              <a:t>oss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modell</a:t>
            </a:r>
            <a:r>
              <a:rPr lang="en-US" sz="2200" dirty="0"/>
              <a:t> for mental </a:t>
            </a:r>
            <a:r>
              <a:rPr lang="en-US" sz="2200" dirty="0" err="1"/>
              <a:t>kausalitet</a:t>
            </a:r>
            <a:r>
              <a:rPr lang="en-US" sz="2200" dirty="0"/>
              <a:t> </a:t>
            </a:r>
            <a:r>
              <a:rPr lang="en-US" sz="2200" dirty="0" err="1"/>
              <a:t>uten</a:t>
            </a:r>
            <a:r>
              <a:rPr lang="en-US" sz="2200" dirty="0"/>
              <a:t> </a:t>
            </a:r>
            <a:r>
              <a:rPr lang="en-US" sz="2200" dirty="0" err="1"/>
              <a:t>fysisk</a:t>
            </a:r>
            <a:r>
              <a:rPr lang="en-US" sz="2200" dirty="0"/>
              <a:t> </a:t>
            </a:r>
            <a:r>
              <a:rPr lang="en-US" sz="2200" dirty="0" err="1"/>
              <a:t>kontakt</a:t>
            </a:r>
            <a:endParaRPr lang="en-US" sz="2200" dirty="0"/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Men du </a:t>
            </a:r>
            <a:r>
              <a:rPr lang="en-US" sz="2200" dirty="0" err="1"/>
              <a:t>sier</a:t>
            </a:r>
            <a:r>
              <a:rPr lang="en-US" sz="2200" dirty="0"/>
              <a:t> </a:t>
            </a:r>
            <a:r>
              <a:rPr lang="en-US" sz="2200" dirty="0" err="1"/>
              <a:t>også</a:t>
            </a:r>
            <a:r>
              <a:rPr lang="en-US" sz="2200" dirty="0"/>
              <a:t> at </a:t>
            </a:r>
            <a:r>
              <a:rPr lang="en-US" sz="2200" dirty="0" err="1"/>
              <a:t>tyngde</a:t>
            </a:r>
            <a:r>
              <a:rPr lang="en-US" sz="2200" dirty="0"/>
              <a:t> </a:t>
            </a:r>
            <a:r>
              <a:rPr lang="en-US" sz="2200" dirty="0" err="1"/>
              <a:t>ikke</a:t>
            </a:r>
            <a:r>
              <a:rPr lang="en-US" sz="2200" dirty="0"/>
              <a:t> </a:t>
            </a:r>
            <a:r>
              <a:rPr lang="en-US" sz="2200" dirty="0" err="1"/>
              <a:t>faktisk</a:t>
            </a:r>
            <a:r>
              <a:rPr lang="en-US" sz="2200" dirty="0"/>
              <a:t> </a:t>
            </a:r>
            <a:r>
              <a:rPr lang="en-US" sz="2200" dirty="0" err="1"/>
              <a:t>fungerer</a:t>
            </a:r>
            <a:r>
              <a:rPr lang="en-US" sz="2200" dirty="0"/>
              <a:t> </a:t>
            </a:r>
            <a:r>
              <a:rPr lang="en-US" sz="2200" dirty="0" err="1"/>
              <a:t>på</a:t>
            </a:r>
            <a:r>
              <a:rPr lang="en-US" sz="2200" dirty="0"/>
              <a:t> </a:t>
            </a:r>
            <a:r>
              <a:rPr lang="en-US" sz="2200" dirty="0" err="1"/>
              <a:t>denne</a:t>
            </a:r>
            <a:r>
              <a:rPr lang="en-US" sz="2200" dirty="0"/>
              <a:t> </a:t>
            </a:r>
            <a:r>
              <a:rPr lang="en-US" sz="2200" dirty="0" err="1"/>
              <a:t>måten</a:t>
            </a:r>
            <a:r>
              <a:rPr lang="en-US" sz="2200" dirty="0"/>
              <a:t> – du </a:t>
            </a:r>
            <a:r>
              <a:rPr lang="en-US" sz="2200" dirty="0" err="1"/>
              <a:t>har</a:t>
            </a:r>
            <a:r>
              <a:rPr lang="en-US" sz="2200" dirty="0"/>
              <a:t> </a:t>
            </a:r>
            <a:r>
              <a:rPr lang="en-US" sz="2200" dirty="0" err="1"/>
              <a:t>ikke</a:t>
            </a:r>
            <a:r>
              <a:rPr lang="en-US" sz="2200" dirty="0"/>
              <a:t> </a:t>
            </a:r>
            <a:r>
              <a:rPr lang="en-US" sz="2200" dirty="0" err="1"/>
              <a:t>faktisk</a:t>
            </a:r>
            <a:r>
              <a:rPr lang="en-US" sz="2200" dirty="0"/>
              <a:t> </a:t>
            </a:r>
            <a:r>
              <a:rPr lang="en-US" sz="2200" dirty="0" err="1"/>
              <a:t>vist</a:t>
            </a:r>
            <a:r>
              <a:rPr lang="en-US" sz="2200" dirty="0"/>
              <a:t> </a:t>
            </a:r>
            <a:r>
              <a:rPr lang="en-US" sz="2200" dirty="0" err="1"/>
              <a:t>hvordan</a:t>
            </a:r>
            <a:r>
              <a:rPr lang="en-US" sz="2200" dirty="0"/>
              <a:t> </a:t>
            </a:r>
            <a:r>
              <a:rPr lang="en-US" sz="2200" dirty="0" err="1"/>
              <a:t>kausalitet</a:t>
            </a:r>
            <a:r>
              <a:rPr lang="en-US" sz="2200" dirty="0"/>
              <a:t> er </a:t>
            </a:r>
            <a:r>
              <a:rPr lang="en-US" sz="2200" dirty="0" err="1"/>
              <a:t>mulig</a:t>
            </a:r>
            <a:r>
              <a:rPr lang="en-US" sz="2200" dirty="0"/>
              <a:t> </a:t>
            </a:r>
            <a:r>
              <a:rPr lang="en-US" sz="2200" dirty="0" err="1"/>
              <a:t>uten</a:t>
            </a:r>
            <a:r>
              <a:rPr lang="en-US" sz="2200" dirty="0"/>
              <a:t> </a:t>
            </a:r>
            <a:r>
              <a:rPr lang="en-US" sz="2200" dirty="0" err="1"/>
              <a:t>fysisk</a:t>
            </a:r>
            <a:r>
              <a:rPr lang="en-US" sz="2200" dirty="0"/>
              <a:t> </a:t>
            </a:r>
            <a:r>
              <a:rPr lang="en-US" sz="2200" dirty="0" err="1"/>
              <a:t>kontakt</a:t>
            </a:r>
            <a:endParaRPr lang="en-US" sz="2200" dirty="0"/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Så</a:t>
            </a:r>
            <a:r>
              <a:rPr lang="en-US" sz="2200" dirty="0"/>
              <a:t> </a:t>
            </a:r>
            <a:r>
              <a:rPr lang="en-US" sz="2200" dirty="0" err="1"/>
              <a:t>dette</a:t>
            </a:r>
            <a:r>
              <a:rPr lang="en-US" sz="2200" dirty="0"/>
              <a:t> er bare </a:t>
            </a:r>
            <a:r>
              <a:rPr lang="en-US" sz="2200" dirty="0" err="1"/>
              <a:t>en</a:t>
            </a:r>
            <a:r>
              <a:rPr lang="en-US" sz="2200" dirty="0"/>
              <a:t> slags </a:t>
            </a:r>
            <a:r>
              <a:rPr lang="en-US" sz="2200" dirty="0" err="1"/>
              <a:t>forestilt</a:t>
            </a:r>
            <a:r>
              <a:rPr lang="en-US" sz="2200" dirty="0"/>
              <a:t> «</a:t>
            </a:r>
            <a:r>
              <a:rPr lang="en-US" sz="2200" dirty="0" err="1"/>
              <a:t>ikke-fysisk</a:t>
            </a:r>
            <a:r>
              <a:rPr lang="en-US" sz="2200" dirty="0"/>
              <a:t>» </a:t>
            </a:r>
            <a:r>
              <a:rPr lang="en-US" sz="2200" dirty="0" err="1"/>
              <a:t>årsakssammenheng</a:t>
            </a:r>
            <a:endParaRPr lang="en-US" sz="2200" dirty="0"/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Det </a:t>
            </a:r>
            <a:r>
              <a:rPr lang="en-US" sz="2200" dirty="0" err="1"/>
              <a:t>eneste</a:t>
            </a:r>
            <a:r>
              <a:rPr lang="en-US" sz="2200" dirty="0"/>
              <a:t> du </a:t>
            </a:r>
            <a:r>
              <a:rPr lang="en-US" sz="2200" dirty="0" err="1"/>
              <a:t>sier</a:t>
            </a:r>
            <a:r>
              <a:rPr lang="en-US" sz="2200" dirty="0"/>
              <a:t> er at </a:t>
            </a:r>
            <a:r>
              <a:rPr lang="en-US" sz="2200" dirty="0" err="1"/>
              <a:t>sjelen</a:t>
            </a:r>
            <a:r>
              <a:rPr lang="en-US" sz="2200" dirty="0"/>
              <a:t> </a:t>
            </a:r>
            <a:r>
              <a:rPr lang="en-US" sz="2200" dirty="0" err="1"/>
              <a:t>og</a:t>
            </a:r>
            <a:r>
              <a:rPr lang="en-US" sz="2200" dirty="0"/>
              <a:t> </a:t>
            </a:r>
            <a:r>
              <a:rPr lang="en-US" sz="2200" dirty="0" err="1"/>
              <a:t>kroppen</a:t>
            </a:r>
            <a:r>
              <a:rPr lang="en-US" sz="2200" dirty="0"/>
              <a:t> </a:t>
            </a:r>
            <a:r>
              <a:rPr lang="en-US" sz="2200" i="1" dirty="0" err="1"/>
              <a:t>kan</a:t>
            </a:r>
            <a:r>
              <a:rPr lang="en-US" sz="2200" i="1" dirty="0"/>
              <a:t> </a:t>
            </a:r>
            <a:r>
              <a:rPr lang="en-US" sz="2200" dirty="0" err="1"/>
              <a:t>påvirke</a:t>
            </a:r>
            <a:r>
              <a:rPr lang="en-US" sz="2200" dirty="0"/>
              <a:t> </a:t>
            </a:r>
            <a:r>
              <a:rPr lang="en-US" sz="2200" dirty="0" err="1"/>
              <a:t>hverandre</a:t>
            </a:r>
            <a:r>
              <a:rPr lang="en-US" sz="2200" dirty="0"/>
              <a:t>, men </a:t>
            </a:r>
            <a:r>
              <a:rPr lang="en-US" sz="2200" dirty="0" err="1"/>
              <a:t>ikke</a:t>
            </a:r>
            <a:r>
              <a:rPr lang="en-US" sz="2200" dirty="0"/>
              <a:t> </a:t>
            </a:r>
            <a:r>
              <a:rPr lang="en-US" sz="2200" i="1" dirty="0" err="1"/>
              <a:t>hvordan</a:t>
            </a:r>
            <a:r>
              <a:rPr lang="en-US" sz="2200" i="1" dirty="0"/>
              <a:t> </a:t>
            </a:r>
            <a:r>
              <a:rPr lang="en-US" sz="2200" dirty="0" err="1"/>
              <a:t>dette</a:t>
            </a:r>
            <a:r>
              <a:rPr lang="en-US" sz="2200" dirty="0"/>
              <a:t> er </a:t>
            </a:r>
            <a:r>
              <a:rPr lang="en-US" sz="2200" dirty="0" err="1"/>
              <a:t>mulig</a:t>
            </a:r>
            <a:r>
              <a:rPr lang="en-US" sz="2200" dirty="0"/>
              <a:t>.</a:t>
            </a:r>
          </a:p>
          <a:p>
            <a:pPr marL="742950" lvl="1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Men det </a:t>
            </a:r>
            <a:r>
              <a:rPr lang="en-US" sz="2200" dirty="0" err="1"/>
              <a:t>siste</a:t>
            </a:r>
            <a:r>
              <a:rPr lang="en-US" sz="2200" dirty="0"/>
              <a:t> var jo </a:t>
            </a:r>
            <a:r>
              <a:rPr lang="en-US" sz="2200" dirty="0" err="1"/>
              <a:t>spørsmålet</a:t>
            </a:r>
            <a:r>
              <a:rPr lang="en-US" sz="2200" dirty="0"/>
              <a:t>!</a:t>
            </a:r>
          </a:p>
        </p:txBody>
      </p:sp>
      <p:pic>
        <p:nvPicPr>
          <p:cNvPr id="4" name="Picture 3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BD4C1162-47DE-DF43-B113-1D98B0693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253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DC82F-23D1-D047-926C-C3D38565D3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E180D-23FD-C44D-AFB7-BC16E877CAB9}"/>
              </a:ext>
            </a:extLst>
          </p:cNvPr>
          <p:cNvSpPr txBox="1"/>
          <p:nvPr/>
        </p:nvSpPr>
        <p:spPr>
          <a:xfrm>
            <a:off x="454147" y="3225921"/>
            <a:ext cx="7037070" cy="2764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GB" sz="2400" dirty="0"/>
              <a:t>“</a:t>
            </a:r>
            <a:r>
              <a:rPr lang="en-GB" sz="2400" dirty="0" err="1"/>
              <a:t>jeg</a:t>
            </a:r>
            <a:r>
              <a:rPr lang="en-GB" sz="2400" dirty="0"/>
              <a:t> må </a:t>
            </a:r>
            <a:r>
              <a:rPr lang="en-GB" sz="2400" dirty="0" err="1"/>
              <a:t>tilsta</a:t>
            </a:r>
            <a:r>
              <a:rPr lang="en-GB" sz="2400" dirty="0"/>
              <a:t>̊ at det </a:t>
            </a:r>
            <a:r>
              <a:rPr lang="en-GB" sz="2400" dirty="0" err="1"/>
              <a:t>ville</a:t>
            </a:r>
            <a:r>
              <a:rPr lang="en-GB" sz="2400" dirty="0"/>
              <a:t> </a:t>
            </a:r>
            <a:r>
              <a:rPr lang="en-GB" sz="2400" dirty="0" err="1"/>
              <a:t>vært</a:t>
            </a:r>
            <a:r>
              <a:rPr lang="en-GB" sz="2400" dirty="0"/>
              <a:t> </a:t>
            </a:r>
            <a:r>
              <a:rPr lang="en-GB" sz="2400" dirty="0" err="1"/>
              <a:t>lettere</a:t>
            </a:r>
            <a:r>
              <a:rPr lang="en-GB" sz="2400" dirty="0"/>
              <a:t> for meg å </a:t>
            </a:r>
            <a:r>
              <a:rPr lang="en-GB" sz="2400" dirty="0" err="1"/>
              <a:t>innrømme</a:t>
            </a:r>
            <a:r>
              <a:rPr lang="en-GB" sz="2400" dirty="0"/>
              <a:t> </a:t>
            </a:r>
            <a:r>
              <a:rPr lang="en-GB" sz="2400" dirty="0" err="1"/>
              <a:t>sjelen</a:t>
            </a:r>
            <a:r>
              <a:rPr lang="en-GB" sz="2400" dirty="0"/>
              <a:t> </a:t>
            </a:r>
            <a:r>
              <a:rPr lang="en-GB" sz="2400" dirty="0" err="1"/>
              <a:t>både</a:t>
            </a:r>
            <a:r>
              <a:rPr lang="en-GB" sz="2400" dirty="0"/>
              <a:t> </a:t>
            </a:r>
            <a:r>
              <a:rPr lang="en-GB" sz="2400" dirty="0" err="1"/>
              <a:t>materie</a:t>
            </a:r>
            <a:r>
              <a:rPr lang="en-GB" sz="2400" dirty="0"/>
              <a:t>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utstrekning</a:t>
            </a:r>
            <a:r>
              <a:rPr lang="en-GB" sz="2400" dirty="0"/>
              <a:t> </a:t>
            </a:r>
            <a:r>
              <a:rPr lang="en-GB" sz="2400" dirty="0" err="1"/>
              <a:t>enn</a:t>
            </a:r>
            <a:r>
              <a:rPr lang="en-GB" sz="2400" dirty="0"/>
              <a:t> å </a:t>
            </a:r>
            <a:r>
              <a:rPr lang="en-GB" sz="2400" dirty="0" err="1"/>
              <a:t>innrømme</a:t>
            </a:r>
            <a:r>
              <a:rPr lang="en-GB" sz="2400" dirty="0"/>
              <a:t> noe </a:t>
            </a:r>
            <a:r>
              <a:rPr lang="en-GB" sz="2400" dirty="0" err="1"/>
              <a:t>immaterielt</a:t>
            </a:r>
            <a:r>
              <a:rPr lang="en-GB" sz="2400" dirty="0"/>
              <a:t> </a:t>
            </a:r>
            <a:r>
              <a:rPr lang="en-GB" sz="2400" dirty="0" err="1"/>
              <a:t>evnen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å </a:t>
            </a:r>
            <a:r>
              <a:rPr lang="en-GB" sz="2400" dirty="0" err="1"/>
              <a:t>bevege</a:t>
            </a:r>
            <a:r>
              <a:rPr lang="en-GB" sz="2400" dirty="0"/>
              <a:t>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beveges</a:t>
            </a:r>
            <a:r>
              <a:rPr lang="en-GB" sz="2400" dirty="0"/>
              <a:t> </a:t>
            </a:r>
            <a:r>
              <a:rPr lang="en-GB" sz="2400" dirty="0" err="1"/>
              <a:t>av</a:t>
            </a:r>
            <a:r>
              <a:rPr lang="en-GB" sz="2400" dirty="0"/>
              <a:t>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kropp</a:t>
            </a:r>
            <a:r>
              <a:rPr lang="en-GB" sz="2400" dirty="0"/>
              <a:t>.” (s. 220)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pic>
        <p:nvPicPr>
          <p:cNvPr id="4" name="Picture 3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BD4C1162-47DE-DF43-B113-1D98B0693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69161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CFBA4C-0B0C-6D42-9FFD-2934871FC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42678" y="2273844"/>
            <a:ext cx="6404521" cy="23103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Brev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4: Descartes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Elisabeth,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28.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juni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1643</a:t>
            </a:r>
          </a:p>
        </p:txBody>
      </p:sp>
    </p:spTree>
    <p:extLst>
      <p:ext uri="{BB962C8B-B14F-4D97-AF65-F5344CB8AC3E}">
        <p14:creationId xmlns:p14="http://schemas.microsoft.com/office/powerpoint/2010/main" val="42929175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4C7BF-4187-BE4D-9E45-7C4120BECF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Descartes’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svar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98634-7EA0-E542-B452-8553A9E7F978}"/>
              </a:ext>
            </a:extLst>
          </p:cNvPr>
          <p:cNvSpPr txBox="1"/>
          <p:nvPr/>
        </p:nvSpPr>
        <p:spPr>
          <a:xfrm>
            <a:off x="320803" y="3099809"/>
            <a:ext cx="4989374" cy="2911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Det er </a:t>
            </a:r>
            <a:r>
              <a:rPr lang="en-US" sz="2400" dirty="0" err="1"/>
              <a:t>ikke</a:t>
            </a:r>
            <a:r>
              <a:rPr lang="en-US" sz="2400" dirty="0"/>
              <a:t> </a:t>
            </a:r>
            <a:r>
              <a:rPr lang="en-US" sz="2400" dirty="0" err="1"/>
              <a:t>farlig</a:t>
            </a:r>
            <a:r>
              <a:rPr lang="en-US" sz="2400" dirty="0"/>
              <a:t> at </a:t>
            </a:r>
            <a:r>
              <a:rPr lang="en-US" sz="2400" dirty="0" err="1"/>
              <a:t>analogien</a:t>
            </a:r>
            <a:r>
              <a:rPr lang="en-US" sz="2400" dirty="0"/>
              <a:t> er </a:t>
            </a:r>
            <a:r>
              <a:rPr lang="en-US" sz="2400" dirty="0" err="1"/>
              <a:t>dårlig</a:t>
            </a:r>
            <a:r>
              <a:rPr lang="en-US" sz="2400" dirty="0"/>
              <a:t>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Vi vet </a:t>
            </a:r>
            <a:r>
              <a:rPr lang="en-US" sz="2400" dirty="0" err="1"/>
              <a:t>allerede</a:t>
            </a:r>
            <a:r>
              <a:rPr lang="en-US" sz="2400" dirty="0"/>
              <a:t> at </a:t>
            </a:r>
            <a:r>
              <a:rPr lang="en-US" sz="2400" dirty="0" err="1"/>
              <a:t>sinn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</a:t>
            </a:r>
            <a:r>
              <a:rPr lang="en-US" sz="2400" dirty="0" err="1"/>
              <a:t>kropp</a:t>
            </a:r>
            <a:r>
              <a:rPr lang="en-US" sz="2400" dirty="0"/>
              <a:t> er </a:t>
            </a:r>
            <a:r>
              <a:rPr lang="en-US" sz="2400" dirty="0" err="1"/>
              <a:t>forskjellig</a:t>
            </a:r>
            <a:r>
              <a:rPr lang="en-US" sz="2400" dirty="0"/>
              <a:t> </a:t>
            </a:r>
            <a:r>
              <a:rPr lang="en-US" sz="2400" dirty="0" err="1"/>
              <a:t>og</a:t>
            </a:r>
            <a:r>
              <a:rPr lang="en-US" sz="2400" dirty="0"/>
              <a:t> vi vet at de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påvirke</a:t>
            </a:r>
            <a:r>
              <a:rPr lang="en-US" sz="2400" dirty="0"/>
              <a:t> </a:t>
            </a:r>
            <a:r>
              <a:rPr lang="en-US" sz="2400" dirty="0" err="1"/>
              <a:t>hverandre</a:t>
            </a:r>
            <a:r>
              <a:rPr lang="en-US" sz="2400" dirty="0"/>
              <a:t>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“D</a:t>
            </a:r>
            <a:r>
              <a:rPr lang="en-GB" sz="2400" dirty="0"/>
              <a:t>e </a:t>
            </a:r>
            <a:r>
              <a:rPr lang="en-GB" sz="2400" dirty="0" err="1"/>
              <a:t>tingene</a:t>
            </a:r>
            <a:r>
              <a:rPr lang="en-GB" sz="2400" dirty="0"/>
              <a:t>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</a:t>
            </a:r>
            <a:r>
              <a:rPr lang="en-GB" sz="2400" dirty="0" err="1"/>
              <a:t>slutt</a:t>
            </a:r>
            <a:r>
              <a:rPr lang="en-GB" sz="2400" dirty="0"/>
              <a:t> </a:t>
            </a:r>
            <a:r>
              <a:rPr lang="en-GB" sz="2400" dirty="0" err="1"/>
              <a:t>hører</a:t>
            </a:r>
            <a:r>
              <a:rPr lang="en-GB" sz="2400" dirty="0"/>
              <a:t> </a:t>
            </a:r>
            <a:r>
              <a:rPr lang="en-GB" sz="2400" dirty="0" err="1"/>
              <a:t>til</a:t>
            </a:r>
            <a:r>
              <a:rPr lang="en-GB" sz="2400" dirty="0"/>
              <a:t> </a:t>
            </a:r>
            <a:r>
              <a:rPr lang="en-GB" sz="2400" dirty="0" err="1"/>
              <a:t>sjelens</a:t>
            </a:r>
            <a:r>
              <a:rPr lang="en-GB" sz="2400" dirty="0"/>
              <a:t> </a:t>
            </a:r>
            <a:r>
              <a:rPr lang="en-GB" sz="2400" dirty="0" err="1"/>
              <a:t>forening</a:t>
            </a:r>
            <a:r>
              <a:rPr lang="en-GB" sz="2400" dirty="0"/>
              <a:t> med </a:t>
            </a:r>
            <a:r>
              <a:rPr lang="en-GB" sz="2400" dirty="0" err="1"/>
              <a:t>kroppen</a:t>
            </a:r>
            <a:r>
              <a:rPr lang="en-GB" sz="2400" dirty="0"/>
              <a:t>, </a:t>
            </a:r>
            <a:r>
              <a:rPr lang="en-GB" sz="2400" dirty="0" err="1"/>
              <a:t>kan</a:t>
            </a:r>
            <a:r>
              <a:rPr lang="en-GB" sz="2400" dirty="0"/>
              <a:t> bare </a:t>
            </a:r>
            <a:r>
              <a:rPr lang="en-GB" sz="2400" dirty="0" err="1"/>
              <a:t>erkjennes</a:t>
            </a:r>
            <a:r>
              <a:rPr lang="en-GB" sz="2400" dirty="0"/>
              <a:t> på </a:t>
            </a:r>
            <a:r>
              <a:rPr lang="en-GB" sz="2400" dirty="0" err="1"/>
              <a:t>helt</a:t>
            </a:r>
            <a:r>
              <a:rPr lang="en-GB" sz="2400" dirty="0"/>
              <a:t> </a:t>
            </a:r>
            <a:r>
              <a:rPr lang="en-GB" sz="2400" dirty="0" err="1"/>
              <a:t>obskurt</a:t>
            </a:r>
            <a:r>
              <a:rPr lang="en-GB" sz="2400" dirty="0"/>
              <a:t> vis </a:t>
            </a:r>
            <a:r>
              <a:rPr lang="en-GB" sz="2400" dirty="0" err="1"/>
              <a:t>av</a:t>
            </a:r>
            <a:r>
              <a:rPr lang="en-GB" sz="2400" dirty="0"/>
              <a:t> </a:t>
            </a:r>
            <a:r>
              <a:rPr lang="en-GB" sz="2400" dirty="0" err="1"/>
              <a:t>forstanden</a:t>
            </a:r>
            <a:r>
              <a:rPr lang="en-GB" sz="2400" dirty="0"/>
              <a:t>.</a:t>
            </a:r>
            <a:r>
              <a:rPr lang="en-US" sz="2400" dirty="0"/>
              <a:t>“ (s. 221)</a:t>
            </a:r>
          </a:p>
        </p:txBody>
      </p:sp>
      <p:pic>
        <p:nvPicPr>
          <p:cNvPr id="4" name="Frans_Hals_-_Portret_van_René_Descartes.jpg">
            <a:extLst>
              <a:ext uri="{FF2B5EF4-FFF2-40B4-BE49-F238E27FC236}">
                <a16:creationId xmlns:a16="http://schemas.microsoft.com/office/drawing/2014/main" id="{8D05707E-CF0C-5E40-BDEC-45021003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779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0CFBA4C-0B0C-6D42-9FFD-2934871FC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42678" y="2273844"/>
            <a:ext cx="6404521" cy="23103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Brev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5: Elisabeth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Descartes,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 </a:t>
            </a:r>
            <a:r>
              <a:rPr kumimoji="0" lang="en-US" sz="52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juli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1643</a:t>
            </a:r>
          </a:p>
        </p:txBody>
      </p:sp>
    </p:spTree>
    <p:extLst>
      <p:ext uri="{BB962C8B-B14F-4D97-AF65-F5344CB8AC3E}">
        <p14:creationId xmlns:p14="http://schemas.microsoft.com/office/powerpoint/2010/main" val="25986032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C98CD-CEB3-3E4D-A2F8-F1049DBFCF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0DFBB-B35F-9E4C-8039-F6F9B6805D61}"/>
              </a:ext>
            </a:extLst>
          </p:cNvPr>
          <p:cNvSpPr txBox="1"/>
          <p:nvPr/>
        </p:nvSpPr>
        <p:spPr>
          <a:xfrm>
            <a:off x="640080" y="2872899"/>
            <a:ext cx="69418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algn="just"/>
            <a:r>
              <a:rPr lang="en-GB" sz="2400" dirty="0"/>
              <a:t>“</a:t>
            </a:r>
            <a:r>
              <a:rPr lang="en-GB" sz="2400" dirty="0" err="1"/>
              <a:t>Jeg</a:t>
            </a:r>
            <a:r>
              <a:rPr lang="en-GB" sz="2400" dirty="0"/>
              <a:t> </a:t>
            </a:r>
            <a:r>
              <a:rPr lang="en-GB" sz="2400" dirty="0" err="1"/>
              <a:t>finner</a:t>
            </a:r>
            <a:r>
              <a:rPr lang="en-GB" sz="2400" dirty="0"/>
              <a:t> </a:t>
            </a:r>
            <a:r>
              <a:rPr lang="en-GB" sz="2400" dirty="0" err="1"/>
              <a:t>ogsa</a:t>
            </a:r>
            <a:r>
              <a:rPr lang="en-GB" sz="2400" dirty="0"/>
              <a:t>̊ at </a:t>
            </a:r>
            <a:r>
              <a:rPr lang="en-GB" sz="2400" dirty="0" err="1"/>
              <a:t>sansene</a:t>
            </a:r>
            <a:r>
              <a:rPr lang="en-GB" sz="2400" dirty="0"/>
              <a:t> </a:t>
            </a:r>
            <a:r>
              <a:rPr lang="en-GB" sz="2400" dirty="0" err="1"/>
              <a:t>viser</a:t>
            </a:r>
            <a:r>
              <a:rPr lang="en-GB" sz="2400" dirty="0"/>
              <a:t> meg </a:t>
            </a:r>
            <a:r>
              <a:rPr lang="en-GB" sz="2400" i="1" dirty="0"/>
              <a:t>at </a:t>
            </a:r>
            <a:r>
              <a:rPr lang="en-GB" sz="2400" dirty="0" err="1"/>
              <a:t>sjelen</a:t>
            </a:r>
            <a:r>
              <a:rPr lang="en-GB" sz="2400" dirty="0"/>
              <a:t> </a:t>
            </a:r>
            <a:r>
              <a:rPr lang="en-GB" sz="2400" dirty="0" err="1"/>
              <a:t>beveger</a:t>
            </a:r>
            <a:r>
              <a:rPr lang="en-GB" sz="2400" dirty="0"/>
              <a:t> </a:t>
            </a:r>
            <a:r>
              <a:rPr lang="en-GB" sz="2400" dirty="0" err="1"/>
              <a:t>kroppen</a:t>
            </a:r>
            <a:r>
              <a:rPr lang="en-GB" sz="2400" dirty="0"/>
              <a:t>, men </a:t>
            </a:r>
            <a:r>
              <a:rPr lang="en-GB" sz="2400" dirty="0" err="1"/>
              <a:t>hva</a:t>
            </a:r>
            <a:r>
              <a:rPr lang="en-GB" sz="2400" dirty="0"/>
              <a:t> </a:t>
            </a:r>
            <a:r>
              <a:rPr lang="en-GB" sz="2400" dirty="0" err="1"/>
              <a:t>gjelder</a:t>
            </a:r>
            <a:r>
              <a:rPr lang="en-GB" sz="2400" dirty="0"/>
              <a:t> </a:t>
            </a:r>
            <a:r>
              <a:rPr lang="en-GB" sz="2400" dirty="0" err="1"/>
              <a:t>måten</a:t>
            </a:r>
            <a:r>
              <a:rPr lang="en-GB" sz="2400" dirty="0"/>
              <a:t> </a:t>
            </a:r>
            <a:r>
              <a:rPr lang="en-GB" sz="2400" dirty="0" err="1"/>
              <a:t>dette</a:t>
            </a:r>
            <a:r>
              <a:rPr lang="en-GB" sz="2400" dirty="0"/>
              <a:t> </a:t>
            </a:r>
            <a:r>
              <a:rPr lang="en-GB" sz="2400" dirty="0" err="1"/>
              <a:t>foregår</a:t>
            </a:r>
            <a:r>
              <a:rPr lang="en-GB" sz="2400" dirty="0"/>
              <a:t> på, </a:t>
            </a:r>
            <a:r>
              <a:rPr lang="en-GB" sz="2400" dirty="0" err="1"/>
              <a:t>forteller</a:t>
            </a:r>
            <a:r>
              <a:rPr lang="en-GB" sz="2400" dirty="0"/>
              <a:t> </a:t>
            </a:r>
            <a:r>
              <a:rPr lang="en-GB" sz="2400" dirty="0" err="1"/>
              <a:t>ikke</a:t>
            </a:r>
            <a:r>
              <a:rPr lang="en-GB" sz="2400" dirty="0"/>
              <a:t> </a:t>
            </a:r>
            <a:r>
              <a:rPr lang="en-GB" sz="2400" dirty="0" err="1"/>
              <a:t>sansene</a:t>
            </a:r>
            <a:r>
              <a:rPr lang="en-GB" sz="2400" dirty="0"/>
              <a:t> meg noe </a:t>
            </a:r>
            <a:r>
              <a:rPr lang="en-GB" sz="2400" dirty="0" err="1"/>
              <a:t>mer</a:t>
            </a:r>
            <a:r>
              <a:rPr lang="en-GB" sz="2400" dirty="0"/>
              <a:t> </a:t>
            </a:r>
            <a:r>
              <a:rPr lang="en-GB" sz="2400" dirty="0" err="1"/>
              <a:t>enn</a:t>
            </a:r>
            <a:r>
              <a:rPr lang="en-GB" sz="2400" dirty="0"/>
              <a:t> </a:t>
            </a:r>
            <a:r>
              <a:rPr lang="en-GB" sz="2400" dirty="0" err="1"/>
              <a:t>forstanden</a:t>
            </a:r>
            <a:r>
              <a:rPr lang="en-GB" sz="2400" dirty="0"/>
              <a:t> </a:t>
            </a:r>
            <a:r>
              <a:rPr lang="en-GB" sz="2400" dirty="0" err="1"/>
              <a:t>og</a:t>
            </a:r>
            <a:r>
              <a:rPr lang="en-GB" sz="2400" dirty="0"/>
              <a:t> </a:t>
            </a:r>
            <a:r>
              <a:rPr lang="en-GB" sz="2400" dirty="0" err="1"/>
              <a:t>forestillingsevnen</a:t>
            </a:r>
            <a:r>
              <a:rPr lang="en-GB" sz="2400" dirty="0"/>
              <a:t>. </a:t>
            </a:r>
            <a:r>
              <a:rPr lang="en-GB" sz="2400" dirty="0" err="1"/>
              <a:t>Jeg</a:t>
            </a:r>
            <a:r>
              <a:rPr lang="en-GB" sz="2400" dirty="0"/>
              <a:t> </a:t>
            </a:r>
            <a:r>
              <a:rPr lang="en-GB" sz="2400" dirty="0" err="1"/>
              <a:t>tenker</a:t>
            </a:r>
            <a:r>
              <a:rPr lang="en-GB" sz="2400" dirty="0"/>
              <a:t> </a:t>
            </a:r>
            <a:r>
              <a:rPr lang="en-GB" sz="2400" dirty="0" err="1"/>
              <a:t>derfor</a:t>
            </a:r>
            <a:r>
              <a:rPr lang="en-GB" sz="2400" dirty="0"/>
              <a:t> at det </a:t>
            </a:r>
            <a:r>
              <a:rPr lang="en-GB" sz="2400" dirty="0" err="1"/>
              <a:t>finnes</a:t>
            </a:r>
            <a:r>
              <a:rPr lang="en-GB" sz="2400" dirty="0"/>
              <a:t> </a:t>
            </a:r>
            <a:r>
              <a:rPr lang="en-GB" sz="2400" dirty="0" err="1"/>
              <a:t>egenskaper</a:t>
            </a:r>
            <a:r>
              <a:rPr lang="en-GB" sz="2400" dirty="0"/>
              <a:t> </a:t>
            </a:r>
            <a:r>
              <a:rPr lang="en-GB" sz="2400" dirty="0" err="1"/>
              <a:t>ved</a:t>
            </a:r>
            <a:r>
              <a:rPr lang="en-GB" sz="2400" dirty="0"/>
              <a:t> </a:t>
            </a:r>
            <a:r>
              <a:rPr lang="en-GB" sz="2400" dirty="0" err="1"/>
              <a:t>sjelen</a:t>
            </a:r>
            <a:r>
              <a:rPr lang="en-GB" sz="2400" dirty="0"/>
              <a:t>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forblir</a:t>
            </a:r>
            <a:r>
              <a:rPr lang="en-GB" sz="2400" dirty="0"/>
              <a:t> </a:t>
            </a:r>
            <a:r>
              <a:rPr lang="en-GB" sz="2400" dirty="0" err="1"/>
              <a:t>ukjente</a:t>
            </a:r>
            <a:r>
              <a:rPr lang="en-GB" sz="2400" dirty="0"/>
              <a:t> for </a:t>
            </a:r>
            <a:r>
              <a:rPr lang="en-GB" sz="2400" dirty="0" err="1"/>
              <a:t>oss</a:t>
            </a:r>
            <a:r>
              <a:rPr lang="en-GB" sz="2400" dirty="0"/>
              <a:t> – noe </a:t>
            </a:r>
            <a:r>
              <a:rPr lang="en-GB" sz="2400" dirty="0" err="1"/>
              <a:t>som</a:t>
            </a:r>
            <a:r>
              <a:rPr lang="en-GB" sz="2400" dirty="0"/>
              <a:t> </a:t>
            </a:r>
            <a:r>
              <a:rPr lang="en-GB" sz="2400" dirty="0" err="1"/>
              <a:t>muligens</a:t>
            </a:r>
            <a:r>
              <a:rPr lang="en-GB" sz="2400" dirty="0"/>
              <a:t> </a:t>
            </a:r>
            <a:r>
              <a:rPr lang="en-GB" sz="2400" dirty="0" err="1"/>
              <a:t>kunne</a:t>
            </a:r>
            <a:r>
              <a:rPr lang="en-GB" sz="2400" dirty="0"/>
              <a:t> </a:t>
            </a:r>
            <a:r>
              <a:rPr lang="en-GB" sz="2400" dirty="0" err="1"/>
              <a:t>kullkaste</a:t>
            </a:r>
            <a:r>
              <a:rPr lang="en-GB" sz="2400" dirty="0"/>
              <a:t> det De </a:t>
            </a:r>
            <a:r>
              <a:rPr lang="en-GB" sz="2400" dirty="0" err="1"/>
              <a:t>sa</a:t>
            </a:r>
            <a:r>
              <a:rPr lang="en-GB" sz="2400" dirty="0"/>
              <a:t>̊ </a:t>
            </a:r>
            <a:r>
              <a:rPr lang="en-GB" sz="2400" dirty="0" err="1"/>
              <a:t>overbevisende</a:t>
            </a:r>
            <a:r>
              <a:rPr lang="en-GB" sz="2400" dirty="0"/>
              <a:t> </a:t>
            </a:r>
            <a:r>
              <a:rPr lang="en-GB" sz="2400" dirty="0" err="1"/>
              <a:t>argumenterer</a:t>
            </a:r>
            <a:r>
              <a:rPr lang="en-GB" sz="2400" dirty="0"/>
              <a:t> for </a:t>
            </a:r>
            <a:r>
              <a:rPr lang="en-GB" sz="2400" dirty="0" err="1"/>
              <a:t>i</a:t>
            </a:r>
            <a:r>
              <a:rPr lang="en-GB" sz="2400" dirty="0"/>
              <a:t> </a:t>
            </a:r>
            <a:r>
              <a:rPr lang="en-GB" sz="2400" dirty="0" err="1"/>
              <a:t>Deres</a:t>
            </a:r>
            <a:r>
              <a:rPr lang="en-GB" sz="2400" dirty="0"/>
              <a:t> </a:t>
            </a:r>
            <a:r>
              <a:rPr lang="en-GB" sz="2400" i="1" dirty="0" err="1"/>
              <a:t>Meditasjoner</a:t>
            </a:r>
            <a:r>
              <a:rPr lang="en-GB" sz="2400" dirty="0"/>
              <a:t>, </a:t>
            </a:r>
            <a:r>
              <a:rPr lang="en-GB" sz="2400" dirty="0" err="1"/>
              <a:t>nemlig</a:t>
            </a:r>
            <a:r>
              <a:rPr lang="en-GB" sz="2400" dirty="0"/>
              <a:t> </a:t>
            </a:r>
            <a:r>
              <a:rPr lang="en-GB" sz="2400" dirty="0" err="1"/>
              <a:t>sjelens</a:t>
            </a:r>
            <a:r>
              <a:rPr lang="en-GB" sz="2400" dirty="0"/>
              <a:t> </a:t>
            </a:r>
            <a:r>
              <a:rPr lang="en-GB" sz="2400" dirty="0" err="1"/>
              <a:t>mangel</a:t>
            </a:r>
            <a:r>
              <a:rPr lang="en-GB" sz="2400" dirty="0"/>
              <a:t> på </a:t>
            </a:r>
            <a:r>
              <a:rPr lang="en-GB" sz="2400" dirty="0" err="1"/>
              <a:t>utstrekning</a:t>
            </a:r>
            <a:r>
              <a:rPr lang="en-GB" sz="2400" dirty="0"/>
              <a:t>.” (s. 223) 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 </a:t>
            </a:r>
          </a:p>
        </p:txBody>
      </p:sp>
      <p:pic>
        <p:nvPicPr>
          <p:cNvPr id="7" name="Picture 6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B70AF5FE-FE44-3F41-918C-F1697D575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64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C98CD-CEB3-3E4D-A2F8-F1049DBFCF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Descartes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0DFBB-B35F-9E4C-8039-F6F9B6805D61}"/>
              </a:ext>
            </a:extLst>
          </p:cNvPr>
          <p:cNvSpPr txBox="1"/>
          <p:nvPr/>
        </p:nvSpPr>
        <p:spPr>
          <a:xfrm>
            <a:off x="506730" y="2915457"/>
            <a:ext cx="69799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Dette er mitt </a:t>
            </a:r>
            <a:r>
              <a:rPr lang="en-US" sz="2800" dirty="0" err="1"/>
              <a:t>spørsmål</a:t>
            </a:r>
            <a:r>
              <a:rPr lang="en-US" sz="2800" dirty="0"/>
              <a:t>: </a:t>
            </a:r>
            <a:r>
              <a:rPr lang="en-US" sz="2800" i="1" dirty="0" err="1"/>
              <a:t>Hvordan</a:t>
            </a:r>
            <a:r>
              <a:rPr lang="en-US" sz="2800" i="1" dirty="0"/>
              <a:t>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sjelen</a:t>
            </a:r>
            <a:r>
              <a:rPr lang="en-US" sz="2800" dirty="0"/>
              <a:t> </a:t>
            </a:r>
            <a:r>
              <a:rPr lang="en-US" sz="2800" dirty="0" err="1"/>
              <a:t>påvirke</a:t>
            </a:r>
            <a:r>
              <a:rPr lang="en-US" sz="2800" dirty="0"/>
              <a:t> </a:t>
            </a:r>
            <a:r>
              <a:rPr lang="en-US" sz="2800" dirty="0" err="1"/>
              <a:t>kroppen</a:t>
            </a:r>
            <a:r>
              <a:rPr lang="en-US" sz="2800" dirty="0"/>
              <a:t> </a:t>
            </a:r>
            <a:r>
              <a:rPr lang="en-US" sz="2800" dirty="0" err="1"/>
              <a:t>kausalt</a:t>
            </a:r>
            <a:r>
              <a:rPr lang="en-US" sz="2800" dirty="0"/>
              <a:t>?</a:t>
            </a:r>
            <a:endParaRPr lang="en-US" sz="2800" i="1" dirty="0"/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Denne </a:t>
            </a:r>
            <a:r>
              <a:rPr lang="en-US" sz="2800" dirty="0" err="1"/>
              <a:t>innvending</a:t>
            </a:r>
            <a:r>
              <a:rPr lang="en-US" sz="2800" dirty="0"/>
              <a:t> </a:t>
            </a:r>
            <a:r>
              <a:rPr lang="en-US" sz="2800" dirty="0" err="1"/>
              <a:t>svarer</a:t>
            </a:r>
            <a:r>
              <a:rPr lang="en-US" sz="2800" dirty="0"/>
              <a:t> du </a:t>
            </a:r>
            <a:r>
              <a:rPr lang="en-US" sz="2800" dirty="0" err="1"/>
              <a:t>ikke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endParaRPr lang="en-US" sz="2800" dirty="0"/>
          </a:p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Du </a:t>
            </a:r>
            <a:r>
              <a:rPr lang="en-US" sz="2800" dirty="0" err="1"/>
              <a:t>sier</a:t>
            </a:r>
            <a:r>
              <a:rPr lang="en-US" sz="2800" dirty="0"/>
              <a:t> bare </a:t>
            </a:r>
            <a:r>
              <a:rPr lang="en-US" sz="2800" i="1" dirty="0"/>
              <a:t>at </a:t>
            </a:r>
            <a:r>
              <a:rPr lang="en-US" sz="2800" dirty="0"/>
              <a:t>det er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forbindelse</a:t>
            </a:r>
            <a:r>
              <a:rPr lang="en-US" sz="2800" dirty="0"/>
              <a:t>, men </a:t>
            </a:r>
            <a:r>
              <a:rPr lang="en-US" sz="2800" dirty="0" err="1"/>
              <a:t>ikke</a:t>
            </a:r>
            <a:r>
              <a:rPr lang="en-US" sz="2800" dirty="0"/>
              <a:t> </a:t>
            </a:r>
            <a:r>
              <a:rPr lang="en-US" sz="2800" i="1" dirty="0" err="1"/>
              <a:t>hvordan</a:t>
            </a:r>
            <a:r>
              <a:rPr lang="en-US" sz="2800" i="1" dirty="0"/>
              <a:t> </a:t>
            </a:r>
            <a:r>
              <a:rPr lang="en-US" sz="2800" dirty="0" err="1"/>
              <a:t>denne</a:t>
            </a:r>
            <a:r>
              <a:rPr lang="en-US" sz="2800" dirty="0"/>
              <a:t> </a:t>
            </a:r>
            <a:r>
              <a:rPr lang="en-US" sz="2800" dirty="0" err="1"/>
              <a:t>foreningen</a:t>
            </a:r>
            <a:r>
              <a:rPr lang="en-US" sz="2800" dirty="0"/>
              <a:t>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finne</a:t>
            </a:r>
            <a:r>
              <a:rPr lang="en-US" sz="2800" dirty="0"/>
              <a:t> </a:t>
            </a:r>
            <a:r>
              <a:rPr lang="en-US" sz="2800" dirty="0" err="1"/>
              <a:t>sted</a:t>
            </a:r>
            <a:r>
              <a:rPr lang="en-US" sz="2800" dirty="0"/>
              <a:t>.</a:t>
            </a:r>
          </a:p>
          <a:p>
            <a:pPr marL="57150" algn="just">
              <a:lnSpc>
                <a:spcPct val="90000"/>
              </a:lnSpc>
              <a:spcAft>
                <a:spcPts val="1200"/>
              </a:spcAft>
            </a:pPr>
            <a:r>
              <a:rPr lang="en-US" sz="2200" dirty="0"/>
              <a:t> </a:t>
            </a:r>
          </a:p>
        </p:txBody>
      </p:sp>
      <p:pic>
        <p:nvPicPr>
          <p:cNvPr id="7" name="Picture 6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F60D8647-0D84-2C41-96A1-F1FAB2879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880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E9757-54B2-AF47-B615-DD98BC18B3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forslag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alternativt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syn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F993-5434-7F4F-8A80-4967BDF0168C}"/>
              </a:ext>
            </a:extLst>
          </p:cNvPr>
          <p:cNvSpPr txBox="1"/>
          <p:nvPr/>
        </p:nvSpPr>
        <p:spPr>
          <a:xfrm>
            <a:off x="640080" y="3124044"/>
            <a:ext cx="58750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 err="1"/>
              <a:t>Kanskje</a:t>
            </a:r>
            <a:r>
              <a:rPr lang="en-US" sz="3200" dirty="0"/>
              <a:t> </a:t>
            </a:r>
            <a:r>
              <a:rPr lang="en-US" sz="3200" dirty="0" err="1"/>
              <a:t>utstrekning</a:t>
            </a:r>
            <a:r>
              <a:rPr lang="en-US" sz="3200" dirty="0"/>
              <a:t> </a:t>
            </a:r>
            <a:r>
              <a:rPr lang="en-US" sz="3200" dirty="0" err="1"/>
              <a:t>ikke</a:t>
            </a:r>
            <a:r>
              <a:rPr lang="en-US" sz="3200" dirty="0"/>
              <a:t> er </a:t>
            </a:r>
            <a:r>
              <a:rPr lang="en-US" sz="3200" dirty="0" err="1"/>
              <a:t>nødvendig</a:t>
            </a:r>
            <a:r>
              <a:rPr lang="en-US" sz="3200" dirty="0"/>
              <a:t> for </a:t>
            </a:r>
            <a:r>
              <a:rPr lang="en-US" sz="3200" dirty="0" err="1"/>
              <a:t>tenkning</a:t>
            </a:r>
            <a:r>
              <a:rPr lang="en-US" sz="3200" dirty="0"/>
              <a:t>, men sinnet </a:t>
            </a:r>
            <a:r>
              <a:rPr lang="en-US" sz="3200" dirty="0" err="1"/>
              <a:t>kan</a:t>
            </a:r>
            <a:r>
              <a:rPr lang="en-US" sz="3200" dirty="0"/>
              <a:t> </a:t>
            </a:r>
            <a:r>
              <a:rPr lang="en-US" sz="3200" dirty="0" err="1"/>
              <a:t>likevel</a:t>
            </a:r>
            <a:r>
              <a:rPr lang="en-US" sz="3200" dirty="0"/>
              <a:t> </a:t>
            </a:r>
            <a:r>
              <a:rPr lang="en-US" sz="3200" dirty="0" err="1"/>
              <a:t>være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ting med </a:t>
            </a:r>
            <a:r>
              <a:rPr lang="en-US" sz="3200" dirty="0" err="1"/>
              <a:t>utstrekning</a:t>
            </a:r>
            <a:r>
              <a:rPr lang="en-US" sz="3200" dirty="0"/>
              <a:t>.</a:t>
            </a:r>
          </a:p>
        </p:txBody>
      </p:sp>
      <p:pic>
        <p:nvPicPr>
          <p:cNvPr id="7" name="Picture 6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D7F2E9E0-4D08-A84C-A507-6AF7E801A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33" r="22476" b="18497"/>
          <a:stretch/>
        </p:blipFill>
        <p:spPr>
          <a:xfrm>
            <a:off x="7945363" y="0"/>
            <a:ext cx="4243589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716614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E9757-54B2-AF47-B615-DD98BC18B3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forslag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alternativt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syn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F993-5434-7F4F-8A80-4967BDF0168C}"/>
              </a:ext>
            </a:extLst>
          </p:cNvPr>
          <p:cNvSpPr txBox="1"/>
          <p:nvPr/>
        </p:nvSpPr>
        <p:spPr>
          <a:xfrm>
            <a:off x="640080" y="3124044"/>
            <a:ext cx="58750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 err="1"/>
              <a:t>Kanskje</a:t>
            </a:r>
            <a:r>
              <a:rPr lang="en-US" sz="3200" dirty="0"/>
              <a:t> </a:t>
            </a:r>
            <a:r>
              <a:rPr lang="en-US" sz="3200" dirty="0" err="1"/>
              <a:t>utstrekning</a:t>
            </a:r>
            <a:r>
              <a:rPr lang="en-US" sz="3200" dirty="0"/>
              <a:t> </a:t>
            </a:r>
            <a:r>
              <a:rPr lang="en-US" sz="3200" dirty="0" err="1"/>
              <a:t>ikke</a:t>
            </a:r>
            <a:r>
              <a:rPr lang="en-US" sz="3200" dirty="0"/>
              <a:t> er </a:t>
            </a:r>
            <a:r>
              <a:rPr lang="en-US" sz="3200" dirty="0" err="1"/>
              <a:t>nødvendig</a:t>
            </a:r>
            <a:r>
              <a:rPr lang="en-US" sz="3200" dirty="0"/>
              <a:t> for </a:t>
            </a:r>
            <a:r>
              <a:rPr lang="en-US" sz="3200" dirty="0" err="1"/>
              <a:t>tenkning</a:t>
            </a:r>
            <a:r>
              <a:rPr lang="en-US" sz="3200" dirty="0"/>
              <a:t>, men </a:t>
            </a:r>
            <a:r>
              <a:rPr lang="en-US" sz="3200" dirty="0">
                <a:solidFill>
                  <a:srgbClr val="FF0000"/>
                </a:solidFill>
              </a:rPr>
              <a:t>sinnet </a:t>
            </a:r>
            <a:r>
              <a:rPr lang="en-US" sz="3200" dirty="0" err="1">
                <a:solidFill>
                  <a:srgbClr val="FF0000"/>
                </a:solidFill>
              </a:rPr>
              <a:t>kan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likevel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være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en</a:t>
            </a:r>
            <a:r>
              <a:rPr lang="en-US" sz="3200" dirty="0">
                <a:solidFill>
                  <a:srgbClr val="FF0000"/>
                </a:solidFill>
              </a:rPr>
              <a:t> ting med </a:t>
            </a:r>
            <a:r>
              <a:rPr lang="en-US" sz="3200" dirty="0" err="1">
                <a:solidFill>
                  <a:srgbClr val="FF0000"/>
                </a:solidFill>
              </a:rPr>
              <a:t>utstrekning</a:t>
            </a:r>
            <a:r>
              <a:rPr lang="en-US" sz="3200" dirty="0"/>
              <a:t>.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C5F33A6-CC04-83B1-DB83-DF5D70622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1303789"/>
            <a:ext cx="4000500" cy="44069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CA3DC2-B779-2BCF-7ED7-D5A4EB97B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597571" y="1342908"/>
            <a:ext cx="3837016" cy="22034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7C04DF-9159-56E6-E12F-2F6957BE1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7597571" y="1342908"/>
            <a:ext cx="3837016" cy="208609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122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E9757-54B2-AF47-B615-DD98BC18B3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Elisabeths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forslag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til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alternativt</a:t>
            </a:r>
            <a:r>
              <a:rPr kumimoji="0" lang="en-US" sz="4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syn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F993-5434-7F4F-8A80-4967BDF0168C}"/>
              </a:ext>
            </a:extLst>
          </p:cNvPr>
          <p:cNvSpPr txBox="1"/>
          <p:nvPr/>
        </p:nvSpPr>
        <p:spPr>
          <a:xfrm>
            <a:off x="640080" y="3124044"/>
            <a:ext cx="58750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FF0000"/>
                </a:solidFill>
              </a:rPr>
              <a:t>Kanskje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utstrekning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ikke</a:t>
            </a:r>
            <a:r>
              <a:rPr lang="en-US" sz="3200" dirty="0">
                <a:solidFill>
                  <a:srgbClr val="FF0000"/>
                </a:solidFill>
              </a:rPr>
              <a:t> er </a:t>
            </a:r>
            <a:r>
              <a:rPr lang="en-US" sz="3200" dirty="0" err="1">
                <a:solidFill>
                  <a:srgbClr val="FF0000"/>
                </a:solidFill>
              </a:rPr>
              <a:t>nødvendig</a:t>
            </a:r>
            <a:r>
              <a:rPr lang="en-US" sz="3200" dirty="0">
                <a:solidFill>
                  <a:srgbClr val="FF0000"/>
                </a:solidFill>
              </a:rPr>
              <a:t> for </a:t>
            </a:r>
            <a:r>
              <a:rPr lang="en-US" sz="3200" dirty="0" err="1">
                <a:solidFill>
                  <a:srgbClr val="FF0000"/>
                </a:solidFill>
              </a:rPr>
              <a:t>tenkning</a:t>
            </a:r>
            <a:r>
              <a:rPr lang="en-US" sz="3200" dirty="0"/>
              <a:t>, men sinnet </a:t>
            </a:r>
            <a:r>
              <a:rPr lang="en-US" sz="3200" dirty="0" err="1"/>
              <a:t>kan</a:t>
            </a:r>
            <a:r>
              <a:rPr lang="en-US" sz="3200" dirty="0"/>
              <a:t> </a:t>
            </a:r>
            <a:r>
              <a:rPr lang="en-US" sz="3200" dirty="0" err="1"/>
              <a:t>likevel</a:t>
            </a:r>
            <a:r>
              <a:rPr lang="en-US" sz="3200" dirty="0"/>
              <a:t> </a:t>
            </a:r>
            <a:r>
              <a:rPr lang="en-US" sz="3200" dirty="0" err="1"/>
              <a:t>være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ting med </a:t>
            </a:r>
            <a:r>
              <a:rPr lang="en-US" sz="3200" dirty="0" err="1"/>
              <a:t>utstrekning</a:t>
            </a:r>
            <a:r>
              <a:rPr lang="en-US" sz="3200" dirty="0"/>
              <a:t>.</a:t>
            </a:r>
          </a:p>
        </p:txBody>
      </p:sp>
      <p:pic>
        <p:nvPicPr>
          <p:cNvPr id="5" name="Picture 4" descr="A diagram of a person's mind&#10;&#10;Description automatically generated">
            <a:extLst>
              <a:ext uri="{FF2B5EF4-FFF2-40B4-BE49-F238E27FC236}">
                <a16:creationId xmlns:a16="http://schemas.microsoft.com/office/drawing/2014/main" id="{83B397DB-78E0-CB2F-3F5F-915B7B2F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495" y="1079500"/>
            <a:ext cx="44577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356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017BF55-61B3-8E4A-A63C-6498452DE7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014" r="-8191"/>
          <a:stretch/>
        </p:blipFill>
        <p:spPr>
          <a:xfrm>
            <a:off x="377596" y="321733"/>
            <a:ext cx="10938103" cy="62145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1DE423-E38B-5F48-9051-24754A54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0400" y="909340"/>
            <a:ext cx="990600" cy="8953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55D4F-793E-6A44-BF23-23FFB85D31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432778" y="909340"/>
            <a:ext cx="2145844" cy="461665"/>
          </a:xfrm>
          <a:prstGeom prst="rect">
            <a:avLst/>
          </a:prstGeom>
          <a:solidFill>
            <a:schemeClr val="tx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Konglekjertelen</a:t>
            </a:r>
          </a:p>
        </p:txBody>
      </p:sp>
      <p:pic>
        <p:nvPicPr>
          <p:cNvPr id="6" name="Picture 5" descr="A close-up of a book&#10;&#10;Description automatically generated">
            <a:extLst>
              <a:ext uri="{FF2B5EF4-FFF2-40B4-BE49-F238E27FC236}">
                <a16:creationId xmlns:a16="http://schemas.microsoft.com/office/drawing/2014/main" id="{184DFE84-167B-29CD-0A78-A27763DC3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694" y="0"/>
            <a:ext cx="3084306" cy="4849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F539EE-6C36-9843-8774-C5F5E37A3604}"/>
              </a:ext>
            </a:extLst>
          </p:cNvPr>
          <p:cNvSpPr txBox="1"/>
          <p:nvPr/>
        </p:nvSpPr>
        <p:spPr>
          <a:xfrm>
            <a:off x="9107694" y="4849038"/>
            <a:ext cx="3084306" cy="461665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</p:spPr>
        <p:txBody>
          <a:bodyPr wrap="none" rtlCol="0">
            <a:spAutoFit/>
          </a:bodyPr>
          <a:lstStyle/>
          <a:p>
            <a:r>
              <a:rPr lang="en-NO" sz="2400" dirty="0"/>
              <a:t>Sjelens Pasjoner (1649)</a:t>
            </a:r>
          </a:p>
        </p:txBody>
      </p:sp>
    </p:spTree>
    <p:extLst>
      <p:ext uri="{BB962C8B-B14F-4D97-AF65-F5344CB8AC3E}">
        <p14:creationId xmlns:p14="http://schemas.microsoft.com/office/powerpoint/2010/main" val="705315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C8A7ED-C775-C44D-9E04-619039241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7674" r="21582" b="1"/>
          <a:stretch/>
        </p:blipFill>
        <p:spPr>
          <a:xfrm>
            <a:off x="181899" y="182880"/>
            <a:ext cx="5915025" cy="6499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4E55B7-095E-6840-BC58-59794D1C4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l="35614" r="13197"/>
          <a:stretch/>
        </p:blipFill>
        <p:spPr>
          <a:xfrm>
            <a:off x="6095156" y="182880"/>
            <a:ext cx="5915025" cy="6499784"/>
          </a:xfrm>
          <a:prstGeom prst="rect">
            <a:avLst/>
          </a:prstGeom>
        </p:spPr>
      </p:pic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431FDB1-DE26-6069-53FD-243E9835CC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3700" y="657225"/>
            <a:ext cx="4378325" cy="1338263"/>
          </a:xfrm>
          <a:prstGeom prst="rect">
            <a:avLst/>
          </a:prstGeom>
          <a:solidFill>
            <a:srgbClr val="00131F">
              <a:alpha val="78449"/>
            </a:srgbClr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UTFORDRINGER FOR IDENTITETSTEORI</a:t>
            </a:r>
          </a:p>
        </p:txBody>
      </p:sp>
    </p:spTree>
    <p:extLst>
      <p:ext uri="{BB962C8B-B14F-4D97-AF65-F5344CB8AC3E}">
        <p14:creationId xmlns:p14="http://schemas.microsoft.com/office/powerpoint/2010/main" val="31983521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04FE5-0443-0C48-AB94-04D9678DFE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Noe å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tenke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på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hjemme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76D0B-C969-6B4F-88ED-92F13C3F6EAF}"/>
              </a:ext>
            </a:extLst>
          </p:cNvPr>
          <p:cNvSpPr txBox="1"/>
          <p:nvPr/>
        </p:nvSpPr>
        <p:spPr>
          <a:xfrm>
            <a:off x="838200" y="2413254"/>
            <a:ext cx="10515600" cy="376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Synes du Elisabeth’ </a:t>
            </a:r>
            <a:r>
              <a:rPr lang="en-US" sz="2800" dirty="0" err="1"/>
              <a:t>innvending</a:t>
            </a:r>
            <a:r>
              <a:rPr lang="en-US" sz="2800" dirty="0"/>
              <a:t> mot Descartes er </a:t>
            </a:r>
            <a:r>
              <a:rPr lang="en-US" sz="2800" dirty="0" err="1"/>
              <a:t>overbevisende</a:t>
            </a:r>
            <a:r>
              <a:rPr lang="en-US" sz="2800" dirty="0"/>
              <a:t>?</a:t>
            </a:r>
          </a:p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Klarer</a:t>
            </a:r>
            <a:r>
              <a:rPr lang="en-US" sz="2800" dirty="0"/>
              <a:t> Descartes </a:t>
            </a:r>
            <a:r>
              <a:rPr lang="en-US" sz="2800" dirty="0" err="1"/>
              <a:t>å</a:t>
            </a:r>
            <a:r>
              <a:rPr lang="en-US" sz="2800" dirty="0"/>
              <a:t> </a:t>
            </a:r>
            <a:r>
              <a:rPr lang="en-US" sz="2800" dirty="0" err="1"/>
              <a:t>svare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</a:t>
            </a:r>
            <a:r>
              <a:rPr lang="en-US" sz="2800" dirty="0" err="1"/>
              <a:t>denne</a:t>
            </a:r>
            <a:r>
              <a:rPr lang="en-US" sz="2800" dirty="0"/>
              <a:t> </a:t>
            </a:r>
            <a:r>
              <a:rPr lang="en-US" sz="2800" dirty="0" err="1"/>
              <a:t>innvendingen</a:t>
            </a:r>
            <a:r>
              <a:rPr lang="en-US" sz="2800" dirty="0"/>
              <a:t>?</a:t>
            </a:r>
          </a:p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Kan du </a:t>
            </a:r>
            <a:r>
              <a:rPr lang="en-US" sz="2800" dirty="0" err="1"/>
              <a:t>tenke</a:t>
            </a:r>
            <a:r>
              <a:rPr lang="en-US" sz="2800" dirty="0"/>
              <a:t> deg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annen</a:t>
            </a:r>
            <a:r>
              <a:rPr lang="en-US" sz="2800" dirty="0"/>
              <a:t> </a:t>
            </a:r>
            <a:r>
              <a:rPr lang="en-US" sz="2800" dirty="0" err="1"/>
              <a:t>måte</a:t>
            </a:r>
            <a:r>
              <a:rPr lang="en-US" sz="2800" dirty="0"/>
              <a:t> Descartes </a:t>
            </a:r>
            <a:r>
              <a:rPr lang="en-US" sz="2800" dirty="0" err="1"/>
              <a:t>kunne</a:t>
            </a:r>
            <a:r>
              <a:rPr lang="en-US" sz="2800" dirty="0"/>
              <a:t> </a:t>
            </a:r>
            <a:r>
              <a:rPr lang="en-US" sz="2800" dirty="0" err="1"/>
              <a:t>svart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</a:t>
            </a:r>
            <a:r>
              <a:rPr lang="en-US" sz="2800" dirty="0" err="1"/>
              <a:t>Elisabeths</a:t>
            </a:r>
            <a:r>
              <a:rPr lang="en-US" sz="2800" dirty="0"/>
              <a:t> </a:t>
            </a:r>
            <a:r>
              <a:rPr lang="en-US" sz="2800" dirty="0" err="1"/>
              <a:t>innvending</a:t>
            </a:r>
            <a:r>
              <a:rPr lang="en-US" sz="2800" dirty="0"/>
              <a:t>?</a:t>
            </a:r>
          </a:p>
          <a:p>
            <a:pPr marL="285750" indent="-228600">
              <a:lnSpc>
                <a:spcPct val="9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NO" sz="2800" dirty="0"/>
              <a:t>Hvordan kan en som mener at sinnet er noe fysisk forsøke å svare på utfordringene fra plastisitet og aliens?</a:t>
            </a:r>
          </a:p>
          <a:p>
            <a:pPr marL="57150">
              <a:lnSpc>
                <a:spcPct val="90000"/>
              </a:lnSpc>
              <a:spcAft>
                <a:spcPts val="18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691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36294</TotalTime>
  <Words>2279</Words>
  <Application>Microsoft Office PowerPoint</Application>
  <PresentationFormat>Widescreen</PresentationFormat>
  <Paragraphs>288</Paragraphs>
  <Slides>69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69</vt:i4>
      </vt:variant>
    </vt:vector>
  </HeadingPairs>
  <TitlesOfParts>
    <vt:vector size="73" baseType="lpstr">
      <vt:lpstr>Arial</vt:lpstr>
      <vt:lpstr>Calibri</vt:lpstr>
      <vt:lpstr>Calibri Light</vt:lpstr>
      <vt:lpstr>Office Theme</vt:lpstr>
      <vt:lpstr>Det humanistiske fakultet </vt:lpstr>
      <vt:lpstr>Plan for forelesningen    </vt:lpstr>
      <vt:lpstr>Bevissthetsfilosofi</vt:lpstr>
      <vt:lpstr>Bildeplansje</vt:lpstr>
      <vt:lpstr>Bevissthetsfilosofi</vt:lpstr>
      <vt:lpstr>Forholdet mellom kropp og sinn</vt:lpstr>
      <vt:lpstr>Phineas Gage </vt:lpstr>
      <vt:lpstr>Normal hjerne kontra hjerne med Alzheimer</vt:lpstr>
      <vt:lpstr>The Human Brain</vt:lpstr>
      <vt:lpstr>The Human Brain (2)</vt:lpstr>
      <vt:lpstr>Bildeplansje: On or Off</vt:lpstr>
      <vt:lpstr>Metafysiske spørsmål</vt:lpstr>
      <vt:lpstr>Fire begreper</vt:lpstr>
      <vt:lpstr>Substanser og egenskaper</vt:lpstr>
      <vt:lpstr>Spørsmål</vt:lpstr>
      <vt:lpstr>Materialisme</vt:lpstr>
      <vt:lpstr>Frank Jackson: What Mary didn’t know (1986)</vt:lpstr>
      <vt:lpstr>Frank Jackson: What Mary didn’t know (1986)</vt:lpstr>
      <vt:lpstr>Egenskapsdualisme</vt:lpstr>
      <vt:lpstr>Substansdualisme</vt:lpstr>
      <vt:lpstr>Plan for forelesningen    </vt:lpstr>
      <vt:lpstr>Descartes</vt:lpstr>
      <vt:lpstr>Res cogitans / Res extensa</vt:lpstr>
      <vt:lpstr>Descartes’ forståelse av dyr</vt:lpstr>
      <vt:lpstr>Bildeplansje</vt:lpstr>
      <vt:lpstr>Substansdualisme</vt:lpstr>
      <vt:lpstr>Konglekjertelen</vt:lpstr>
      <vt:lpstr>Descartes</vt:lpstr>
      <vt:lpstr>Spørsmål: Hva betyr det at noe er identisk?</vt:lpstr>
      <vt:lpstr>Bildeplansje</vt:lpstr>
      <vt:lpstr>Leibniz’ lov om identitet</vt:lpstr>
      <vt:lpstr>Forholdet mellom kropp og sinn</vt:lpstr>
      <vt:lpstr>Argument for at sjelen ikke er identisk med kroppen</vt:lpstr>
      <vt:lpstr>Resultat</vt:lpstr>
      <vt:lpstr>Plan for forelesningen    </vt:lpstr>
      <vt:lpstr>Elisabeth av Böhmen</vt:lpstr>
      <vt:lpstr>Brev 1: Elisabeth til Descartes,  6. mai 1643</vt:lpstr>
      <vt:lpstr>Sitater fra brevet</vt:lpstr>
      <vt:lpstr>Bildeplansje</vt:lpstr>
      <vt:lpstr>Elisabeths innvending til Descartes</vt:lpstr>
      <vt:lpstr>Kausal lukning av den fysiske verden</vt:lpstr>
      <vt:lpstr>Elisabeths argument</vt:lpstr>
      <vt:lpstr>Elisabeths argument</vt:lpstr>
      <vt:lpstr>Epifenomenalisme</vt:lpstr>
      <vt:lpstr>Epifenomenalisme</vt:lpstr>
      <vt:lpstr>NB! DETTE ER IKKE DESCARTES’ SYN</vt:lpstr>
      <vt:lpstr>Elisabeths argument</vt:lpstr>
      <vt:lpstr>Plan for forelesningen    </vt:lpstr>
      <vt:lpstr>Brev 2: Descartes til Elisabeth,  21. mai 1643</vt:lpstr>
      <vt:lpstr>Descartes’ svar til Elisabeth</vt:lpstr>
      <vt:lpstr>Descartes’ svar til Elisabeth</vt:lpstr>
      <vt:lpstr>Descartes’ svar til Elisabeth</vt:lpstr>
      <vt:lpstr>Descartes’ svar til Elisabeth</vt:lpstr>
      <vt:lpstr>Brev 3: Elisabeth til Descartes,  10. juni 1643</vt:lpstr>
      <vt:lpstr>Elisabeths svar</vt:lpstr>
      <vt:lpstr>Elisabeths svar</vt:lpstr>
      <vt:lpstr>Elisabeths svar</vt:lpstr>
      <vt:lpstr>Elisabeths svar</vt:lpstr>
      <vt:lpstr>Brev 4: Descartes til Elisabeth,  28. juni 1643</vt:lpstr>
      <vt:lpstr>Descartes’ svar</vt:lpstr>
      <vt:lpstr>Brev 5: Elisabeth til Descartes,  1. juli 1643</vt:lpstr>
      <vt:lpstr>Elisabeth til Descartes</vt:lpstr>
      <vt:lpstr>Elisabeth til Descartes</vt:lpstr>
      <vt:lpstr>Elisabeths forslag til alternativt syn</vt:lpstr>
      <vt:lpstr>Elisabeths forslag til alternativt syn</vt:lpstr>
      <vt:lpstr>Elisabeths forslag til alternativt syn</vt:lpstr>
      <vt:lpstr>Konglekjertelen</vt:lpstr>
      <vt:lpstr>UTFORDRINGER FOR IDENTITETSTEORI</vt:lpstr>
      <vt:lpstr>Noe å tenke på hjemme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 humanistiske fakultet</dc:title>
  <dc:creator>Sara Kasin Vikesdal</dc:creator>
  <cp:lastModifiedBy>Erlend Bornhoffer</cp:lastModifiedBy>
  <cp:revision>174</cp:revision>
  <dcterms:created xsi:type="dcterms:W3CDTF">2022-02-01T13:53:39Z</dcterms:created>
  <dcterms:modified xsi:type="dcterms:W3CDTF">2024-09-17T08:02:56Z</dcterms:modified>
</cp:coreProperties>
</file>