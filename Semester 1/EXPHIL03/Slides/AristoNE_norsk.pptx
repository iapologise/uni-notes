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9" r:id="rId1"/>
  </p:sldMasterIdLst>
  <p:notesMasterIdLst>
    <p:notesMasterId r:id="rId16"/>
  </p:notesMasterIdLst>
  <p:handoutMasterIdLst>
    <p:handoutMasterId r:id="rId17"/>
  </p:handoutMasterIdLst>
  <p:sldIdLst>
    <p:sldId id="332" r:id="rId2"/>
    <p:sldId id="333" r:id="rId3"/>
    <p:sldId id="331" r:id="rId4"/>
    <p:sldId id="308" r:id="rId5"/>
    <p:sldId id="302" r:id="rId6"/>
    <p:sldId id="267" r:id="rId7"/>
    <p:sldId id="278" r:id="rId8"/>
    <p:sldId id="312" r:id="rId9"/>
    <p:sldId id="317" r:id="rId10"/>
    <p:sldId id="324" r:id="rId11"/>
    <p:sldId id="261" r:id="rId12"/>
    <p:sldId id="257" r:id="rId13"/>
    <p:sldId id="259" r:id="rId14"/>
    <p:sldId id="258" r:id="rId15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244"/>
    <a:srgbClr val="4C678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1" autoAdjust="0"/>
    <p:restoredTop sz="94437" autoAdjust="0"/>
  </p:normalViewPr>
  <p:slideViewPr>
    <p:cSldViewPr>
      <p:cViewPr varScale="1">
        <p:scale>
          <a:sx n="152" d="100"/>
          <a:sy n="152" d="100"/>
        </p:scale>
        <p:origin x="15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C9896D9-8050-44D7-A40D-6920AE2D1A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61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6125"/>
            <a:ext cx="6615112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133" y="4718214"/>
            <a:ext cx="5436235" cy="446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3A95D4-52CF-4036-984D-AF42B1BE1A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7905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3A95D4-52CF-4036-984D-AF42B1BE1AF3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242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3A95D4-52CF-4036-984D-AF42B1BE1AF3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768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3A95D4-52CF-4036-984D-AF42B1BE1AF3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338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3A95D4-52CF-4036-984D-AF42B1BE1AF3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208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6F205-EC2A-0A4D-8851-E10F773383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76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69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165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3A95D4-52CF-4036-984D-AF42B1BE1AF3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24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ed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597229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597229" cy="861420"/>
          </a:xfrm>
        </p:spPr>
        <p:txBody>
          <a:bodyPr anchor="t"/>
          <a:lstStyle>
            <a:lvl1pPr marL="0" indent="0" algn="l">
              <a:buNone/>
              <a:defRPr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3985" y="5985181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1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ten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73186"/>
            <a:ext cx="9410285" cy="124364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53085" cy="419548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24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42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1.xml"/><Relationship Id="rId9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  <a:lumOff val="15000"/>
              </a:schemeClr>
            </a:gs>
            <a:gs pos="99000">
              <a:srgbClr val="24324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668412"/>
            <a:ext cx="9404723" cy="11848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67162" y="6448069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3312" y="64388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218199" y="5961676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40C8-6429-7646-927E-CC7F2066F152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F08E80-5C34-AF4F-8321-C38D28B83B4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44" y="71385"/>
            <a:ext cx="6765430" cy="53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10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3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D61BB-A206-657A-62C4-5CA34AC58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480" y="836713"/>
            <a:ext cx="10225136" cy="1008111"/>
          </a:xfrm>
        </p:spPr>
        <p:txBody>
          <a:bodyPr/>
          <a:lstStyle/>
          <a:p>
            <a:r>
              <a:rPr lang="en-NO" sz="4200" dirty="0"/>
              <a:t>Etiske spørsmål, moralske spørsmål</a:t>
            </a:r>
            <a:endParaRPr lang="nb-NO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34588-C06F-0997-B902-20C956F58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2348880"/>
            <a:ext cx="11593288" cy="4248472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Er de forskjellige?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“Etisk” fra det greske </a:t>
            </a:r>
            <a:r>
              <a:rPr lang="nb-NO" i="1" dirty="0" err="1">
                <a:effectLst/>
              </a:rPr>
              <a:t>Ἦθος</a:t>
            </a:r>
            <a:r>
              <a:rPr lang="nb-NO" i="0" dirty="0">
                <a:effectLst/>
              </a:rPr>
              <a:t> (</a:t>
            </a:r>
            <a:r>
              <a:rPr lang="nb-NO" i="1" dirty="0" err="1">
                <a:effectLst/>
              </a:rPr>
              <a:t>ethos</a:t>
            </a:r>
            <a:r>
              <a:rPr lang="nb-NO" i="0" dirty="0">
                <a:effectLst/>
              </a:rPr>
              <a:t>), som betyr vane eller skikk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M</a:t>
            </a:r>
            <a:r>
              <a:rPr lang="nb-NO" i="0" dirty="0">
                <a:effectLst/>
              </a:rPr>
              <a:t>oral (mest </a:t>
            </a:r>
            <a:r>
              <a:rPr lang="nb-NO" i="0" dirty="0" err="1">
                <a:effectLst/>
              </a:rPr>
              <a:t>sansynlig</a:t>
            </a:r>
            <a:r>
              <a:rPr lang="nb-NO" dirty="0"/>
              <a:t>) fra det Latinske </a:t>
            </a:r>
            <a:r>
              <a:rPr lang="nb-NO" i="1" dirty="0"/>
              <a:t>mos, </a:t>
            </a:r>
            <a:r>
              <a:rPr lang="nb-NO" i="0" dirty="0">
                <a:effectLst/>
              </a:rPr>
              <a:t>som betyr igjen vane eller skikk</a:t>
            </a:r>
            <a:endParaRPr lang="nb-NO" dirty="0"/>
          </a:p>
          <a:p>
            <a:pPr marL="0" indent="0" algn="ctr">
              <a:buNone/>
            </a:pPr>
            <a:r>
              <a:rPr lang="nb-NO" i="1" dirty="0"/>
              <a:t>mos </a:t>
            </a:r>
            <a:r>
              <a:rPr lang="nb-NO" i="1" dirty="0" err="1"/>
              <a:t>maiorum</a:t>
            </a:r>
            <a:r>
              <a:rPr lang="nb-NO" i="1" dirty="0"/>
              <a:t> = </a:t>
            </a:r>
            <a:r>
              <a:rPr lang="nb-NO" dirty="0"/>
              <a:t>forgjengernes skikk</a:t>
            </a:r>
            <a:endParaRPr lang="nb-NO" i="1" dirty="0">
              <a:effectLst/>
            </a:endParaRP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7243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494F-C757-EE12-D254-DB411B4E9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692696"/>
            <a:ext cx="10729192" cy="2808312"/>
          </a:xfrm>
        </p:spPr>
        <p:txBody>
          <a:bodyPr/>
          <a:lstStyle/>
          <a:p>
            <a:r>
              <a:rPr lang="en-NO" sz="4800" dirty="0"/>
              <a:t>Empiriske spørsmål </a:t>
            </a:r>
            <a:br>
              <a:rPr lang="en-NO" sz="4800" dirty="0"/>
            </a:br>
            <a:br>
              <a:rPr lang="en-NO" sz="2200" dirty="0"/>
            </a:br>
            <a:r>
              <a:rPr lang="en-NO" sz="2200" dirty="0"/>
              <a:t>Hva </a:t>
            </a:r>
            <a:r>
              <a:rPr lang="en-NO" sz="2200" i="1" dirty="0"/>
              <a:t>er</a:t>
            </a:r>
            <a:r>
              <a:rPr lang="en-NO" sz="2200" dirty="0"/>
              <a:t> saken?</a:t>
            </a:r>
            <a:br>
              <a:rPr lang="en-NO" sz="2200" dirty="0"/>
            </a:br>
            <a:r>
              <a:rPr lang="en-NO" sz="2200" dirty="0"/>
              <a:t>	</a:t>
            </a:r>
            <a:br>
              <a:rPr lang="en-NO" sz="2200" dirty="0"/>
            </a:br>
            <a:r>
              <a:rPr lang="en-NO" sz="2200" dirty="0"/>
              <a:t>	</a:t>
            </a:r>
            <a:r>
              <a:rPr lang="en-GB" sz="2200" dirty="0"/>
              <a:t>D</a:t>
            </a:r>
            <a:r>
              <a:rPr lang="en-NO" sz="2200" dirty="0"/>
              <a:t>vs. spørsmål om fakta</a:t>
            </a:r>
            <a:br>
              <a:rPr lang="en-NO" sz="2200" dirty="0"/>
            </a:br>
            <a:r>
              <a:rPr lang="en-NO" sz="2200" dirty="0"/>
              <a:t>		</a:t>
            </a:r>
            <a:br>
              <a:rPr lang="en-NO" sz="2200" dirty="0"/>
            </a:br>
            <a:r>
              <a:rPr lang="en-NO" sz="2200" dirty="0"/>
              <a:t>		Svarene på disse spørsmål er sanne eller usanne</a:t>
            </a:r>
            <a:endParaRPr lang="nb-NO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1948-73D8-562A-932C-3E2C7D68A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717032"/>
            <a:ext cx="11593288" cy="295232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NO" sz="4800" dirty="0"/>
              <a:t>	Normative spørsmål</a:t>
            </a:r>
          </a:p>
          <a:p>
            <a:pPr marL="0" indent="0" algn="l">
              <a:buNone/>
            </a:pPr>
            <a:r>
              <a:rPr lang="en-GB" sz="2200" dirty="0"/>
              <a:t>	</a:t>
            </a:r>
            <a:r>
              <a:rPr lang="nb-NO" sz="2200" dirty="0"/>
              <a:t>Hva burde saken være</a:t>
            </a:r>
            <a:r>
              <a:rPr lang="en-NO" sz="2200" dirty="0"/>
              <a:t>?</a:t>
            </a:r>
          </a:p>
          <a:p>
            <a:pPr marL="0" indent="0" algn="l">
              <a:buNone/>
            </a:pPr>
            <a:r>
              <a:rPr lang="en-NO" sz="2200" dirty="0"/>
              <a:t>		Dvs. </a:t>
            </a:r>
            <a:r>
              <a:rPr lang="en-GB" sz="2200" dirty="0"/>
              <a:t>S</a:t>
            </a:r>
            <a:r>
              <a:rPr lang="en-NO" sz="2200" dirty="0"/>
              <a:t>pørsmål om normative saker</a:t>
            </a:r>
          </a:p>
          <a:p>
            <a:pPr marL="0" indent="0" algn="l">
              <a:buNone/>
            </a:pPr>
            <a:r>
              <a:rPr lang="en-NO" sz="2200" dirty="0"/>
              <a:t>			Er svarene på slike spørsmål sanne eller falske?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1916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D0A9-84F5-16C2-F6B8-18970579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1052736"/>
            <a:ext cx="9410285" cy="1243646"/>
          </a:xfrm>
        </p:spPr>
        <p:txBody>
          <a:bodyPr/>
          <a:lstStyle/>
          <a:p>
            <a:r>
              <a:rPr lang="e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Måter å reise Etiske Spørsmål på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9013-400C-6980-556C-A4F4DA117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2060848"/>
            <a:ext cx="8953085" cy="4195481"/>
          </a:xfrm>
        </p:spPr>
        <p:txBody>
          <a:bodyPr>
            <a:normAutofit lnSpcReduction="10000"/>
          </a:bodyPr>
          <a:lstStyle/>
          <a:p>
            <a:endParaRPr lang="en-NO" dirty="0"/>
          </a:p>
          <a:p>
            <a:r>
              <a:rPr lang="en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Anvendt Etiske Spørsmål</a:t>
            </a:r>
          </a:p>
          <a:p>
            <a:endParaRPr lang="en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Metaetiske spørsmål</a:t>
            </a:r>
          </a:p>
          <a:p>
            <a:endParaRPr lang="en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Forholdet mellom dem</a:t>
            </a:r>
          </a:p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4159134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E6760-6DC9-EB43-83AC-443B2E0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33" y="961218"/>
            <a:ext cx="10225136" cy="1243646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 </a:t>
            </a:r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etiske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handlingens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konstitusjon</a:t>
            </a:r>
            <a:endParaRPr lang="en-US" sz="3200" b="1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95F76-C26B-A140-93E4-F5E7294E8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844824"/>
            <a:ext cx="11233248" cy="4752528"/>
          </a:xfrm>
        </p:spPr>
        <p:txBody>
          <a:bodyPr>
            <a:noAutofit/>
          </a:bodyPr>
          <a:lstStyle/>
          <a:p>
            <a:pPr>
              <a:buSzPct val="100000"/>
              <a:buFont typeface="Arial" panose="020B0604020202020204" pitchFamily="34" charset="0"/>
              <a:buChar char="•"/>
            </a:pPr>
            <a:endParaRPr lang="nb-NO" sz="2500" dirty="0"/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nb-NO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nb-NO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nb-NO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Aktør (motivasjon)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nb-NO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nb-NO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Konsekvenser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17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75ED-3CC9-5B46-8D50-8DBAD2CD8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412776"/>
            <a:ext cx="10585176" cy="883606"/>
          </a:xfrm>
        </p:spPr>
        <p:txBody>
          <a:bodyPr/>
          <a:lstStyle/>
          <a:p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Dydsetikkens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sentrale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begreper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5233-648E-A448-BD61-D3BC500E2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3245015"/>
            <a:ext cx="8953085" cy="4400418"/>
          </a:xfrm>
        </p:spPr>
        <p:txBody>
          <a:bodyPr>
            <a:normAutofit/>
          </a:bodyPr>
          <a:lstStyle/>
          <a:p>
            <a:pPr marL="857250" lvl="1" indent="-457200">
              <a:buFont typeface="+mj-lt"/>
              <a:buAutoNum type="arabicPeriod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</a:p>
          <a:p>
            <a:pPr marL="857250" lvl="1" indent="-457200">
              <a:buFont typeface="+mj-lt"/>
              <a:buAutoNum type="arabicPeriod"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</a:p>
        </p:txBody>
      </p:sp>
    </p:spTree>
    <p:extLst>
      <p:ext uri="{BB962C8B-B14F-4D97-AF65-F5344CB8AC3E}">
        <p14:creationId xmlns:p14="http://schemas.microsoft.com/office/powerpoint/2010/main" val="3844098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0" y="673186"/>
            <a:ext cx="10368000" cy="864000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Temaer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begreper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0" y="1988840"/>
            <a:ext cx="10512000" cy="348529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menneskeliv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riktig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gjøre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hvordan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finner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 det?</a:t>
            </a:r>
            <a:endParaRPr lang="nb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Sentrale begreper: dydsetikk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Aristoteles om lykke og menneskenaturen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Aristoteles om dyd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Mål (gresk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τέλος, </a:t>
            </a:r>
            <a:r>
              <a:rPr 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telos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nb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nb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386771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3" y="690563"/>
            <a:ext cx="8894200" cy="6731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91344" y="1772816"/>
            <a:ext cx="11628000" cy="4896000"/>
          </a:xfrm>
        </p:spPr>
        <p:txBody>
          <a:bodyPr rtlCol="0">
            <a:no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Funksjon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og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funksjonsargumentet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365760" lvl="1" indent="0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			</a:t>
            </a:r>
            <a:r>
              <a:rPr lang="en-US" sz="24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Substans</a:t>
            </a:r>
            <a:r>
              <a:rPr lang="en-US" sz="24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: Form </a:t>
            </a:r>
            <a:r>
              <a:rPr lang="en-US" sz="24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og</a:t>
            </a:r>
            <a:r>
              <a:rPr lang="en-US" sz="24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Materie</a:t>
            </a:r>
            <a:endParaRPr lang="en-US" sz="2400" dirty="0"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  <a:p>
            <a:pPr marL="365760" lvl="1" indent="0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			</a:t>
            </a:r>
            <a:r>
              <a:rPr lang="en-US" sz="24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Menneskets</a:t>
            </a:r>
            <a:r>
              <a:rPr lang="en-US" sz="24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funksjon</a:t>
            </a:r>
            <a:endParaRPr lang="en-US" sz="2400" dirty="0"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  <a:p>
            <a:pPr marL="365760" lvl="1" indent="0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			</a:t>
            </a:r>
            <a:r>
              <a:rPr lang="nb-NO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Mennesket: «et fornuftig dyr»</a:t>
            </a:r>
            <a:endParaRPr lang="en-US" sz="2400" dirty="0"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Det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gode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mennesket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: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nb-NO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sjelens virksomhet (med fornuft) i henhold til dyd</a:t>
            </a:r>
            <a:r>
              <a:rPr lang="ja-JP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(1098a15)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Dyd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nytelse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smarte</a:t>
            </a:r>
            <a:endParaRPr 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Wingdings" charset="0"/>
            </a:endParaRPr>
          </a:p>
          <a:p>
            <a:pPr marL="0" indent="0">
              <a:buNone/>
              <a:defRPr/>
            </a:pP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Sjelens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virksomhet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henhold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til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dyd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(1098a15), der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dyd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er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å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være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fremragende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I det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som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er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vår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funksjon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sjelens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virksomhet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henhold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til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fornuft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charset="0"/>
              </a:rPr>
              <a:t> (1098a7)</a:t>
            </a:r>
          </a:p>
          <a:p>
            <a:pPr marL="0" indent="0">
              <a:buNone/>
              <a:defRPr/>
            </a:pPr>
            <a:endParaRPr 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Wingdings" charset="0"/>
            </a:endParaRPr>
          </a:p>
          <a:p>
            <a:pPr marL="0" indent="0" eaLnBrk="1" hangingPunct="1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</a:p>
          <a:p>
            <a:pPr marL="640080" lvl="1" indent="-274320">
              <a:buFont typeface="Wingdings 2" pitchFamily="18" charset="2"/>
              <a:buChar char=""/>
              <a:defRPr/>
            </a:pPr>
            <a:endParaRPr lang="en-US" sz="2400" dirty="0"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  <a:p>
            <a:pPr marL="640080" lvl="1" indent="-274320">
              <a:buNone/>
              <a:defRPr/>
            </a:pPr>
            <a:endParaRPr lang="en-US" sz="2400" dirty="0">
              <a:latin typeface="+mn-lt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274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F872-031D-4748-BDB9-6498B933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620688"/>
            <a:ext cx="9410285" cy="1243646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7EB15-9F65-F741-AF30-5C09449F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800"/>
            <a:ext cx="9936000" cy="4860000"/>
          </a:xfrm>
        </p:spPr>
        <p:txBody>
          <a:bodyPr>
            <a:noAutofit/>
          </a:bodyPr>
          <a:lstStyle/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r>
              <a:rPr lang="el-GR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ἀρετή</a:t>
            </a:r>
            <a:r>
              <a:rPr lang="nb-NO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nb-NO" sz="2800" i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arete</a:t>
            </a:r>
            <a:r>
              <a:rPr lang="nb-NO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(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dygd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fremragendhet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karaktertrekk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eller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holdning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avjørende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handling</a:t>
            </a:r>
          </a:p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bare 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når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 er manifest 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handling.</a:t>
            </a:r>
          </a:p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kognitive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affektive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komponenter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utvikles gjennom utdanning og tilvenning</a:t>
            </a:r>
          </a:p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endParaRPr lang="en-US" sz="2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endParaRPr lang="en-US" sz="2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endParaRPr lang="en-US" sz="2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457200">
              <a:buSzPct val="100000"/>
              <a:buFont typeface="Arial" panose="020B0604020202020204" pitchFamily="34" charset="0"/>
              <a:buChar char="•"/>
            </a:pPr>
            <a:endParaRPr lang="en-US" sz="2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700" dirty="0">
              <a:latin typeface="Century Gothic" charset="0"/>
              <a:cs typeface="GR Oxford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388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C854-A99B-8543-BA6A-6C47C26F0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AB0FE-7FD2-D046-A64C-BB981301A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556792"/>
            <a:ext cx="10297144" cy="4691607"/>
          </a:xfrm>
        </p:spPr>
        <p:txBody>
          <a:bodyPr>
            <a:normAutofit/>
          </a:bodyPr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l-G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εὐδαιμονία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nb-NO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eudaimonia</a:t>
            </a:r>
            <a:r>
              <a:rPr lang="nb-NO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 “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utfoldelse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engelsk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“flourishing”)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Egenverdi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instrumentell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Verdi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Angår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individuelle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helhet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menneske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Forholdet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mellom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nytelse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avjørende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en-US" sz="3000" dirty="0">
              <a:latin typeface="Century Gothic" charset="0"/>
              <a:cs typeface="GR Oxford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8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04B4-6A06-D548-88D8-2E84FA2F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980728"/>
            <a:ext cx="10080000" cy="828000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riktig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F5852-56E6-2D4B-87CF-EF7027EEE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64904"/>
            <a:ext cx="12072664" cy="2664296"/>
          </a:xfrm>
        </p:spPr>
        <p:txBody>
          <a:bodyPr>
            <a:noAutofit/>
          </a:bodyPr>
          <a:lstStyle/>
          <a:p>
            <a:pPr marL="971550" lvl="1" indent="-514350">
              <a:buSzPct val="100000"/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nødvendig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betingelse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Er den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også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tilstrekkelig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Rett handling: den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dydige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gjør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dydige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gjør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Problem?</a:t>
            </a:r>
          </a:p>
          <a:p>
            <a:pPr marL="971550" lvl="1" indent="-514350">
              <a:buSzPct val="100000"/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SzPct val="100000"/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55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5ACC3A2-92FB-664F-8109-F4E50295C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Dydige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(II.4)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FF6FE5D-A09E-9645-B1E3-E355909FB6D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7408" y="1930463"/>
            <a:ext cx="10081119" cy="4254351"/>
          </a:xfrm>
        </p:spPr>
        <p:txBody>
          <a:bodyPr>
            <a:noAutofit/>
          </a:bodyPr>
          <a:lstStyle/>
          <a:p>
            <a:pPr marL="609600" indent="-609600">
              <a:buNone/>
            </a:pP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at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skal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kunne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sies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være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dydig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må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aktøren</a:t>
            </a:r>
            <a:endParaRPr lang="en-US" alt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endParaRPr lang="en-US" alt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Font typeface="Georgia" panose="02040502050405020303" pitchFamily="18" charset="0"/>
              <a:buAutoNum type="arabicPeriod"/>
            </a:pPr>
            <a:r>
              <a:rPr lang="en-US" altLang="nb-NO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nb-NO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US" altLang="nb-NO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handlingen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dydig</a:t>
            </a:r>
            <a:endParaRPr lang="en-US" alt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Font typeface="Georgia" panose="02040502050405020303" pitchFamily="18" charset="0"/>
              <a:buAutoNum type="arabicPeriod"/>
            </a:pP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nb-NO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velge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handlingen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nb-NO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 </a:t>
            </a:r>
            <a:r>
              <a:rPr lang="en-US" altLang="nb-NO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egen</a:t>
            </a:r>
            <a:r>
              <a:rPr lang="en-US" altLang="nb-NO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skyld</a:t>
            </a:r>
            <a:endParaRPr lang="en-US" altLang="nb-NO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Font typeface="Georgia" panose="02040502050405020303" pitchFamily="18" charset="0"/>
              <a:buAutoNum type="arabicPeriod"/>
            </a:pP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nb-NO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gjøre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ikke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omskiftelig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tilstand</a:t>
            </a:r>
            <a:endParaRPr lang="en-US" altLang="nb-NO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14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52CCA6E-9E93-864D-9557-9AA182FF4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1" y="745194"/>
            <a:ext cx="9410285" cy="883606"/>
          </a:xfrm>
        </p:spPr>
        <p:txBody>
          <a:bodyPr/>
          <a:lstStyle/>
          <a:p>
            <a:pPr eaLnBrk="1" hangingPunct="1"/>
            <a:r>
              <a:rPr lang="en-US" altLang="nb-NO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Hvordan</a:t>
            </a:r>
            <a:r>
              <a:rPr lang="en-US" altLang="nb-NO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blir</a:t>
            </a:r>
            <a:r>
              <a:rPr lang="en-US" altLang="nb-NO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dydig</a:t>
            </a:r>
            <a:r>
              <a:rPr lang="en-US" altLang="nb-NO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A65B67B-D36D-8A41-BF1C-9ECEACFCCCC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7408" y="1628800"/>
            <a:ext cx="10513168" cy="47720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FontTx/>
              <a:buAutoNum type="arabicPeriod"/>
              <a:defRPr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Tilvenning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II.1-3)</a:t>
            </a:r>
          </a:p>
          <a:p>
            <a:pPr marL="884238" lvl="1" indent="-609600">
              <a:buFont typeface="Arial"/>
              <a:buChar char="•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“Vi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rettferdige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utføre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rettferdige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</a:p>
          <a:p>
            <a:pPr marL="884238" lvl="1" indent="-609600">
              <a:buFont typeface="Arial"/>
              <a:buChar char="•"/>
              <a:defRPr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Oppdragelse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øving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FontTx/>
              <a:buAutoNum type="arabicPeriod"/>
              <a:defRPr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Moralske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forbilder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4238" lvl="1" indent="-609600">
              <a:buFont typeface="Arial"/>
              <a:buChar char="•"/>
              <a:defRPr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rollemodeller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1838" lvl="1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fronimos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–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praktisk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visdom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klokskap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FontTx/>
              <a:buAutoNum type="arabicPeriod"/>
              <a:defRPr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middelveien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(II.2, 9)</a:t>
            </a:r>
          </a:p>
          <a:p>
            <a:pPr marL="274638" lvl="1" indent="0">
              <a:buNone/>
              <a:defRPr/>
            </a:pPr>
            <a:endParaRPr lang="en-US" sz="2800" dirty="0"/>
          </a:p>
          <a:p>
            <a:pPr marL="884238" lvl="1" indent="-609600">
              <a:buFontTx/>
              <a:buAutoNum type="arabicPeriod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0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57E0A5C-F424-064F-9045-2202A6DD1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1" y="673186"/>
            <a:ext cx="9410285" cy="883606"/>
          </a:xfrm>
        </p:spPr>
        <p:txBody>
          <a:bodyPr/>
          <a:lstStyle/>
          <a:p>
            <a:pPr eaLnBrk="1" hangingPunct="1"/>
            <a:r>
              <a:rPr lang="en-US" altLang="nb-NO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Middelveien</a:t>
            </a:r>
            <a:r>
              <a:rPr lang="en-US" altLang="nb-NO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(II.6) </a:t>
            </a:r>
          </a:p>
        </p:txBody>
      </p:sp>
      <p:sp>
        <p:nvSpPr>
          <p:cNvPr id="5142" name="Text Box 22">
            <a:extLst>
              <a:ext uri="{FF2B5EF4-FFF2-40B4-BE49-F238E27FC236}">
                <a16:creationId xmlns:a16="http://schemas.microsoft.com/office/drawing/2014/main" id="{5F14BED7-5E15-9049-8B5B-D2173A3E3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2708920"/>
            <a:ext cx="1087320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/>
              <a:buChar char="•"/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“…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føle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disse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ting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når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bør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riktige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situasjoner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overfor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mennesker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 de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riktige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beveggrunner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slik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bør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det er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både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midten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best,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 er nettop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dette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(1106b20 - )	</a:t>
            </a:r>
          </a:p>
          <a:p>
            <a:pPr marL="342900" indent="-342900">
              <a:spcBef>
                <a:spcPct val="50000"/>
              </a:spcBef>
              <a:buFont typeface="Arial"/>
              <a:buChar char="•"/>
              <a:defRPr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50000"/>
              </a:spcBef>
              <a:buFont typeface="Arial"/>
              <a:buChar char="•"/>
              <a:defRPr/>
            </a:pP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middelvei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mellom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laster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skyldes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mye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andre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skyldes</a:t>
            </a:r>
            <a:r>
              <a:rPr lang="en-US" alt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lite </a:t>
            </a:r>
          </a:p>
          <a:p>
            <a:pPr marL="342900" indent="-342900">
              <a:spcBef>
                <a:spcPct val="50000"/>
              </a:spcBef>
              <a:buFont typeface="Arial"/>
              <a:buChar char="•"/>
              <a:defRPr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85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383426E-D2D1-834C-9800-295E6D232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1" y="673186"/>
            <a:ext cx="9410285" cy="883606"/>
          </a:xfrm>
        </p:spPr>
        <p:txBody>
          <a:bodyPr/>
          <a:lstStyle/>
          <a:p>
            <a:r>
              <a:rPr lang="en-US" altLang="nb-NO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(II.6) </a:t>
            </a:r>
            <a:r>
              <a:rPr lang="en-US" altLang="nb-NO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</a:t>
            </a:r>
            <a:r>
              <a:rPr lang="en-US" altLang="nb-NO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:</a:t>
            </a:r>
            <a:br>
              <a:rPr lang="en-US" altLang="nb-NO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nb-NO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9300865-4266-A545-9007-5A04DBBAFF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51384" y="1527176"/>
            <a:ext cx="10729192" cy="4998168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endParaRPr lang="en-US" altLang="nb-NO" dirty="0"/>
          </a:p>
          <a:p>
            <a:pPr marL="914400" lvl="1" indent="-514350">
              <a:buFont typeface="+mj-lt"/>
              <a:buAutoNum type="arabicPeriod"/>
            </a:pP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holdning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tilstand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med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våre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beslutninger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valg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gjøre</a:t>
            </a:r>
            <a:endParaRPr lang="en-US" alt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holder seg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middelveien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forhold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bestemt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fornuften</a:t>
            </a:r>
            <a:endParaRPr lang="en-US" alt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kloke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ville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bestemme</a:t>
            </a:r>
            <a:r>
              <a:rPr lang="en-US" alt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 </a:t>
            </a:r>
          </a:p>
        </p:txBody>
      </p:sp>
    </p:spTree>
    <p:extLst>
      <p:ext uri="{BB962C8B-B14F-4D97-AF65-F5344CB8AC3E}">
        <p14:creationId xmlns:p14="http://schemas.microsoft.com/office/powerpoint/2010/main" val="296917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34291</TotalTime>
  <Words>614</Words>
  <Application>Microsoft Office PowerPoint</Application>
  <PresentationFormat>Widescreen</PresentationFormat>
  <Paragraphs>109</Paragraphs>
  <Slides>14</Slides>
  <Notes>7</Notes>
  <HiddenSlides>0</HiddenSlides>
  <MMClips>0</MMClips>
  <ScaleCrop>false</ScaleCrop>
  <HeadingPairs>
    <vt:vector size="6" baseType="variant">
      <vt:variant>
        <vt:lpstr>Brukte skrifter</vt:lpstr>
      </vt:variant>
      <vt:variant>
        <vt:i4>7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22" baseType="lpstr">
      <vt:lpstr>Arial</vt:lpstr>
      <vt:lpstr>Calibri</vt:lpstr>
      <vt:lpstr>Century Gothic</vt:lpstr>
      <vt:lpstr>Georgia</vt:lpstr>
      <vt:lpstr>Times New Roman</vt:lpstr>
      <vt:lpstr>Wingdings 2</vt:lpstr>
      <vt:lpstr>Wingdings 3</vt:lpstr>
      <vt:lpstr>Ion</vt:lpstr>
      <vt:lpstr>Etiske spørsmål, moralske spørsmål</vt:lpstr>
      <vt:lpstr>Empiriske spørsmål   Hva er saken?    Dvs. spørsmål om fakta      Svarene på disse spørsmål er sanne eller usanne</vt:lpstr>
      <vt:lpstr>To Måter å reise Etiske Spørsmål på</vt:lpstr>
      <vt:lpstr>Den etiske handlingens konstitusjon</vt:lpstr>
      <vt:lpstr>Dydsetikkens sentrale begreper:</vt:lpstr>
      <vt:lpstr>Temaer og begreper som tas opp</vt:lpstr>
      <vt:lpstr>Lykke </vt:lpstr>
      <vt:lpstr>Dyd </vt:lpstr>
      <vt:lpstr>Lykke</vt:lpstr>
      <vt:lpstr>Dyd og riktig handling</vt:lpstr>
      <vt:lpstr>Dydige handlinger (II.4) </vt:lpstr>
      <vt:lpstr>Hvordan blir dydig?</vt:lpstr>
      <vt:lpstr>Middelveien, (II.6) </vt:lpstr>
      <vt:lpstr>(II.6) Dyd er : </vt:lpstr>
    </vt:vector>
  </TitlesOfParts>
  <Company>N&amp;N NHS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Dr R Temple</dc:creator>
  <cp:lastModifiedBy>Panagiotis Dimas</cp:lastModifiedBy>
  <cp:revision>511</cp:revision>
  <cp:lastPrinted>2022-03-01T12:09:55Z</cp:lastPrinted>
  <dcterms:created xsi:type="dcterms:W3CDTF">2006-10-17T12:53:18Z</dcterms:created>
  <dcterms:modified xsi:type="dcterms:W3CDTF">2024-10-08T07:45:38Z</dcterms:modified>
</cp:coreProperties>
</file>