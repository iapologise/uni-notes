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9" r:id="rId1"/>
  </p:sldMasterIdLst>
  <p:notesMasterIdLst>
    <p:notesMasterId r:id="rId19"/>
  </p:notesMasterIdLst>
  <p:handoutMasterIdLst>
    <p:handoutMasterId r:id="rId20"/>
  </p:handoutMasterIdLst>
  <p:sldIdLst>
    <p:sldId id="302" r:id="rId2"/>
    <p:sldId id="338" r:id="rId3"/>
    <p:sldId id="339" r:id="rId4"/>
    <p:sldId id="340" r:id="rId5"/>
    <p:sldId id="341" r:id="rId6"/>
    <p:sldId id="315" r:id="rId7"/>
    <p:sldId id="316" r:id="rId8"/>
    <p:sldId id="317" r:id="rId9"/>
    <p:sldId id="320" r:id="rId10"/>
    <p:sldId id="304" r:id="rId11"/>
    <p:sldId id="332" r:id="rId12"/>
    <p:sldId id="329" r:id="rId13"/>
    <p:sldId id="334" r:id="rId14"/>
    <p:sldId id="337" r:id="rId15"/>
    <p:sldId id="330" r:id="rId16"/>
    <p:sldId id="335" r:id="rId17"/>
    <p:sldId id="336" r:id="rId18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244"/>
    <a:srgbClr val="4C678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608" autoAdjust="0"/>
    <p:restoredTop sz="86420" autoAdjust="0"/>
  </p:normalViewPr>
  <p:slideViewPr>
    <p:cSldViewPr>
      <p:cViewPr varScale="1">
        <p:scale>
          <a:sx n="79" d="100"/>
          <a:sy n="79" d="100"/>
        </p:scale>
        <p:origin x="126" y="8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13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C9896D9-8050-44D7-A40D-6920AE2D1A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610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6125"/>
            <a:ext cx="6615112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133" y="4718214"/>
            <a:ext cx="5436235" cy="44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3A95D4-52CF-4036-984D-AF42B1BE1A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7905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273149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ed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59722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597229" cy="861420"/>
          </a:xfrm>
        </p:spPr>
        <p:txBody>
          <a:bodyPr anchor="t"/>
          <a:lstStyle>
            <a:lvl1pPr marL="0" indent="0" algn="l">
              <a:buNone/>
              <a:defRPr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3985" y="5985181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1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ten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73186"/>
            <a:ext cx="9410285" cy="124364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53085" cy="419548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24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42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tekstboks med under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6C04064-582F-4194-A0D4-8D33390F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68" y="161944"/>
            <a:ext cx="11431664" cy="75406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noProof="0"/>
              <a:t>Click to edit Master title style</a:t>
            </a:r>
            <a:endParaRPr lang="nb-NO" noProof="0" dirty="0"/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A3A431AF-BD4A-47F9-9ACD-109F83F1426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80168" y="1003335"/>
            <a:ext cx="11431664" cy="494749"/>
          </a:xfrm>
        </p:spPr>
        <p:txBody>
          <a:bodyPr anchor="t"/>
          <a:lstStyle>
            <a:lvl1pPr marL="0" indent="0" algn="l">
              <a:buNone/>
              <a:defRPr sz="18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87AD4FF-2A17-41D2-9989-72E3EE53EDB7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380169" y="1704042"/>
            <a:ext cx="11431663" cy="43545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207EF-1A49-4BEC-B35C-772E1E2EFECD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34CF4-4951-4824-A36D-2B6BAEF472C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r>
              <a:rPr lang="en-US"/>
              <a:t>Side </a:t>
            </a:r>
            <a:fld id="{5251F420-7306-4E7C-A79E-F31A38F7D3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3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10" Type="http://schemas.openxmlformats.org/officeDocument/2006/relationships/image" Target="../media/image6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  <a:lumOff val="15000"/>
              </a:schemeClr>
            </a:gs>
            <a:gs pos="99000">
              <a:srgbClr val="24324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668412"/>
            <a:ext cx="9404723" cy="11848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67162" y="6448069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3312" y="64388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218199" y="5961676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40C8-6429-7646-927E-CC7F2066F152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F08E80-5C34-AF4F-8321-C38D28B83B4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44" y="71385"/>
            <a:ext cx="6765430" cy="53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10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3" r:id="rId3"/>
    <p:sldLayoutId id="2147483744" r:id="rId4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5C21-8B44-9D49-869A-789996A6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liv, 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moralens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objektiv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itet</a:t>
            </a:r>
            <a:br>
              <a:rPr lang="nb-NO" b="1" dirty="0"/>
            </a:b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1840-DA3B-6A44-BAEE-F8BB2428F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nb-NO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Foots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av eutanasi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Vellemans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diskusjon av livets verdi og eutanasi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Moralsk realisme og antirealisme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Streets argument for antirealisme</a:t>
            </a:r>
          </a:p>
        </p:txBody>
      </p:sp>
    </p:spTree>
    <p:extLst>
      <p:ext uri="{BB962C8B-B14F-4D97-AF65-F5344CB8AC3E}">
        <p14:creationId xmlns:p14="http://schemas.microsoft.com/office/powerpoint/2010/main" val="43086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A3B3-2CF6-C349-B8A2-168F7C7D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251" y="889210"/>
            <a:ext cx="9410285" cy="1243646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Eutanasi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DDE4B-C4EB-344C-A9A2-A13646850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9" y="2193777"/>
            <a:ext cx="8640960" cy="4619599"/>
          </a:xfrm>
        </p:spPr>
        <p:txBody>
          <a:bodyPr>
            <a:normAutofit/>
          </a:bodyPr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Philippa Foot,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britisk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filosof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(1920-2010)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SzPct val="100000"/>
              <a:buFont typeface="Arial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Gresk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εὖ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‘god’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θάν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τος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pPr>
              <a:buSzPct val="100000"/>
              <a:buFont typeface="Arial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Døden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forstås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“et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>
              <a:buSzPct val="100000"/>
              <a:buFont typeface="Arial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Frembringe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dør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skyld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 det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være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moralsk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akseptabelt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slik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87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F06E-E5AF-E143-BB4E-FEE80265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496" y="908720"/>
            <a:ext cx="9410285" cy="720080"/>
          </a:xfrm>
        </p:spPr>
        <p:txBody>
          <a:bodyPr/>
          <a:lstStyle/>
          <a:p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Typer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eutanasi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236A-C4D2-024B-A86A-5FB81639A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4" y="1737245"/>
            <a:ext cx="10249272" cy="2088232"/>
          </a:xfrm>
        </p:spPr>
        <p:txBody>
          <a:bodyPr>
            <a:normAutofit/>
          </a:bodyPr>
          <a:lstStyle/>
          <a:p>
            <a:pPr>
              <a:buSzPct val="100000"/>
              <a:buFont typeface="Arial"/>
              <a:buChar char="•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der vi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gjør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døden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inntreffe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100000"/>
              <a:buFont typeface="Arial"/>
              <a:buChar char="•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Passiv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 vi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gjør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dermed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</a:pPr>
            <a:endParaRPr lang="en-US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12236A-C4D2-024B-A86A-5FB81639A1A7}"/>
              </a:ext>
            </a:extLst>
          </p:cNvPr>
          <p:cNvSpPr txBox="1">
            <a:spLocks/>
          </p:cNvSpPr>
          <p:nvPr/>
        </p:nvSpPr>
        <p:spPr>
          <a:xfrm>
            <a:off x="1199456" y="3933056"/>
            <a:ext cx="10249272" cy="2088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SzPct val="100000"/>
              <a:buFont typeface="Arial"/>
              <a:buChar char="•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Frivillig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Ufrivillig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</a:pPr>
            <a:endParaRPr lang="en-US" sz="2800" dirty="0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3392" y="3789040"/>
            <a:ext cx="110892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95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73186"/>
            <a:ext cx="9410285" cy="667582"/>
          </a:xfrm>
        </p:spPr>
        <p:txBody>
          <a:bodyPr/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Eutanasi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barmhjertighet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380" y="1315597"/>
            <a:ext cx="11161240" cy="5328591"/>
          </a:xfrm>
        </p:spPr>
        <p:txBody>
          <a:bodyPr>
            <a:normAutofit/>
          </a:bodyPr>
          <a:lstStyle/>
          <a:p>
            <a:pPr>
              <a:buSzPct val="100000"/>
              <a:buFont typeface="Arial"/>
              <a:buChar char="•"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Siden </a:t>
            </a: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Foot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definerer eutanasi som for den døende persons gode og siden barmhjertighet er en dyd som fremmer det gode for andre, så kan barmhjertighet tale i eutanasis favør</a:t>
            </a:r>
            <a:endParaRPr lang="nb-NO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endParaRPr lang="nb-NO" sz="2800" dirty="0">
              <a:latin typeface="+mn-lt"/>
            </a:endParaRPr>
          </a:p>
          <a:p>
            <a:pPr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Frivillig eutanasi er mer komplisert:</a:t>
            </a:r>
          </a:p>
          <a:p>
            <a:pPr lvl="1"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kan «for hans egen skyld» motsette (oss) hans ønske om å dø, akkurat som (vi) ville kunne det hvis det var snakk om selvmord” (336)</a:t>
            </a:r>
          </a:p>
          <a:p>
            <a:pPr lvl="1"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Kan hende vi vil av barmhjertighet ikke la ham velge selv, fordi vi mener vedkommende er ikke i stand til å velge.</a:t>
            </a:r>
          </a:p>
        </p:txBody>
      </p:sp>
    </p:spTree>
    <p:extLst>
      <p:ext uri="{BB962C8B-B14F-4D97-AF65-F5344CB8AC3E}">
        <p14:creationId xmlns:p14="http://schemas.microsoft.com/office/powerpoint/2010/main" val="281773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73186"/>
            <a:ext cx="9410285" cy="667582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Eutanasi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rettferdighet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retten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1916832"/>
            <a:ext cx="11784632" cy="4392488"/>
          </a:xfrm>
        </p:spPr>
        <p:txBody>
          <a:bodyPr>
            <a:normAutofit/>
          </a:bodyPr>
          <a:lstStyle/>
          <a:p>
            <a:pPr>
              <a:buSzPct val="100000"/>
              <a:buFont typeface="Arial"/>
              <a:buChar char="•"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Rettferdighet krever at vi respekterer retten til liv</a:t>
            </a:r>
          </a:p>
          <a:p>
            <a:pPr lvl="1"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alle innebærer dette en plikt til ikke å skade</a:t>
            </a:r>
          </a:p>
          <a:p>
            <a:pPr lvl="1"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noen som er kontraktsmessig forpliktet (leger), innebærer det en plikt til å forlenge livet</a:t>
            </a:r>
          </a:p>
          <a:p>
            <a:pPr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Når noen vil dø (frivillig eutanasi), er det ikke snakk om et rettighetsbrudd å enten aktivt eller passivt la et menneske dø.</a:t>
            </a:r>
          </a:p>
          <a:p>
            <a:pPr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 kan hende barmhjertighet tilsier å ikke la et menneske dø.</a:t>
            </a:r>
          </a:p>
          <a:p>
            <a:pPr>
              <a:buSzPct val="100000"/>
              <a:buFont typeface="Arial"/>
              <a:buChar char="•"/>
            </a:pPr>
            <a:endParaRPr lang="nb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7337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/>
          </p:cNvSpPr>
          <p:nvPr>
            <p:ph idx="1"/>
          </p:nvPr>
        </p:nvSpPr>
        <p:spPr>
          <a:xfrm>
            <a:off x="609599" y="1951038"/>
            <a:ext cx="9823613" cy="443029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David Velleman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sentrale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spørsmålet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 “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dø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 …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oppfatninger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hvorfor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verdifullt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hvor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dets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verdi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ligger” (374)?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8375ED-3CC9-5B46-8D50-8DBAD2CD81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125" y="745268"/>
            <a:ext cx="9793088" cy="88360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rett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til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å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avslutte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sitt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eget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liv?</a:t>
            </a:r>
          </a:p>
        </p:txBody>
      </p:sp>
    </p:spTree>
    <p:extLst>
      <p:ext uri="{BB962C8B-B14F-4D97-AF65-F5344CB8AC3E}">
        <p14:creationId xmlns:p14="http://schemas.microsoft.com/office/powerpoint/2010/main" val="182755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/>
          </p:cNvSpPr>
          <p:nvPr>
            <p:ph idx="1"/>
          </p:nvPr>
        </p:nvSpPr>
        <p:spPr>
          <a:xfrm>
            <a:off x="609600" y="1720318"/>
            <a:ext cx="10742984" cy="4906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prinsipper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Velleman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diskuterer (374):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person har rett til å gjøre sitt eget liv kortere for å gjøre det bedre – det vil si, å gjøre det kortere hvis å gjøre det er et nødvendig middel til eller nødvendig konsekvens av å gjøre det til et bedre liv som helhet for henne/ham 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 er en presumpsjon til fordel for å overlate bedømmelsen av temaet «eget beste» til personen selv. </a:t>
            </a: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Sammen innebærer disse at en person har rett til å leve og dø i henhold til sine egne overbevisninger om hvilket liv som vil være bedre for ham. </a:t>
            </a:r>
            <a:endParaRPr lang="nb-NO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8375ED-3CC9-5B46-8D50-8DBAD2CD81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836712"/>
            <a:ext cx="9793088" cy="88360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rett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til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å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avslutte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sitt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eget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liv?</a:t>
            </a:r>
          </a:p>
        </p:txBody>
      </p:sp>
    </p:spTree>
    <p:extLst>
      <p:ext uri="{BB962C8B-B14F-4D97-AF65-F5344CB8AC3E}">
        <p14:creationId xmlns:p14="http://schemas.microsoft.com/office/powerpoint/2010/main" val="157110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/>
          </p:cNvSpPr>
          <p:nvPr>
            <p:ph idx="1"/>
          </p:nvPr>
        </p:nvSpPr>
        <p:spPr>
          <a:xfrm>
            <a:off x="335360" y="1556792"/>
            <a:ext cx="10742984" cy="4906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Velleman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mener vi bør avvise det første, men beholde det andre, prinsippet.</a:t>
            </a:r>
          </a:p>
          <a:p>
            <a:pPr marL="0" indent="0">
              <a:buNone/>
            </a:pPr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Retten til å dø er i konflikt med verdier som er </a:t>
            </a:r>
            <a:r>
              <a:rPr lang="nb-NO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ikke-relative</a:t>
            </a: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ikke-relative verdiene angår personers iboende verdighet</a:t>
            </a:r>
          </a:p>
          <a:p>
            <a:pPr marL="0" indent="0">
              <a:buNone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Velleman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argumenterer for disse verdiene ved å analysere hva som er godt for personer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8375ED-3CC9-5B46-8D50-8DBAD2CD81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59496" y="836712"/>
            <a:ext cx="9793088" cy="88360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rett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til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å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avslutte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sitt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eget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liv?</a:t>
            </a:r>
          </a:p>
        </p:txBody>
      </p:sp>
    </p:spTree>
    <p:extLst>
      <p:ext uri="{BB962C8B-B14F-4D97-AF65-F5344CB8AC3E}">
        <p14:creationId xmlns:p14="http://schemas.microsoft.com/office/powerpoint/2010/main" val="3605840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/>
          </p:cNvSpPr>
          <p:nvPr>
            <p:ph idx="1"/>
          </p:nvPr>
        </p:nvSpPr>
        <p:spPr>
          <a:xfrm>
            <a:off x="609600" y="1628800"/>
            <a:ext cx="11247040" cy="5050978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b-NO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 som er galt med prinsipp 1 er ikke at det tillater selvmord, men den </a:t>
            </a:r>
            <a:r>
              <a:rPr lang="nb-NO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grunnen</a:t>
            </a:r>
            <a:r>
              <a:rPr lang="nb-NO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til at det tillates: for å oppnå fordeler og unngå skader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b-NO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Selvmord begått av slike grunner undervurderer personens verdighet, fordi en persons liv betraktes som et interesse-relativt gode, eller som Kant ville ha sagt, kun som et middel.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(Dette lar det være rom for at en persons verdighet kanskje kan forsvare selvmord under andre omstendigheter eller andre grunner.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 når en person ikke kan opprettholde både liv og verdighet, for eksempel fordi ekstrem smerte gjør at hun ikke lenger kan være en aktør.)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8375ED-3CC9-5B46-8D50-8DBAD2CD81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99456" y="620688"/>
            <a:ext cx="9793088" cy="88360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rett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til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å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avslutte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sitt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eget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liv?</a:t>
            </a:r>
          </a:p>
        </p:txBody>
      </p:sp>
    </p:spTree>
    <p:extLst>
      <p:ext uri="{BB962C8B-B14F-4D97-AF65-F5344CB8AC3E}">
        <p14:creationId xmlns:p14="http://schemas.microsoft.com/office/powerpoint/2010/main" val="250136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1133-2D61-7848-92DA-E48E5FF4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Metaetikk</a:t>
            </a:r>
            <a:endParaRPr lang="nb-NO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46DA93-6AA3-5C44-9CF6-45D096C666EF}"/>
              </a:ext>
            </a:extLst>
          </p:cNvPr>
          <p:cNvSpPr/>
          <p:nvPr/>
        </p:nvSpPr>
        <p:spPr>
          <a:xfrm>
            <a:off x="646111" y="1902797"/>
            <a:ext cx="80656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«Normativ etikk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Hvilke type handlinger som er rette eller gale?</a:t>
            </a:r>
          </a:p>
          <a:p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Hva det er som </a:t>
            </a:r>
            <a:r>
              <a:rPr lang="nb-NO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gjør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handlinger rette eller gale?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83676-E833-4540-A243-0D9D09F40CB4}"/>
              </a:ext>
            </a:extLst>
          </p:cNvPr>
          <p:cNvSpPr txBox="1"/>
          <p:nvPr/>
        </p:nvSpPr>
        <p:spPr>
          <a:xfrm>
            <a:off x="263352" y="3804429"/>
            <a:ext cx="11665296" cy="272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Metaetikk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handler om grunnleggende spørsmål om 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moralens «natur»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Metaetikke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prøver å gi en 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filosofisk beskrivelse 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 hva slags ting eller fenomen 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moralen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b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Metaetikken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gir filosofisk beskrivelse av: 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Moralsk språk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moralsk tenking, moralsk psykologi, moralske egenskaper og fakta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1424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57988126-03C6-476B-BB30-5C5350182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7" y="423081"/>
            <a:ext cx="11429695" cy="1190216"/>
          </a:xfrm>
        </p:spPr>
        <p:txBody>
          <a:bodyPr/>
          <a:lstStyle/>
          <a:p>
            <a:r>
              <a:rPr lang="nb-N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Anti-Realisme: </a:t>
            </a:r>
            <a:br>
              <a:rPr lang="nb-N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b-N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Moralen er </a:t>
            </a:r>
            <a:r>
              <a:rPr lang="nb-NO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ikke</a:t>
            </a:r>
            <a:r>
              <a:rPr lang="nb-N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objektiv</a:t>
            </a:r>
            <a:endParaRPr lang="nb-NO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E20F78F-4027-46EB-B0CB-11703AEA3E81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263352" y="1772816"/>
            <a:ext cx="11725902" cy="43413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nb-NO" sz="2200" dirty="0"/>
              <a:t> </a:t>
            </a:r>
            <a:r>
              <a:rPr lang="nb-N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Moralen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nb-NO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ikke</a:t>
            </a:r>
            <a:r>
              <a:rPr lang="nb-N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objektiv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Hvis det finnes noen handlinger som er moralske rette eller gale, så er det </a:t>
            </a:r>
            <a:r>
              <a:rPr lang="nb-N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avhengig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 oss (oppfatninger, følelser eller samfunn).</a:t>
            </a:r>
          </a:p>
          <a:p>
            <a:pPr marL="560396" lvl="1" indent="0">
              <a:buNone/>
            </a:pPr>
            <a:endParaRPr lang="nb-N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 finns </a:t>
            </a:r>
            <a:r>
              <a:rPr lang="nb-N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ikke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noe </a:t>
            </a:r>
            <a:r>
              <a:rPr lang="nb-N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korrekt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svar på hvilke handlinger som er rette eller gale som gjelder for alle mennesker i alle kulturer i alle tider.</a:t>
            </a:r>
          </a:p>
          <a:p>
            <a:pPr>
              <a:buFont typeface="Wingdings" panose="05000000000000000000" pitchFamily="2" charset="2"/>
              <a:buChar char="v"/>
            </a:pPr>
            <a:endParaRPr lang="nb-N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Moralsk anti-realisme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Moralen er </a:t>
            </a:r>
            <a:r>
              <a:rPr lang="nb-N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ikke objektiv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nb-N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nb-N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Sharon Street: Moralsk anti-realisme: Moralen er </a:t>
            </a:r>
            <a:r>
              <a:rPr lang="nb-NO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sinnsavhengig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(«</a:t>
            </a:r>
            <a:r>
              <a:rPr lang="nb-N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mind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nb-NO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nb-N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pendent»)</a:t>
            </a:r>
          </a:p>
          <a:p>
            <a:pPr marL="0" indent="0">
              <a:buNone/>
            </a:pPr>
            <a:endParaRPr lang="en-NO" sz="1800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51F75FA-82B5-4AA8-8E33-9E2A8192DA50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0379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4D4C-0D3E-5743-B757-CF4E3800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673186"/>
            <a:ext cx="11161239" cy="1243646"/>
          </a:xfrm>
        </p:spPr>
        <p:txBody>
          <a:bodyPr/>
          <a:lstStyle/>
          <a:p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det egentlig noe som betyr noe, eller er vi bare evolusjonært utviklet til å tro det?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21835-BF5D-6348-833C-4C81A434D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2348880"/>
            <a:ext cx="10585176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Sharon Street om moralsk kunnskap – hvor kommer dommene våre fra?</a:t>
            </a: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genealogi kan være </a:t>
            </a:r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undergravende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eller </a:t>
            </a:r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underbyggende</a:t>
            </a:r>
          </a:p>
          <a:p>
            <a:pPr marL="0" indent="0">
              <a:buNone/>
            </a:pPr>
            <a:endParaRPr lang="nb-NO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Hva viser kunnskapens opphav om hvor mye vi bør stole på ulike oppfatninger?	</a:t>
            </a:r>
          </a:p>
        </p:txBody>
      </p:sp>
    </p:spTree>
    <p:extLst>
      <p:ext uri="{BB962C8B-B14F-4D97-AF65-F5344CB8AC3E}">
        <p14:creationId xmlns:p14="http://schemas.microsoft.com/office/powerpoint/2010/main" val="3066362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11EE-2B11-AD40-8A53-2D54F260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714023"/>
            <a:ext cx="11377264" cy="1243646"/>
          </a:xfrm>
        </p:spPr>
        <p:txBody>
          <a:bodyPr/>
          <a:lstStyle/>
          <a:p>
            <a:r>
              <a:rPr lang="nb-N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Grunnleggende verdimessige oppfatninger </a:t>
            </a:r>
            <a: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 finnes i alle kulturer og samfunn: (s. 447-448)</a:t>
            </a:r>
            <a:br>
              <a:rPr lang="nb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nb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E20F78F-4027-46EB-B0CB-11703AEA3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2052918"/>
            <a:ext cx="11233248" cy="4195481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 faktum at noe ville fremme ens overlevelse, er en grunn til å gjøre det.</a:t>
            </a: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 faktum at noe ville fremme ens helse, er en grunn til å gjøre det. </a:t>
            </a: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 faktum at noe ville hjelpe ens barn er en grunn til å gjøre det.</a:t>
            </a: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 faktum at noen er altruistiske [hjelper andre], er en grunn å beundre, rose, og belønne ham eller henne.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b-N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 faktum at en person har bedratt andre (ikke innfridd sin del av en samarbeidsavtale), er en grunn å avvise, fordømme og straffe ham eller henne.</a:t>
            </a:r>
          </a:p>
          <a:p>
            <a:pPr marL="0" indent="0">
              <a:spcBef>
                <a:spcPts val="600"/>
              </a:spcBef>
              <a:buNone/>
            </a:pPr>
            <a:endParaRPr lang="nb-NO" sz="2400" dirty="0">
              <a:latin typeface="+mn-lt"/>
            </a:endParaRPr>
          </a:p>
          <a:p>
            <a:pPr marL="0" indent="0">
              <a:buNone/>
            </a:pPr>
            <a:endParaRPr lang="en-NO" sz="2400" dirty="0">
              <a:latin typeface="+mn-lt"/>
            </a:endParaRPr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51F75FA-82B5-4AA8-8E33-9E2A8192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8013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E0860-EDAD-244D-B11B-EDE7705D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73186"/>
            <a:ext cx="10202417" cy="1243646"/>
          </a:xfrm>
        </p:spPr>
        <p:txBody>
          <a:bodyPr/>
          <a:lstStyle/>
          <a:p>
            <a:r>
              <a:rPr lang="nb-N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Hvor kommer kunnskap om slike verdier fra og hva er forholdet mellom kunnskapen og disse verdiene?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9D26A-A8F4-5847-BCB1-A9A053C07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2852936"/>
            <a:ext cx="10369152" cy="3691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Moralens genealogi – undergravende eller underbyggende?</a:t>
            </a:r>
          </a:p>
          <a:p>
            <a:pPr marL="0" indent="0">
              <a:buNone/>
            </a:pPr>
            <a:endParaRPr lang="nb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Henger sammen med hva vi tror disse verdiene er, objektive fakta «der ute» eller sinnsavhengige påstander som har sitt opphav «i oss»?</a:t>
            </a:r>
          </a:p>
          <a:p>
            <a:pPr marL="0" indent="0">
              <a:buNone/>
            </a:pPr>
            <a:endParaRPr lang="nb-NO" sz="2400" dirty="0"/>
          </a:p>
          <a:p>
            <a:pPr marL="0" indent="0">
              <a:buNone/>
            </a:pPr>
            <a:endParaRPr lang="nb-NO" sz="2400" dirty="0"/>
          </a:p>
          <a:p>
            <a:pPr marL="0" indent="0">
              <a:buNone/>
            </a:pPr>
            <a:endParaRPr lang="nb-NO" sz="2400" dirty="0"/>
          </a:p>
          <a:p>
            <a:pPr marL="0" indent="0">
              <a:buNone/>
            </a:pP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2016535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B7CB-B8D5-9041-9B33-FD09DB12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73186"/>
            <a:ext cx="10346433" cy="1243646"/>
          </a:xfrm>
        </p:spPr>
        <p:txBody>
          <a:bodyPr/>
          <a:lstStyle/>
          <a:p>
            <a:r>
              <a:rPr lang="nb-N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moralske verdidommer sinnsuavhengige?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F171C-E0E2-0144-9EAF-0D4859E46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60848"/>
            <a:ext cx="10346433" cy="455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Stridens kjerne: Er ting til syvende og sist verdifulle fordi vi verdsetter dem eller finnes det i det minste noen ting som er verdifulle på en måte som er klart uavhengig av om vi verdsetter dem?  (449)</a:t>
            </a:r>
          </a:p>
          <a:p>
            <a:pPr marL="0" indent="0">
              <a:buNone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«Test»: vil det å oppdage objektive sannheter gagne reproduktiv suksess?</a:t>
            </a: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(sammenlign med for eksempel persepsjon og sannhet om andre dyr)</a:t>
            </a:r>
          </a:p>
        </p:txBody>
      </p:sp>
    </p:spTree>
    <p:extLst>
      <p:ext uri="{BB962C8B-B14F-4D97-AF65-F5344CB8AC3E}">
        <p14:creationId xmlns:p14="http://schemas.microsoft.com/office/powerpoint/2010/main" val="211746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51F75FA-82B5-4AA8-8E33-9E2A8192D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6E1017B-EB72-9B10-C7DA-265145D6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68" y="-754068"/>
            <a:ext cx="11431664" cy="75406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nb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Evolusjonsteorien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nb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forenlig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 at det </a:t>
            </a:r>
            <a:r>
              <a:rPr lang="nb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finnes sinnsuavhengige verdier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E20F78F-4027-46EB-B0CB-11703AEA3E81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380169" y="887103"/>
            <a:ext cx="11811831" cy="5240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Evolusjonsteorien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nb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forenlig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 at det </a:t>
            </a:r>
            <a:r>
              <a:rPr lang="nb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finnes sinnsuavhengige verdier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nb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Evolusjonsteorien: De individer i en populasjon som er best tilpasset sin omgivelse, har større sjanse å overleve og reprodusere seg.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Innebærer: Vi har de egenskapene vi har fordi individer som har disse egenskapene har større sjanse til å overleve og reprodusere seg.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Én egenskap som kan forklares evolusjonært: Vi er </a:t>
            </a:r>
            <a:r>
              <a:rPr lang="nb-NO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fornuftige</a:t>
            </a: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60396" lvl="1" indent="0">
              <a:buNone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er fornuftige fordi det fremmer vår sjanse til å overleve og reprodusere oss. (6)</a:t>
            </a:r>
          </a:p>
        </p:txBody>
      </p:sp>
    </p:spTree>
    <p:extLst>
      <p:ext uri="{BB962C8B-B14F-4D97-AF65-F5344CB8AC3E}">
        <p14:creationId xmlns:p14="http://schemas.microsoft.com/office/powerpoint/2010/main" val="146784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BAB2B97-8619-90EE-27A9-707581A3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68" y="-754068"/>
            <a:ext cx="11431664" cy="75406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nb-N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Mulig kritikk av Street:</a:t>
            </a:r>
            <a:br>
              <a:rPr lang="nb-N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83ADF-B9E6-2E4E-B11A-51C494CBC24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80168" y="1003335"/>
            <a:ext cx="11431664" cy="120152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b-NO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Mulig kritikk av Street:</a:t>
            </a:r>
          </a:p>
          <a:p>
            <a:pPr marL="0" indent="0">
              <a:buNone/>
            </a:pPr>
            <a:r>
              <a:rPr lang="nb-NO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Evolusjonsteorien</a:t>
            </a:r>
            <a:r>
              <a:rPr lang="nb-NO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nb-NO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forenlig</a:t>
            </a:r>
            <a:r>
              <a:rPr lang="nb-NO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 at det </a:t>
            </a:r>
            <a:r>
              <a:rPr lang="nb-NO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finnes sinnsuavhengige verdier</a:t>
            </a:r>
            <a:r>
              <a:rPr lang="nb-NO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88032-4244-B14A-BBFA-5639A129163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479376" y="2636912"/>
            <a:ext cx="11323652" cy="3490463"/>
          </a:xfrm>
        </p:spPr>
        <p:txBody>
          <a:bodyPr/>
          <a:lstStyle/>
          <a:p>
            <a:pPr marL="0" indent="0">
              <a:buNone/>
            </a:pPr>
            <a:endParaRPr lang="nb-NO" dirty="0"/>
          </a:p>
          <a:p>
            <a:pPr>
              <a:buFont typeface="Arial" panose="020B0604020202020204" pitchFamily="34" charset="0"/>
              <a:buChar char="•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 kan argumentere: Sinnsuavhengige verdier oppdages av vår fornuft.</a:t>
            </a:r>
          </a:p>
          <a:p>
            <a:pPr marL="560396" lvl="1" indent="0">
              <a:buNone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Kant (omtrent): Hvilke handlinger som er rett, er resultat av hvilke handlinger som er fornuftige å ville utføre.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Derfor er en evolusjonær forklaring forenelig med at det finnes sinnsuavhengige verdier?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33437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88289</TotalTime>
  <Words>1262</Words>
  <Application>Microsoft Office PowerPoint</Application>
  <PresentationFormat>Widescreen</PresentationFormat>
  <Paragraphs>108</Paragraphs>
  <Slides>17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6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 Om liv, død og moralens objektivitet </vt:lpstr>
      <vt:lpstr>Eutanasi</vt:lpstr>
      <vt:lpstr>Typer eutanasi </vt:lpstr>
      <vt:lpstr>Eutanasi og barmhjertighet</vt:lpstr>
      <vt:lpstr>Eutanasi, rettferdighet og retten til liv</vt:lpstr>
      <vt:lpstr>En rett til å avslutte sitt eget liv?</vt:lpstr>
      <vt:lpstr>En rett til å avslutte sitt eget liv?</vt:lpstr>
      <vt:lpstr>En rett til å avslutte sitt eget liv?</vt:lpstr>
      <vt:lpstr>En rett til å avslutte sitt eget liv?</vt:lpstr>
      <vt:lpstr>Metaetikk</vt:lpstr>
      <vt:lpstr>Anti-Realisme:  Moralen er ikke objektiv</vt:lpstr>
      <vt:lpstr>Er det egentlig noe som betyr noe, eller er vi bare evolusjonært utviklet til å tro det? </vt:lpstr>
      <vt:lpstr>Grunnleggende verdimessige oppfatninger som finnes i alle kulturer og samfunn: (s. 447-448) </vt:lpstr>
      <vt:lpstr>Hvor kommer kunnskap om slike verdier fra og hva er forholdet mellom kunnskapen og disse verdiene?</vt:lpstr>
      <vt:lpstr>Er moralske verdidommer sinnsuavhengige?</vt:lpstr>
      <vt:lpstr>Evolusjonsteorien er forenlig med at det finnes sinnsuavhengige verdier. </vt:lpstr>
      <vt:lpstr>Mulig kritikk av Street: </vt:lpstr>
    </vt:vector>
  </TitlesOfParts>
  <Company>N&amp;N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Dr R Temple</dc:creator>
  <cp:lastModifiedBy>Erlend Bornhoffer</cp:lastModifiedBy>
  <cp:revision>533</cp:revision>
  <cp:lastPrinted>2022-10-12T09:56:19Z</cp:lastPrinted>
  <dcterms:created xsi:type="dcterms:W3CDTF">2006-10-17T12:53:18Z</dcterms:created>
  <dcterms:modified xsi:type="dcterms:W3CDTF">2024-10-11T09:09:31Z</dcterms:modified>
</cp:coreProperties>
</file>