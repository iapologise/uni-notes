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9" r:id="rId1"/>
  </p:sldMasterIdLst>
  <p:notesMasterIdLst>
    <p:notesMasterId r:id="rId11"/>
  </p:notesMasterIdLst>
  <p:handoutMasterIdLst>
    <p:handoutMasterId r:id="rId12"/>
  </p:handoutMasterIdLst>
  <p:sldIdLst>
    <p:sldId id="297" r:id="rId2"/>
    <p:sldId id="303" r:id="rId3"/>
    <p:sldId id="298" r:id="rId4"/>
    <p:sldId id="304" r:id="rId5"/>
    <p:sldId id="299" r:id="rId6"/>
    <p:sldId id="300" r:id="rId7"/>
    <p:sldId id="301" r:id="rId8"/>
    <p:sldId id="302" r:id="rId9"/>
    <p:sldId id="305" r:id="rId10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244"/>
    <a:srgbClr val="4C678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3A60F-C84E-02CC-AD3B-D9524C71823F}" v="65" dt="2024-09-13T09:11:20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C9896D9-8050-44D7-A40D-6920AE2D1A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61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6125"/>
            <a:ext cx="6615112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133" y="4718214"/>
            <a:ext cx="5436235" cy="446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3A95D4-52CF-4036-984D-AF42B1BE1A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7905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106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337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111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3A95D4-52CF-4036-984D-AF42B1BE1AF3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282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ed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597229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597229" cy="861420"/>
          </a:xfrm>
        </p:spPr>
        <p:txBody>
          <a:bodyPr anchor="t"/>
          <a:lstStyle>
            <a:lvl1pPr marL="0" indent="0" algn="l">
              <a:buNone/>
              <a:defRPr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3985" y="5985181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1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ten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73186"/>
            <a:ext cx="9410285" cy="124364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53085" cy="4195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4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2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1.xml"/><Relationship Id="rId9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  <a:lumOff val="15000"/>
              </a:schemeClr>
            </a:gs>
            <a:gs pos="99000">
              <a:srgbClr val="24324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668412"/>
            <a:ext cx="9404723" cy="11848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67162" y="6448069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sz="11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3312" y="64388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218199" y="5961676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40C8-6429-7646-927E-CC7F2066F152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F08E80-5C34-AF4F-8321-C38D28B83B4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44" y="71385"/>
            <a:ext cx="6765430" cy="53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10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3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21432" y="500744"/>
            <a:ext cx="7844408" cy="1730828"/>
          </a:xfrm>
        </p:spPr>
        <p:txBody>
          <a:bodyPr/>
          <a:lstStyle/>
          <a:p>
            <a:br>
              <a:rPr lang="nb-NO" sz="3200"/>
            </a:br>
            <a:br>
              <a:rPr lang="nb-NO" sz="3200"/>
            </a:br>
            <a:br>
              <a:rPr lang="nb-NO" sz="3200"/>
            </a:br>
            <a:br>
              <a:rPr lang="nb-NO" sz="3200"/>
            </a:br>
            <a:br>
              <a:rPr lang="nb-NO" sz="3200"/>
            </a:br>
            <a:br>
              <a:rPr lang="nb-NO" sz="3200"/>
            </a:br>
            <a:br>
              <a:rPr lang="nb-NO" sz="3200"/>
            </a:br>
            <a:r>
              <a:rPr lang="nb-NO" sz="3800"/>
              <a:t>VIRKELIGHET OG DENS FORKLARING</a:t>
            </a:r>
            <a:r>
              <a:rPr lang="nb-NO" sz="3200"/>
              <a:t> </a:t>
            </a:r>
            <a:br>
              <a:rPr lang="en-NO" sz="3200"/>
            </a:br>
            <a:endParaRPr lang="en-NO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555170" y="2122714"/>
            <a:ext cx="116368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b-NO"/>
          </a:p>
          <a:p>
            <a:r>
              <a:rPr lang="nb-NO" sz="2400"/>
              <a:t>Natur og naturlige ting (planter, dyr, de fire elementene)</a:t>
            </a:r>
            <a:r>
              <a:rPr lang="en-NO" sz="2400"/>
              <a:t>, artefakter. Både naturlige ting og artefakter har en natur.</a:t>
            </a:r>
          </a:p>
          <a:p>
            <a:r>
              <a:rPr lang="nb-NO" sz="2400"/>
              <a:t> </a:t>
            </a:r>
          </a:p>
          <a:p>
            <a:endParaRPr lang="nb-NO" sz="2400"/>
          </a:p>
          <a:p>
            <a:r>
              <a:rPr lang="nb-NO" sz="2400"/>
              <a:t>Forklaring: en intellektuell aktivitet som tar siktet på å forklare tingenes natur</a:t>
            </a:r>
            <a:endParaRPr lang="en-NO" sz="2400"/>
          </a:p>
          <a:p>
            <a:pPr lvl="1"/>
            <a:r>
              <a:rPr lang="nb-NO" sz="2400"/>
              <a:t>                                          </a:t>
            </a:r>
          </a:p>
          <a:p>
            <a:pPr lvl="1"/>
            <a:r>
              <a:rPr lang="nb-NO" sz="2400"/>
              <a:t>						Forskjellig en ferdighet</a:t>
            </a:r>
          </a:p>
          <a:p>
            <a:pPr lvl="1"/>
            <a:endParaRPr lang="nb-NO" sz="2400"/>
          </a:p>
          <a:p>
            <a:pPr lvl="1"/>
            <a:endParaRPr lang="nb-NO" sz="2400"/>
          </a:p>
          <a:p>
            <a:pPr lvl="1"/>
            <a:endParaRPr lang="en-NO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5554-4ED3-6674-7784-42CD1239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/>
              <a:t>Aristoteles´ Vitenskapelig </a:t>
            </a:r>
            <a:r>
              <a:rPr lang="nb-NO"/>
              <a:t>Verktøy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45744-8E12-59AE-4648-F5EC5A864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O"/>
              <a:t>Logikk</a:t>
            </a:r>
          </a:p>
          <a:p>
            <a:pPr lvl="3"/>
            <a:r>
              <a:rPr lang="en-NO"/>
              <a:t>Alle mennesker er dødelige</a:t>
            </a:r>
          </a:p>
          <a:p>
            <a:pPr lvl="3"/>
            <a:r>
              <a:rPr lang="en-NO"/>
              <a:t>Sokrates er et menneske</a:t>
            </a:r>
          </a:p>
          <a:p>
            <a:pPr marL="1371600" lvl="3" indent="0">
              <a:buNone/>
            </a:pPr>
            <a:r>
              <a:rPr lang="en-NO"/>
              <a:t>----------------------------------------</a:t>
            </a:r>
          </a:p>
          <a:p>
            <a:pPr lvl="3"/>
            <a:r>
              <a:rPr lang="en-NO"/>
              <a:t>Sokrates er dødelig</a:t>
            </a:r>
          </a:p>
          <a:p>
            <a:r>
              <a:rPr lang="en-GB" err="1"/>
              <a:t>Dialektikk</a:t>
            </a:r>
            <a:endParaRPr lang="en-GB"/>
          </a:p>
          <a:p>
            <a:r>
              <a:rPr lang="en-GB"/>
              <a:t>F</a:t>
            </a:r>
            <a:r>
              <a:rPr lang="en-NO"/>
              <a:t>orholdet mellom våre erkjennelsesmesige (epistemiske) evner og Vitenskapen</a:t>
            </a:r>
          </a:p>
          <a:p>
            <a:r>
              <a:rPr lang="en-GB"/>
              <a:t>T</a:t>
            </a:r>
            <a:r>
              <a:rPr lang="en-NO"/>
              <a:t>esting av vitenskapelig teorier</a:t>
            </a:r>
          </a:p>
          <a:p>
            <a:r>
              <a:rPr lang="en-NO"/>
              <a:t>Endoxa. Det som folk flest mener om ting</a:t>
            </a:r>
          </a:p>
          <a:p>
            <a:r>
              <a:rPr lang="en-NO"/>
              <a:t>Sansing og tekning</a:t>
            </a:r>
          </a:p>
          <a:p>
            <a:endParaRPr lang="en-NO"/>
          </a:p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98743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21433" y="533400"/>
            <a:ext cx="7772400" cy="751114"/>
          </a:xfrm>
        </p:spPr>
        <p:txBody>
          <a:bodyPr/>
          <a:lstStyle/>
          <a:p>
            <a:pPr algn="ctr"/>
            <a:r>
              <a:rPr lang="nb-NO" sz="3800"/>
              <a:t>ARISTOTELES</a:t>
            </a:r>
            <a:endParaRPr lang="en-GB" sz="3800" b="1">
              <a:solidFill>
                <a:schemeClr val="accent3">
                  <a:lumMod val="20000"/>
                  <a:lumOff val="80000"/>
                </a:schemeClr>
              </a:solidFill>
              <a:latin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979714" y="1844824"/>
            <a:ext cx="924197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b-NO"/>
          </a:p>
          <a:p>
            <a:r>
              <a:rPr lang="nb-NO" sz="2600"/>
              <a:t>Hvordan Aristoteles arbeider.</a:t>
            </a:r>
            <a:endParaRPr lang="en-NO" sz="2600"/>
          </a:p>
          <a:p>
            <a:r>
              <a:rPr lang="nb-NO" sz="2600"/>
              <a:t> </a:t>
            </a:r>
            <a:endParaRPr lang="en-NO" sz="2600"/>
          </a:p>
          <a:p>
            <a:r>
              <a:rPr lang="nb-NO" sz="2600"/>
              <a:t>Metodologiske Prinsipper</a:t>
            </a:r>
          </a:p>
          <a:p>
            <a:endParaRPr lang="nb-NO" sz="2600"/>
          </a:p>
          <a:p>
            <a:r>
              <a:rPr lang="nb-NO" sz="2600"/>
              <a:t>Hva og hvorfor spørsmål.</a:t>
            </a:r>
            <a:endParaRPr lang="en-NO" sz="2600"/>
          </a:p>
          <a:p>
            <a:r>
              <a:rPr lang="nb-NO" sz="2600"/>
              <a:t> </a:t>
            </a:r>
          </a:p>
          <a:p>
            <a:r>
              <a:rPr lang="nb-NO" sz="2600"/>
              <a:t>Partikulært vs. Generelt (</a:t>
            </a:r>
            <a:r>
              <a:rPr lang="nb-NO" sz="2600" err="1"/>
              <a:t>dvs</a:t>
            </a:r>
            <a:r>
              <a:rPr lang="nb-NO" sz="2600"/>
              <a:t> Universelt)</a:t>
            </a:r>
          </a:p>
          <a:p>
            <a:r>
              <a:rPr lang="nb-NO" sz="2600"/>
              <a:t> </a:t>
            </a:r>
          </a:p>
          <a:p>
            <a:r>
              <a:rPr lang="nb-NO" sz="2600"/>
              <a:t>Sansning som utgangspunkt, det Universelle som mål</a:t>
            </a:r>
          </a:p>
          <a:p>
            <a:endParaRPr lang="nb-NO" sz="2600"/>
          </a:p>
          <a:p>
            <a:r>
              <a:rPr lang="nb-NO" sz="2600"/>
              <a:t>Potensialitet Aktualitet</a:t>
            </a:r>
            <a:endParaRPr lang="en-NO" sz="2600"/>
          </a:p>
          <a:p>
            <a:r>
              <a:rPr lang="nb-NO" sz="2600"/>
              <a:t> </a:t>
            </a:r>
            <a:endParaRPr lang="en-NO" sz="2600"/>
          </a:p>
          <a:p>
            <a:endParaRPr lang="en-GB" sz="240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92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F097-D786-F668-A3CB-2B18B2D7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/>
              <a:t>Tingenes natur og deres attributer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88AA6-AAA5-8A16-5926-3DA46A9C2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397" y="1989333"/>
            <a:ext cx="8953085" cy="4195481"/>
          </a:xfrm>
        </p:spPr>
        <p:txBody>
          <a:bodyPr/>
          <a:lstStyle/>
          <a:p>
            <a:r>
              <a:rPr lang="en-NO"/>
              <a:t>Tingenes Natur</a:t>
            </a:r>
          </a:p>
          <a:p>
            <a:r>
              <a:rPr lang="en-GB"/>
              <a:t>T</a:t>
            </a:r>
            <a:r>
              <a:rPr lang="en-NO"/>
              <a:t>ingenes Atributter og deres forhold til tingenes Natur</a:t>
            </a:r>
          </a:p>
          <a:p>
            <a:r>
              <a:rPr lang="en-NO"/>
              <a:t>Natur</a:t>
            </a:r>
          </a:p>
          <a:p>
            <a:r>
              <a:rPr lang="nb-NO"/>
              <a:t>T</a:t>
            </a:r>
            <a:r>
              <a:rPr lang="nb-NO" sz="2000"/>
              <a:t>ingens natur i dets materielle aspekt (natur som materie)</a:t>
            </a:r>
          </a:p>
          <a:p>
            <a:r>
              <a:rPr lang="nb-NO"/>
              <a:t>Tingens natur i dets formale aspekt som gjenspeiles i tingens definisjon (natur som form)</a:t>
            </a:r>
          </a:p>
          <a:p>
            <a:r>
              <a:rPr lang="nb-NO"/>
              <a:t>Tingens form er mer tingens natur enn dens materie.</a:t>
            </a:r>
          </a:p>
          <a:p>
            <a:endParaRPr lang="nb-NO"/>
          </a:p>
          <a:p>
            <a:endParaRPr lang="nb-NO"/>
          </a:p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1464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21433" y="714176"/>
            <a:ext cx="7772400" cy="914624"/>
          </a:xfrm>
        </p:spPr>
        <p:txBody>
          <a:bodyPr/>
          <a:lstStyle/>
          <a:p>
            <a:r>
              <a:rPr lang="en-GB" sz="380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VIRKELIGHET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2221433" y="1700808"/>
            <a:ext cx="8424936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b-NO" sz="2400"/>
          </a:p>
          <a:p>
            <a:r>
              <a:rPr lang="nb-NO" sz="2400"/>
              <a:t>Hva skal forklares? </a:t>
            </a:r>
          </a:p>
          <a:p>
            <a:endParaRPr lang="nb-NO" sz="2400"/>
          </a:p>
          <a:p>
            <a:r>
              <a:rPr lang="nb-NO" sz="2400"/>
              <a:t>Ting/substanser</a:t>
            </a:r>
          </a:p>
          <a:p>
            <a:endParaRPr lang="nb-NO" sz="2400"/>
          </a:p>
          <a:p>
            <a:r>
              <a:rPr lang="nb-NO" sz="2400"/>
              <a:t>Naturlige ting: Hva vil det si at en ting er naturlig? </a:t>
            </a:r>
          </a:p>
          <a:p>
            <a:endParaRPr lang="nb-NO" sz="2400"/>
          </a:p>
          <a:p>
            <a:r>
              <a:rPr lang="nb-NO" sz="2400"/>
              <a:t>Hva vil det si at en ting er en artefakt?</a:t>
            </a:r>
            <a:endParaRPr lang="en-GB" sz="320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NO" sz="2400"/>
          </a:p>
          <a:p>
            <a:r>
              <a:rPr lang="nb-NO" sz="2400"/>
              <a:t> Essensielle vs. tilfeldige egenskaper</a:t>
            </a:r>
            <a:endParaRPr lang="en-NO" sz="2400"/>
          </a:p>
          <a:p>
            <a:endParaRPr lang="nb-NO" sz="2400"/>
          </a:p>
          <a:p>
            <a:r>
              <a:rPr lang="nb-NO" sz="2400"/>
              <a:t> </a:t>
            </a:r>
            <a:endParaRPr lang="en-NO" sz="2400"/>
          </a:p>
          <a:p>
            <a:endParaRPr lang="en-NO" sz="2400"/>
          </a:p>
          <a:p>
            <a:r>
              <a:rPr lang="nb-NO" sz="2400"/>
              <a:t> </a:t>
            </a:r>
            <a:endParaRPr lang="en-NO" sz="2400"/>
          </a:p>
          <a:p>
            <a:r>
              <a:rPr lang="nb-NO" sz="2400"/>
              <a:t>.</a:t>
            </a:r>
            <a:endParaRPr lang="en-NO" sz="2400"/>
          </a:p>
          <a:p>
            <a:r>
              <a:rPr lang="nb-NO"/>
              <a:t> </a:t>
            </a:r>
            <a:endParaRPr lang="en-NO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76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21433" y="566057"/>
            <a:ext cx="7772400" cy="718457"/>
          </a:xfrm>
        </p:spPr>
        <p:txBody>
          <a:bodyPr/>
          <a:lstStyle/>
          <a:p>
            <a:pPr algn="ctr"/>
            <a:r>
              <a:rPr lang="en-GB" sz="4000">
                <a:solidFill>
                  <a:schemeClr val="accent3">
                    <a:lumMod val="20000"/>
                    <a:lumOff val="80000"/>
                  </a:schemeClr>
                </a:solidFill>
              </a:rPr>
              <a:t>ÅRSAK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6BE40F-C50A-1F4C-B0FB-EC7ADB1A3A75}"/>
              </a:ext>
            </a:extLst>
          </p:cNvPr>
          <p:cNvSpPr/>
          <p:nvPr/>
        </p:nvSpPr>
        <p:spPr>
          <a:xfrm>
            <a:off x="1343472" y="1667826"/>
            <a:ext cx="91721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sz="2000"/>
              <a:t>Årsak: Svar på spørsmål «hvorfor?» vi kjenner ikke en ting med mindre vi kjenner dens «hvorfor». Hvorfor er den tingen slik den er</a:t>
            </a:r>
          </a:p>
          <a:p>
            <a:endParaRPr lang="nb-NO" sz="2000"/>
          </a:p>
          <a:p>
            <a:r>
              <a:rPr lang="nb-NO" sz="2000"/>
              <a:t>Fire «hvorfor» spørsmål:</a:t>
            </a:r>
            <a:endParaRPr lang="en-NO" sz="2000"/>
          </a:p>
          <a:p>
            <a:r>
              <a:rPr lang="nb-NO" sz="2000"/>
              <a:t> </a:t>
            </a:r>
            <a:endParaRPr lang="en-NO" sz="2000"/>
          </a:p>
          <a:p>
            <a:r>
              <a:rPr lang="nb-NO" sz="2000"/>
              <a:t>1. materiell årsak:</a:t>
            </a:r>
          </a:p>
          <a:p>
            <a:endParaRPr lang="nb-NO" sz="2000"/>
          </a:p>
          <a:p>
            <a:r>
              <a:rPr lang="nb-NO" sz="2000"/>
              <a:t>2. form årsak: tingens essens</a:t>
            </a:r>
          </a:p>
          <a:p>
            <a:endParaRPr lang="nb-NO" sz="2000"/>
          </a:p>
          <a:p>
            <a:r>
              <a:rPr lang="nb-NO" sz="2000"/>
              <a:t>3. bevirkende årsak </a:t>
            </a:r>
          </a:p>
          <a:p>
            <a:endParaRPr lang="nb-NO" sz="2000"/>
          </a:p>
          <a:p>
            <a:r>
              <a:rPr lang="nb-NO" sz="2000"/>
              <a:t>4. formåls årsak </a:t>
            </a:r>
          </a:p>
          <a:p>
            <a:endParaRPr lang="nb-NO" sz="2000"/>
          </a:p>
          <a:p>
            <a:r>
              <a:rPr lang="nb-NO" sz="2000"/>
              <a:t>Aktuelle Potensielle årsaker</a:t>
            </a:r>
            <a:endParaRPr lang="en-NO" sz="2000"/>
          </a:p>
        </p:txBody>
      </p:sp>
    </p:spTree>
    <p:extLst>
      <p:ext uri="{BB962C8B-B14F-4D97-AF65-F5344CB8AC3E}">
        <p14:creationId xmlns:p14="http://schemas.microsoft.com/office/powerpoint/2010/main" val="3125872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76AD-34E9-D442-AF12-DF4366A9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/>
              <a:t>Hell OG SPONTANITET</a:t>
            </a:r>
            <a:br>
              <a:rPr lang="en-NO"/>
            </a:br>
            <a:endParaRPr lang="en-NO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8B353-B350-EB4E-A158-4C165C47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988840"/>
            <a:ext cx="8953085" cy="42595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sz="2400"/>
              <a:t>Hell (slump, fra middelnedertysk): tilfeldig årsak som involverer rasjonelle aktører. </a:t>
            </a:r>
          </a:p>
          <a:p>
            <a:pPr marL="0" indent="0">
              <a:buNone/>
            </a:pPr>
            <a:endParaRPr lang="nb-NO" sz="2400"/>
          </a:p>
          <a:p>
            <a:pPr marL="0" indent="0">
              <a:buNone/>
            </a:pPr>
            <a:r>
              <a:rPr lang="nb-NO" sz="2400"/>
              <a:t>Sjeldnere</a:t>
            </a:r>
          </a:p>
          <a:p>
            <a:pPr marL="0" indent="0">
              <a:buNone/>
            </a:pPr>
            <a:endParaRPr lang="nb-NO" sz="2400"/>
          </a:p>
          <a:p>
            <a:pPr marL="0" indent="0">
              <a:buNone/>
            </a:pPr>
            <a:r>
              <a:rPr lang="nb-NO" sz="2400"/>
              <a:t>Mer og mindre relevante hell årsaker.</a:t>
            </a:r>
            <a:endParaRPr lang="en-NO" sz="2400"/>
          </a:p>
          <a:p>
            <a:pPr marL="0" indent="0">
              <a:buNone/>
            </a:pPr>
            <a:endParaRPr lang="nb-NO" sz="2400"/>
          </a:p>
          <a:p>
            <a:pPr marL="0" indent="0">
              <a:buNone/>
            </a:pPr>
            <a:r>
              <a:rPr lang="nb-NO" sz="2400"/>
              <a:t>God og dårlig hell: heldig eller uheldig.</a:t>
            </a:r>
            <a:endParaRPr lang="en-NO" sz="2400"/>
          </a:p>
          <a:p>
            <a:pPr marL="0" indent="0">
              <a:buNone/>
            </a:pPr>
            <a:endParaRPr lang="nb-NO" sz="2400"/>
          </a:p>
          <a:p>
            <a:pPr marL="0" indent="0">
              <a:buNone/>
            </a:pPr>
            <a:r>
              <a:rPr lang="nb-NO" sz="2400"/>
              <a:t>Spontanitet</a:t>
            </a:r>
            <a:endParaRPr lang="en-NO" sz="2400"/>
          </a:p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6600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95198-FA0C-CC42-9B48-C0B552B2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O"/>
              <a:t>TELEOLOGI</a:t>
            </a:r>
            <a:br>
              <a:rPr lang="en-NO"/>
            </a:br>
            <a:r>
              <a:rPr lang="en-NO"/>
              <a:t>FORMÅLSKAUSALITET I NATUREN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B7797-31B3-B842-8A22-1A1EF9229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nb-NO" sz="2400"/>
          </a:p>
          <a:p>
            <a:pPr marL="0" indent="0">
              <a:buNone/>
            </a:pPr>
            <a:r>
              <a:rPr lang="nb-NO" sz="2400"/>
              <a:t>Regularitet i naturlige hendelser. …slump og spontanitet er skjelne årsaker</a:t>
            </a:r>
          </a:p>
          <a:p>
            <a:pPr marL="0" indent="0">
              <a:buNone/>
            </a:pPr>
            <a:endParaRPr lang="nb-NO" sz="2400"/>
          </a:p>
          <a:p>
            <a:pPr marL="0" indent="0">
              <a:buNone/>
            </a:pPr>
            <a:r>
              <a:rPr lang="nb-NO" sz="2400"/>
              <a:t>Ordenen i årsakskjeden av naturlige hendelsene</a:t>
            </a:r>
          </a:p>
          <a:p>
            <a:pPr marL="0" indent="0">
              <a:buNone/>
            </a:pPr>
            <a:endParaRPr lang="nb-NO" sz="2400"/>
          </a:p>
          <a:p>
            <a:pPr marL="0" indent="0">
              <a:buNone/>
            </a:pPr>
            <a:r>
              <a:rPr lang="nb-NO" sz="2400"/>
              <a:t>Særlig tydelig med de ikke menneskelige dyrene</a:t>
            </a:r>
          </a:p>
          <a:p>
            <a:pPr marL="0" indent="0">
              <a:buNone/>
            </a:pPr>
            <a:endParaRPr lang="nb-NO" sz="2400"/>
          </a:p>
          <a:p>
            <a:pPr marL="0" indent="0">
              <a:buNone/>
            </a:pPr>
            <a:r>
              <a:rPr lang="nb-NO" sz="2400"/>
              <a:t>Det oppstår feil i naturen til tider men det gjør det også menneskelig produkter (artefakter)</a:t>
            </a:r>
          </a:p>
          <a:p>
            <a:pPr marL="457200" indent="-457200">
              <a:buAutoNum type="arabicPeriod"/>
            </a:pPr>
            <a:endParaRPr lang="nb-NO" sz="2400"/>
          </a:p>
          <a:p>
            <a:pPr marL="800100" lvl="2" indent="0">
              <a:buNone/>
            </a:pPr>
            <a:r>
              <a:rPr lang="nb-NO" sz="2000"/>
              <a:t>	</a:t>
            </a:r>
          </a:p>
          <a:p>
            <a:pPr marL="800100" lvl="2" indent="0">
              <a:buNone/>
            </a:pPr>
            <a:endParaRPr lang="nb-NO" sz="2000"/>
          </a:p>
          <a:p>
            <a:pPr marL="800100" lvl="2" indent="0">
              <a:buNone/>
            </a:pPr>
            <a:endParaRPr lang="nb-NO" sz="2000"/>
          </a:p>
          <a:p>
            <a:pPr marL="457200" indent="-457200">
              <a:buAutoNum type="arabicPeriod"/>
            </a:pPr>
            <a:endParaRPr lang="nb-NO" sz="2400"/>
          </a:p>
        </p:txBody>
      </p:sp>
    </p:spTree>
    <p:extLst>
      <p:ext uri="{BB962C8B-B14F-4D97-AF65-F5344CB8AC3E}">
        <p14:creationId xmlns:p14="http://schemas.microsoft.com/office/powerpoint/2010/main" val="1299038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DDC4-A136-3075-1B08-ABA1DFC1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/>
              <a:t>Målrettet vs nødvendig</a:t>
            </a:r>
            <a:br>
              <a:rPr lang="en-NO"/>
            </a:b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30FBD-2C7A-DE78-B542-FAC2EEA6F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NO"/>
              <a:t>Hvorfor skal vi tro at naturen er målrettet</a:t>
            </a:r>
          </a:p>
          <a:p>
            <a:r>
              <a:rPr lang="en-NO"/>
              <a:t>Hvorfor skjer ikke ting av tilfeldighet? (regn eksemplet)</a:t>
            </a:r>
          </a:p>
          <a:p>
            <a:r>
              <a:rPr lang="en-GB"/>
              <a:t>G</a:t>
            </a:r>
            <a:r>
              <a:rPr lang="en-NO"/>
              <a:t>runner for å tro på regelmesighet</a:t>
            </a:r>
          </a:p>
          <a:p>
            <a:pPr lvl="1"/>
            <a:r>
              <a:rPr lang="en-GB"/>
              <a:t>T</a:t>
            </a:r>
            <a:r>
              <a:rPr lang="en-NO"/>
              <a:t>ing skjer på en bestemt måte for det </a:t>
            </a:r>
            <a:r>
              <a:rPr lang="en-NO" err="1"/>
              <a:t>meste</a:t>
            </a:r>
            <a:r>
              <a:rPr lang="en-NO"/>
              <a:t>, </a:t>
            </a:r>
            <a:r>
              <a:rPr lang="en-NO" err="1"/>
              <a:t>og</a:t>
            </a:r>
            <a:r>
              <a:rPr lang="en-NO"/>
              <a:t> </a:t>
            </a:r>
            <a:r>
              <a:rPr lang="en-NO" err="1"/>
              <a:t>tilfeldighet</a:t>
            </a:r>
            <a:r>
              <a:rPr lang="en-NO"/>
              <a:t> </a:t>
            </a:r>
            <a:r>
              <a:rPr lang="en-NO" err="1"/>
              <a:t>forklarer</a:t>
            </a:r>
            <a:r>
              <a:rPr lang="en-NO"/>
              <a:t> </a:t>
            </a:r>
            <a:r>
              <a:rPr lang="en-NO" err="1"/>
              <a:t>ikke</a:t>
            </a:r>
            <a:r>
              <a:rPr lang="en-NO"/>
              <a:t> det (</a:t>
            </a:r>
            <a:r>
              <a:rPr lang="en-NO" err="1"/>
              <a:t>regn</a:t>
            </a:r>
            <a:r>
              <a:rPr lang="en-NO"/>
              <a:t> om </a:t>
            </a:r>
            <a:r>
              <a:rPr lang="en-NO" err="1"/>
              <a:t>vinteren</a:t>
            </a:r>
            <a:r>
              <a:rPr lang="en-NO"/>
              <a:t>, sol om </a:t>
            </a:r>
            <a:r>
              <a:rPr lang="en-NO" err="1"/>
              <a:t>someren</a:t>
            </a:r>
            <a:r>
              <a:rPr lang="en-NO"/>
              <a:t> </a:t>
            </a:r>
            <a:r>
              <a:rPr lang="en-NO" err="1"/>
              <a:t>osv</a:t>
            </a:r>
            <a:r>
              <a:rPr lang="en-NO"/>
              <a:t>.)</a:t>
            </a:r>
          </a:p>
          <a:p>
            <a:pPr lvl="1"/>
            <a:r>
              <a:rPr lang="en-GB"/>
              <a:t>A</a:t>
            </a:r>
            <a:r>
              <a:rPr lang="en-NO"/>
              <a:t>ltså ting skjer for at et bestemt mål oppfylles</a:t>
            </a:r>
          </a:p>
          <a:p>
            <a:pPr lvl="1"/>
            <a:r>
              <a:rPr lang="en-GB"/>
              <a:t>R</a:t>
            </a:r>
            <a:r>
              <a:rPr lang="en-NO"/>
              <a:t>egn faller for at et mål blir oppfylt</a:t>
            </a:r>
          </a:p>
          <a:p>
            <a:pPr lvl="1"/>
            <a:r>
              <a:rPr lang="en-GB"/>
              <a:t>S</a:t>
            </a:r>
            <a:r>
              <a:rPr lang="en-NO" err="1"/>
              <a:t>killet</a:t>
            </a:r>
            <a:r>
              <a:rPr lang="en-NO"/>
              <a:t> </a:t>
            </a:r>
            <a:r>
              <a:rPr lang="en-NO" err="1"/>
              <a:t>mellom</a:t>
            </a:r>
            <a:r>
              <a:rPr lang="en-NO"/>
              <a:t> </a:t>
            </a:r>
            <a:r>
              <a:rPr lang="en-NO" err="1"/>
              <a:t>forklaringer</a:t>
            </a:r>
            <a:r>
              <a:rPr lang="en-NO"/>
              <a:t> </a:t>
            </a:r>
            <a:r>
              <a:rPr lang="en-NO" err="1"/>
              <a:t>som</a:t>
            </a:r>
            <a:r>
              <a:rPr lang="en-NO"/>
              <a:t> </a:t>
            </a:r>
            <a:r>
              <a:rPr lang="en-NO" err="1"/>
              <a:t>viser</a:t>
            </a:r>
            <a:r>
              <a:rPr lang="en-NO"/>
              <a:t> </a:t>
            </a:r>
            <a:r>
              <a:rPr lang="en-NO" err="1"/>
              <a:t>til</a:t>
            </a:r>
            <a:r>
              <a:rPr lang="en-NO"/>
              <a:t> </a:t>
            </a:r>
            <a:r>
              <a:rPr lang="en-NO" err="1"/>
              <a:t>årsaker</a:t>
            </a:r>
            <a:r>
              <a:rPr lang="en-NO"/>
              <a:t> </a:t>
            </a:r>
            <a:r>
              <a:rPr lang="en-NO" err="1"/>
              <a:t>før</a:t>
            </a:r>
            <a:r>
              <a:rPr lang="en-NO"/>
              <a:t> det </a:t>
            </a:r>
            <a:r>
              <a:rPr lang="en-NO" err="1"/>
              <a:t>som</a:t>
            </a:r>
            <a:r>
              <a:rPr lang="en-NO"/>
              <a:t> </a:t>
            </a:r>
            <a:r>
              <a:rPr lang="en-NO" err="1"/>
              <a:t>skal</a:t>
            </a:r>
            <a:r>
              <a:rPr lang="en-NO"/>
              <a:t> </a:t>
            </a:r>
            <a:r>
              <a:rPr lang="en-NO" err="1"/>
              <a:t>forklares</a:t>
            </a:r>
            <a:r>
              <a:rPr lang="en-NO"/>
              <a:t> </a:t>
            </a:r>
            <a:r>
              <a:rPr lang="en-NO" err="1"/>
              <a:t>inntreffer</a:t>
            </a:r>
            <a:r>
              <a:rPr lang="en-NO"/>
              <a:t> </a:t>
            </a:r>
            <a:r>
              <a:rPr lang="en-NO" err="1"/>
              <a:t>og</a:t>
            </a:r>
            <a:r>
              <a:rPr lang="en-NO"/>
              <a:t> </a:t>
            </a:r>
            <a:r>
              <a:rPr lang="en-NO" err="1"/>
              <a:t>forklaringer</a:t>
            </a:r>
            <a:r>
              <a:rPr lang="en-NO"/>
              <a:t> </a:t>
            </a:r>
            <a:r>
              <a:rPr lang="en-NO" err="1"/>
              <a:t>som</a:t>
            </a:r>
            <a:r>
              <a:rPr lang="en-NO"/>
              <a:t> </a:t>
            </a:r>
            <a:r>
              <a:rPr lang="en-NO" err="1"/>
              <a:t>viser</a:t>
            </a:r>
            <a:r>
              <a:rPr lang="en-NO"/>
              <a:t> </a:t>
            </a:r>
            <a:r>
              <a:rPr lang="en-NO" err="1"/>
              <a:t>til</a:t>
            </a:r>
            <a:r>
              <a:rPr lang="en-NO"/>
              <a:t> det </a:t>
            </a:r>
            <a:r>
              <a:rPr lang="en-NO" err="1"/>
              <a:t>som</a:t>
            </a:r>
            <a:r>
              <a:rPr lang="en-NO"/>
              <a:t> </a:t>
            </a:r>
            <a:r>
              <a:rPr lang="en-NO" err="1"/>
              <a:t>inntreffer</a:t>
            </a:r>
            <a:r>
              <a:rPr lang="en-NO"/>
              <a:t> for å </a:t>
            </a:r>
            <a:r>
              <a:rPr lang="en-NO" err="1"/>
              <a:t>forklare</a:t>
            </a:r>
            <a:r>
              <a:rPr lang="en-NO"/>
              <a:t> </a:t>
            </a:r>
            <a:r>
              <a:rPr lang="en-NO" err="1"/>
              <a:t>årsaken</a:t>
            </a:r>
            <a:r>
              <a:rPr lang="en-NO"/>
              <a:t> </a:t>
            </a:r>
            <a:r>
              <a:rPr lang="en-NO" err="1"/>
              <a:t>til</a:t>
            </a:r>
            <a:r>
              <a:rPr lang="en-NO"/>
              <a:t> at det inntraf.</a:t>
            </a:r>
          </a:p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34151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Widescreen</PresentationFormat>
  <Slides>9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Ion</vt:lpstr>
      <vt:lpstr>       VIRKELIGHET OG DENS FORKLARING  </vt:lpstr>
      <vt:lpstr>Aristoteles´ Vitenskapelig Verktøy</vt:lpstr>
      <vt:lpstr>ARISTOTELES</vt:lpstr>
      <vt:lpstr>Tingenes natur og deres attributer</vt:lpstr>
      <vt:lpstr>VIRKELIGHET</vt:lpstr>
      <vt:lpstr>ÅRSAK</vt:lpstr>
      <vt:lpstr>Hell OG SPONTANITET </vt:lpstr>
      <vt:lpstr>TELEOLOGI FORMÅLSKAUSALITET I NATUREN</vt:lpstr>
      <vt:lpstr>Målrettet vs nødvendig </vt:lpstr>
    </vt:vector>
  </TitlesOfParts>
  <Company>N&amp;N NHS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Dr R Temple</dc:creator>
  <cp:revision>4</cp:revision>
  <cp:lastPrinted>2019-11-18T13:08:02Z</cp:lastPrinted>
  <dcterms:created xsi:type="dcterms:W3CDTF">2006-10-17T12:53:18Z</dcterms:created>
  <dcterms:modified xsi:type="dcterms:W3CDTF">2024-09-13T09:15:27Z</dcterms:modified>
</cp:coreProperties>
</file>