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39" r:id="rId1"/>
  </p:sldMasterIdLst>
  <p:notesMasterIdLst>
    <p:notesMasterId r:id="rId18"/>
  </p:notesMasterIdLst>
  <p:handoutMasterIdLst>
    <p:handoutMasterId r:id="rId19"/>
  </p:handoutMasterIdLst>
  <p:sldIdLst>
    <p:sldId id="267" r:id="rId2"/>
    <p:sldId id="258" r:id="rId3"/>
    <p:sldId id="287" r:id="rId4"/>
    <p:sldId id="271" r:id="rId5"/>
    <p:sldId id="273" r:id="rId6"/>
    <p:sldId id="303" r:id="rId7"/>
    <p:sldId id="277" r:id="rId8"/>
    <p:sldId id="330" r:id="rId9"/>
    <p:sldId id="280" r:id="rId10"/>
    <p:sldId id="305" r:id="rId11"/>
    <p:sldId id="319" r:id="rId12"/>
    <p:sldId id="320" r:id="rId13"/>
    <p:sldId id="322" r:id="rId14"/>
    <p:sldId id="321" r:id="rId15"/>
    <p:sldId id="323" r:id="rId16"/>
    <p:sldId id="327" r:id="rId17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244"/>
    <a:srgbClr val="4C678B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748868-7C9F-EC41-A932-BB2A48534EA1}" v="2" dt="2023-03-15T16:59:50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789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2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789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C9896D9-8050-44D7-A40D-6920AE2D1A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561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7890" y="0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6125"/>
            <a:ext cx="6615112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133" y="4718214"/>
            <a:ext cx="5436235" cy="44691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7890" y="9433234"/>
            <a:ext cx="2945024" cy="496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93A95D4-52CF-4036-984D-AF42B1BE1A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7905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6F205-EC2A-0A4D-8851-E10F773383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76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FCE7229-24C8-B244-85C5-2EE6648018D7}" type="slidenum">
              <a:rPr lang="en-US" sz="1200">
                <a:latin typeface="Calibri" charset="0"/>
              </a:rPr>
              <a:pPr eaLnBrk="1" hangingPunct="1"/>
              <a:t>2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6F205-EC2A-0A4D-8851-E10F773383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31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6F205-EC2A-0A4D-8851-E10F773383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68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6F205-EC2A-0A4D-8851-E10F773383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95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6F205-EC2A-0A4D-8851-E10F773383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1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6F205-EC2A-0A4D-8851-E10F773383E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38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DE4DD-7900-4C0C-ABA1-D0F3CF495524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6125"/>
            <a:ext cx="6615112" cy="37226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818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DE4DD-7900-4C0C-ABA1-D0F3CF495524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6125"/>
            <a:ext cx="6615112" cy="37226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818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DE4DD-7900-4C0C-ABA1-D0F3CF495524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6125"/>
            <a:ext cx="6615112" cy="37226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818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DE4DD-7900-4C0C-ABA1-D0F3CF495524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6125"/>
            <a:ext cx="6615112" cy="37226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818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DE4DD-7900-4C0C-ABA1-D0F3CF495524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6125"/>
            <a:ext cx="6615112" cy="37226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8183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5DE4DD-7900-4C0C-ABA1-D0F3CF495524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8" y="746125"/>
            <a:ext cx="6615112" cy="37226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818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ed talking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597229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597229" cy="861420"/>
          </a:xfrm>
        </p:spPr>
        <p:txBody>
          <a:bodyPr anchor="t"/>
          <a:lstStyle>
            <a:lvl1pPr marL="0" indent="0" algn="l">
              <a:buNone/>
              <a:defRPr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3/4/24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3985" y="5985181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1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Uten talking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673186"/>
            <a:ext cx="9410285" cy="124364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8953085" cy="4195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3/4/24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42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3/4/24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2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heme" Target="../theme/theme1.xml"/><Relationship Id="rId9" Type="http://schemas.openxmlformats.org/officeDocument/2006/relationships/image" Target="../media/image6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85000"/>
                <a:lumOff val="15000"/>
              </a:schemeClr>
            </a:gs>
            <a:gs pos="99000">
              <a:srgbClr val="24324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668412"/>
            <a:ext cx="9404723" cy="11848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67162" y="6448069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 sz="11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3312" y="64388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218199" y="5961676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40C8-6429-7646-927E-CC7F2066F152}" type="slidenum">
              <a:rPr lang="en-GB" smtClean="0"/>
              <a:t>‹#›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F08E80-5C34-AF4F-8321-C38D28B83B4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44" y="71385"/>
            <a:ext cx="6765430" cy="53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9105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3" r:id="rId3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Oversikt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1463" y="2265825"/>
            <a:ext cx="8784933" cy="377332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Utilitarisme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definisjon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historie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Styrker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svakheter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Benatar om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lykke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det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være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71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Konsekvensialisme</a:t>
            </a:r>
            <a:endParaRPr lang="nb-NO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>
          <a:xfrm>
            <a:off x="1127448" y="2696756"/>
            <a:ext cx="8229600" cy="1464487"/>
          </a:xfrm>
        </p:spPr>
        <p:txBody>
          <a:bodyPr>
            <a:normAutofit fontScale="55000" lnSpcReduction="20000"/>
          </a:bodyPr>
          <a:lstStyle/>
          <a:p>
            <a:pPr eaLnBrk="1" hangingPunct="1"/>
            <a:endParaRPr lang="nb-NO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nb-NO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nb-NO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nb-NO" sz="4000">
                <a:latin typeface="Times New Roman" panose="02020603050405020304" pitchFamily="18" charset="0"/>
                <a:cs typeface="Times New Roman" panose="02020603050405020304" pitchFamily="18" charset="0"/>
              </a:rPr>
              <a:t>Om en handling er rett eller gal kun avhenger av konsekvensene</a:t>
            </a:r>
          </a:p>
        </p:txBody>
      </p:sp>
      <p:grpSp>
        <p:nvGrpSpPr>
          <p:cNvPr id="17411" name="Group 12"/>
          <p:cNvGrpSpPr>
            <a:grpSpLocks/>
          </p:cNvGrpSpPr>
          <p:nvPr/>
        </p:nvGrpSpPr>
        <p:grpSpPr bwMode="auto">
          <a:xfrm>
            <a:off x="407368" y="2639908"/>
            <a:ext cx="11017223" cy="1120984"/>
            <a:chOff x="1162903" y="3505994"/>
            <a:chExt cx="7016752" cy="532606"/>
          </a:xfrm>
        </p:grpSpPr>
        <p:sp>
          <p:nvSpPr>
            <p:cNvPr id="17414" name="TextBox 3"/>
            <p:cNvSpPr txBox="1">
              <a:spLocks noChangeArrowheads="1"/>
            </p:cNvSpPr>
            <p:nvPr/>
          </p:nvSpPr>
          <p:spPr bwMode="auto">
            <a:xfrm>
              <a:off x="3581638" y="3580718"/>
              <a:ext cx="1489900" cy="248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endParaRPr lang="nb-NO" sz="2800" b="1">
                <a:latin typeface="+mn-lt"/>
              </a:endParaRPr>
            </a:p>
          </p:txBody>
        </p:sp>
        <p:sp>
          <p:nvSpPr>
            <p:cNvPr id="17415" name="TextBox 4"/>
            <p:cNvSpPr txBox="1">
              <a:spLocks noChangeArrowheads="1"/>
            </p:cNvSpPr>
            <p:nvPr/>
          </p:nvSpPr>
          <p:spPr bwMode="auto">
            <a:xfrm>
              <a:off x="1162903" y="3580718"/>
              <a:ext cx="1395184" cy="2778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endParaRPr lang="nb-NO" sz="3200" b="1">
                <a:latin typeface="+mn-lt"/>
              </a:endParaRPr>
            </a:p>
          </p:txBody>
        </p:sp>
        <p:sp>
          <p:nvSpPr>
            <p:cNvPr id="17416" name="TextBox 5"/>
            <p:cNvSpPr txBox="1">
              <a:spLocks noChangeArrowheads="1"/>
            </p:cNvSpPr>
            <p:nvPr/>
          </p:nvSpPr>
          <p:spPr bwMode="auto">
            <a:xfrm>
              <a:off x="5753421" y="3593437"/>
              <a:ext cx="2426234" cy="248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endParaRPr lang="nb-NO" sz="2800" b="1">
                <a:latin typeface="+mn-lt"/>
              </a:endParaRPr>
            </a:p>
          </p:txBody>
        </p:sp>
        <p:cxnSp>
          <p:nvCxnSpPr>
            <p:cNvPr id="11" name="Straight Connector 10"/>
            <p:cNvCxnSpPr/>
            <p:nvPr/>
          </p:nvCxnSpPr>
          <p:spPr>
            <a:xfrm rot="5400000" flipH="1" flipV="1">
              <a:off x="3179250" y="3771608"/>
              <a:ext cx="532606" cy="1378"/>
            </a:xfrm>
            <a:prstGeom prst="line">
              <a:avLst/>
            </a:prstGeom>
            <a:ln>
              <a:noFill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413" name="Content Placeholder 2"/>
          <p:cNvSpPr txBox="1">
            <a:spLocks/>
          </p:cNvSpPr>
          <p:nvPr/>
        </p:nvSpPr>
        <p:spPr bwMode="auto">
          <a:xfrm>
            <a:off x="1981200" y="4267200"/>
            <a:ext cx="8229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indent="0" eaLnBrk="1" hangingPunct="1">
              <a:spcBef>
                <a:spcPct val="20000"/>
              </a:spcBef>
            </a:pPr>
            <a:endParaRPr lang="nb-NO" b="1"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82975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496" y="609601"/>
            <a:ext cx="5791200" cy="1053782"/>
          </a:xfrm>
        </p:spPr>
        <p:txBody>
          <a:bodyPr/>
          <a:lstStyle/>
          <a:p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Utilitarisme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Av </a:t>
            </a:r>
            <a:r>
              <a:rPr lang="nb-NO" sz="2800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utilitas</a:t>
            </a:r>
            <a:r>
              <a:rPr lang="nb-NO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= nytte (latin)</a:t>
            </a:r>
          </a:p>
          <a:p>
            <a:pPr marL="0" indent="0">
              <a:buNone/>
            </a:pP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Utilitarisme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konsekvensialistisk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teori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dens to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sentrale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begreper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er :</a:t>
            </a:r>
            <a:endParaRPr lang="en-US" sz="280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Lykke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Konsekvenser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b-NO" sz="2800"/>
              <a:t>Lykke = nytelse og fravær av smerte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74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456" y="1033394"/>
            <a:ext cx="6500936" cy="1071925"/>
          </a:xfrm>
        </p:spPr>
        <p:txBody>
          <a:bodyPr/>
          <a:lstStyle/>
          <a:p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Utilitarisme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1504" y="2262575"/>
            <a:ext cx="8432800" cy="498021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  <a:defRPr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Sentrale antakelser i utilitarisme:</a:t>
            </a:r>
          </a:p>
          <a:p>
            <a:pPr marL="692150" lvl="1" indent="-3429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Lykke er godt</a:t>
            </a:r>
          </a:p>
          <a:p>
            <a:pPr marL="692150" lvl="1" indent="-3429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Lykke er nytelse/velbehag og fravær av smerte/lidelse</a:t>
            </a:r>
          </a:p>
          <a:p>
            <a:pPr marL="692150" lvl="1" indent="-342900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nb-NO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250" lvl="1" indent="0">
              <a:lnSpc>
                <a:spcPct val="90000"/>
              </a:lnSpc>
              <a:buNone/>
              <a:defRPr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NB: nytelse = eng.</a:t>
            </a:r>
            <a:r>
              <a:rPr lang="nb-NO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2400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pleasure</a:t>
            </a:r>
            <a:r>
              <a:rPr lang="nb-NO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oversetter i VVG bruker glede, som er misvisende</a:t>
            </a:r>
          </a:p>
          <a:p>
            <a:pPr marL="349250" lvl="1" indent="0">
              <a:lnSpc>
                <a:spcPct val="90000"/>
              </a:lnSpc>
              <a:buNone/>
              <a:defRPr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Smerte = eng. </a:t>
            </a:r>
            <a:r>
              <a:rPr lang="nb-NO" sz="2400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pain</a:t>
            </a:r>
            <a:endParaRPr lang="nb-NO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212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673186"/>
            <a:ext cx="10770771" cy="1243646"/>
          </a:xfrm>
        </p:spPr>
        <p:txBody>
          <a:bodyPr>
            <a:normAutofit/>
          </a:bodyPr>
          <a:lstStyle/>
          <a:p>
            <a:r>
              <a:rPr lang="en-US" sz="2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Noen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trekk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ved </a:t>
            </a:r>
            <a:r>
              <a:rPr lang="en-US" sz="2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nytteprinsippet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(GHP)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69446" y="1490925"/>
            <a:ext cx="11315186" cy="4660900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Er nytelse(r) er noe som er homogent? </a:t>
            </a:r>
          </a:p>
          <a:p>
            <a:pPr marL="457200" indent="-457200">
              <a:buAutoNum type="arabicPeriod"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Er det mulig å sammenligne og telle nytelse?</a:t>
            </a:r>
          </a:p>
          <a:p>
            <a:pPr marL="457200" indent="-457200">
              <a:buAutoNum type="arabicPeriod"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Hvem sin nytelse/lykke skal man ta i betraktning?</a:t>
            </a:r>
          </a:p>
          <a:p>
            <a:pPr marL="457200" indent="-457200">
              <a:buAutoNum type="arabicPeriod"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Krever upartiskhet med hensyn til egen og andres lykke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Det er tilstandene (”</a:t>
            </a:r>
            <a:r>
              <a:rPr lang="nb-NO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affairs</a:t>
            </a: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”) som følger av handlingen som er viktige                                                       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Maksimeringsprinsipp </a:t>
            </a:r>
          </a:p>
          <a:p>
            <a:endParaRPr lang="nb-NO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Hva skal jeg gjøre? Velg den handlingen som fører til de best mulige konsekvenser (= </a:t>
            </a:r>
            <a:r>
              <a:rPr lang="nb-NO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maksimér</a:t>
            </a: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 lykke)</a:t>
            </a:r>
          </a:p>
          <a:p>
            <a:endParaRPr lang="nb-NO" sz="24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1367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267" y="673186"/>
            <a:ext cx="9410285" cy="883606"/>
          </a:xfrm>
        </p:spPr>
        <p:txBody>
          <a:bodyPr/>
          <a:lstStyle/>
          <a:p>
            <a:r>
              <a:rPr lang="en-US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Utilitarisme</a:t>
            </a:r>
            <a:endParaRPr lang="en-US" b="1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352" y="1628800"/>
            <a:ext cx="11305256" cy="4896544"/>
          </a:xfrm>
        </p:spPr>
        <p:txBody>
          <a:bodyPr>
            <a:noAutofit/>
          </a:bodyPr>
          <a:lstStyle/>
          <a:p>
            <a:pPr lvl="1">
              <a:buSzPct val="100000"/>
              <a:buFont typeface="Arial"/>
              <a:buChar char="•"/>
            </a:pP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handling er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hvis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bare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hvis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den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fremmer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beste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konsekvensene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100000"/>
              <a:buFont typeface="Arial"/>
              <a:buChar char="•"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beste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konsekvensene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er de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maksimerer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lykke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SzPct val="100000"/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konsekvenser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buSzPct val="100000"/>
              <a:buNone/>
            </a:pP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rett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 handling</a:t>
            </a:r>
          </a:p>
          <a:p>
            <a:pPr marL="457200" lvl="1" indent="0">
              <a:buSzPct val="100000"/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err="1">
                <a:latin typeface="Times New Roman" panose="02020603050405020304" pitchFamily="18" charset="0"/>
                <a:cs typeface="Times New Roman" panose="02020603050405020304" pitchFamily="18" charset="0"/>
              </a:rPr>
              <a:t>lykke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SzPct val="100000"/>
              <a:buNone/>
            </a:pP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SzPct val="100000"/>
              <a:buNone/>
            </a:pP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Utilitarisme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vs        </a:t>
            </a:r>
            <a:r>
              <a:rPr lang="en-US" sz="3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Deontologi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9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83432" y="908720"/>
            <a:ext cx="9937104" cy="1371600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Regel-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utilitarisme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>
          <a:xfrm>
            <a:off x="839416" y="1594520"/>
            <a:ext cx="8856984" cy="494905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Å vurdere konsekvensene av enhver handling blir for omstendelig. I stedet bør vi følge regler (f.eks. “du skal ikke lyve”).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Reglene har sin legitimitet i nytteprinsippet: at folk forteller sannheten fører til mest mulig lykke for flest mulig folk. </a:t>
            </a:r>
          </a:p>
          <a:p>
            <a:pPr marL="0" indent="0">
              <a:buNone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		- Men har utilitarismen da blitt en slags pliktetikk?</a:t>
            </a:r>
          </a:p>
          <a:p>
            <a:pPr marL="0" indent="0">
              <a:buNone/>
            </a:pPr>
            <a:endParaRPr lang="nb-NO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nb-NO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2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Handlingsutilitarisme</a:t>
            </a:r>
            <a:endParaRPr lang="en-US" sz="4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Styrken til utilitarisme er nettopp at den ikke driver med “regel-dyrking”. Fleksibilitet.  </a:t>
            </a:r>
          </a:p>
          <a:p>
            <a:pPr marL="0" indent="0">
              <a:buNone/>
            </a:pPr>
            <a:endParaRPr lang="nb-NO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90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080A-FEB1-D346-B78E-2DFDCC8B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>
                <a:latin typeface="Times New Roman" panose="02020603050405020304" pitchFamily="18" charset="0"/>
                <a:cs typeface="Times New Roman" panose="02020603050405020304" pitchFamily="18" charset="0"/>
              </a:rPr>
              <a:t>John Stuart Mill, </a:t>
            </a:r>
            <a:r>
              <a:rPr lang="nb-NO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Utilitarisme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3D26D0-0E9C-624E-AE70-EC0E2B5D3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90" y="1700808"/>
            <a:ext cx="10778481" cy="469953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nb-NO" sz="3100" b="1">
                <a:latin typeface="Times New Roman" panose="02020603050405020304" pitchFamily="18" charset="0"/>
                <a:cs typeface="Times New Roman" panose="02020603050405020304" pitchFamily="18" charset="0"/>
              </a:rPr>
              <a:t>Innvendinger i kap. 2: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3100">
                <a:latin typeface="Times New Roman" panose="02020603050405020304" pitchFamily="18" charset="0"/>
                <a:cs typeface="Times New Roman" panose="02020603050405020304" pitchFamily="18" charset="0"/>
              </a:rPr>
              <a:t>Å anta at livet ikke har høyere mål enn nytelse er ynkelig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3100">
                <a:latin typeface="Times New Roman" panose="02020603050405020304" pitchFamily="18" charset="0"/>
                <a:cs typeface="Times New Roman" panose="02020603050405020304" pitchFamily="18" charset="0"/>
              </a:rPr>
              <a:t>Lykke (end), målet med livet!  Uoppnåelig?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3100">
                <a:latin typeface="Times New Roman" panose="02020603050405020304" pitchFamily="18" charset="0"/>
                <a:cs typeface="Times New Roman" panose="02020603050405020304" pitchFamily="18" charset="0"/>
              </a:rPr>
              <a:t>Standarden er for høy for menneskene 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3100">
                <a:latin typeface="Times New Roman" panose="02020603050405020304" pitchFamily="18" charset="0"/>
                <a:cs typeface="Times New Roman" panose="02020603050405020304" pitchFamily="18" charset="0"/>
              </a:rPr>
              <a:t>Gjør menneskene kalde og følelsesløse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3100">
                <a:latin typeface="Times New Roman" panose="02020603050405020304" pitchFamily="18" charset="0"/>
                <a:cs typeface="Times New Roman" panose="02020603050405020304" pitchFamily="18" charset="0"/>
              </a:rPr>
              <a:t>En «gudløs lære» 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3100">
                <a:latin typeface="Times New Roman" panose="02020603050405020304" pitchFamily="18" charset="0"/>
                <a:cs typeface="Times New Roman" panose="02020603050405020304" pitchFamily="18" charset="0"/>
              </a:rPr>
              <a:t>Egentlig en «fordelaktighetslære»</a:t>
            </a:r>
          </a:p>
          <a:p>
            <a:pPr marL="457200" indent="-457200">
              <a:buFont typeface="+mj-lt"/>
              <a:buAutoNum type="arabicPeriod"/>
            </a:pPr>
            <a:r>
              <a:rPr lang="nb-NO" sz="3100">
                <a:latin typeface="Times New Roman" panose="02020603050405020304" pitchFamily="18" charset="0"/>
                <a:cs typeface="Times New Roman" panose="02020603050405020304" pitchFamily="18" charset="0"/>
              </a:rPr>
              <a:t>Å kalkulere med størst mulig lykke-prinsippet tar for lang tid</a:t>
            </a:r>
          </a:p>
          <a:p>
            <a:pPr marL="0" indent="0">
              <a:buNone/>
            </a:pPr>
            <a:r>
              <a:rPr lang="nb-NO" sz="310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  <a:p>
            <a:pPr marL="0" indent="0">
              <a:buNone/>
            </a:pPr>
            <a:r>
              <a:rPr lang="nb-NO" sz="3100">
                <a:latin typeface="Times New Roman" panose="02020603050405020304" pitchFamily="18" charset="0"/>
                <a:cs typeface="Times New Roman" panose="02020603050405020304" pitchFamily="18" charset="0"/>
              </a:rPr>
              <a:t>    “The problem </a:t>
            </a:r>
            <a:r>
              <a:rPr lang="nb-NO" sz="310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nb-NO" sz="3100">
                <a:latin typeface="Times New Roman" panose="02020603050405020304" pitchFamily="18" charset="0"/>
                <a:cs typeface="Times New Roman" panose="02020603050405020304" pitchFamily="18" charset="0"/>
              </a:rPr>
              <a:t> base </a:t>
            </a:r>
            <a:r>
              <a:rPr lang="nb-NO" sz="3100" err="1">
                <a:latin typeface="Times New Roman" panose="02020603050405020304" pitchFamily="18" charset="0"/>
                <a:cs typeface="Times New Roman" panose="02020603050405020304" pitchFamily="18" charset="0"/>
              </a:rPr>
              <a:t>pleasures</a:t>
            </a:r>
            <a:r>
              <a:rPr lang="nb-NO" sz="310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0" indent="0">
              <a:buNone/>
            </a:pPr>
            <a:r>
              <a:rPr lang="nb-NO" sz="31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Hvilke nytelser skal vi gå etter?</a:t>
            </a:r>
          </a:p>
          <a:p>
            <a:pPr marL="457200" indent="-457200">
              <a:buFont typeface="+mj-lt"/>
              <a:buAutoNum type="arabicPeriod"/>
            </a:pPr>
            <a:endParaRPr lang="nb-NO" sz="2400"/>
          </a:p>
          <a:p>
            <a:pPr marL="457200" indent="-457200">
              <a:buFont typeface="+mj-lt"/>
              <a:buAutoNum type="arabicPeriod"/>
            </a:pPr>
            <a:endParaRPr lang="nb-NO" sz="2400"/>
          </a:p>
        </p:txBody>
      </p:sp>
    </p:spTree>
    <p:extLst>
      <p:ext uri="{BB962C8B-B14F-4D97-AF65-F5344CB8AC3E}">
        <p14:creationId xmlns:p14="http://schemas.microsoft.com/office/powerpoint/2010/main" val="492989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11424" y="908720"/>
            <a:ext cx="9721080" cy="1371600"/>
          </a:xfrm>
        </p:spPr>
        <p:txBody>
          <a:bodyPr>
            <a:normAutofit/>
          </a:bodyPr>
          <a:lstStyle/>
          <a:p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Utilitarisme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radikal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teori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>
          <a:xfrm>
            <a:off x="1055440" y="2504343"/>
            <a:ext cx="8953085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Utilitarisme er en universalistisk teori i den forstand at alle (som kan oppleve velbehag og smerte) teller likt. </a:t>
            </a:r>
          </a:p>
          <a:p>
            <a:pPr>
              <a:buFont typeface="Arial" panose="020B0604020202020204" pitchFamily="34" charset="0"/>
              <a:buChar char="•"/>
            </a:pPr>
            <a:endParaRPr lang="nb-NO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I Mills variant, der det er kvalitative forskjeller mellom lykketilstander, blir dette et argument for sosial endring.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Mill argumenterer for at undertrykte grupper (arbeidere, kvinner og barn i 1800-tallets Storbritannia) bør få utdanning og fritid slik at den totale lykken blir maksimert.</a:t>
            </a:r>
            <a:r>
              <a:rPr lang="nb-NO" sz="2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0381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5" y="673186"/>
            <a:ext cx="10513168" cy="883606"/>
          </a:xfrm>
        </p:spPr>
        <p:txBody>
          <a:bodyPr/>
          <a:lstStyle/>
          <a:p>
            <a:r>
              <a:rPr lang="en-US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Styrker</a:t>
            </a:r>
            <a:endParaRPr lang="en-US" b="1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84" y="1513384"/>
            <a:ext cx="11712624" cy="489654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Enkel teori å anvende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nb-NO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Den kan forklare hvorfor enhver handling er rett eller gal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nb-NO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nb-NO" sz="4200">
                <a:latin typeface="Times New Roman" panose="02020603050405020304" pitchFamily="18" charset="0"/>
                <a:cs typeface="Times New Roman" panose="02020603050405020304" pitchFamily="18" charset="0"/>
              </a:rPr>
              <a:t>Svakheter</a:t>
            </a:r>
          </a:p>
          <a:p>
            <a:pPr lvl="1">
              <a:buSzPct val="100000"/>
              <a:buFont typeface="Arial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 mange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tilfeller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gir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den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kontraintuitive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vurderinger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100000"/>
              <a:buFont typeface="Arial"/>
              <a:buChar char="•"/>
            </a:pP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Dårlig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beskyttelse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av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enkeltmennesker</a:t>
            </a:r>
            <a:endParaRPr lang="en-US" sz="2800"/>
          </a:p>
          <a:p>
            <a:pPr lvl="1">
              <a:buSzPct val="100000"/>
              <a:buFont typeface="Arial"/>
              <a:buChar char="•"/>
            </a:pP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Vanskelig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beregne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sannsynlighet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SzPct val="100000"/>
              <a:buFont typeface="Arial"/>
              <a:buChar char="•"/>
            </a:pPr>
            <a:endParaRPr lang="en-US" sz="2800"/>
          </a:p>
          <a:p>
            <a:pPr marL="0" indent="0">
              <a:lnSpc>
                <a:spcPct val="90000"/>
              </a:lnSpc>
              <a:buNone/>
              <a:defRPr/>
            </a:pPr>
            <a:endParaRPr lang="nb-NO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nb-NO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nb-NO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Pct val="100000"/>
              <a:buFont typeface="Arial" panose="020B0604020202020204" pitchFamily="34" charset="0"/>
              <a:buChar char="•"/>
            </a:pPr>
            <a:endParaRPr lang="en-US" sz="2800"/>
          </a:p>
          <a:p>
            <a:pPr lvl="1">
              <a:buSzPct val="100000"/>
              <a:buFont typeface="Arial" panose="020B0604020202020204" pitchFamily="34" charset="0"/>
              <a:buChar char="•"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53667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47528" y="413792"/>
            <a:ext cx="8640960" cy="1143000"/>
          </a:xfrm>
        </p:spPr>
        <p:txBody>
          <a:bodyPr/>
          <a:lstStyle/>
          <a:p>
            <a:r>
              <a:rPr lang="en-US" sz="4000" b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David </a:t>
            </a:r>
            <a:r>
              <a:rPr lang="en-US" sz="4000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Benatar</a:t>
            </a:r>
            <a:endParaRPr lang="en-US" sz="4000" b="1" noProof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FC84D-1E7E-43DD-99FA-3967CF0040EB}"/>
              </a:ext>
            </a:extLst>
          </p:cNvPr>
          <p:cNvSpPr txBox="1"/>
          <p:nvPr/>
        </p:nvSpPr>
        <p:spPr>
          <a:xfrm>
            <a:off x="551384" y="1700808"/>
            <a:ext cx="1101722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Alle menneskeliv inneholder mye mer smerte og skade enn vi typisk innrømmer. Folk innser ikke hvor dårlige livene deres faktisk er.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nb-NO" altLang="nb-NO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nb-NO" altLang="nb-NO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Ikke alle liv er like dårlige, hvilket betyr at den skaden det innebærer å bli til er langt verre for noen mennesker enn andre.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b-NO" altLang="nb-NO" sz="2800"/>
          </a:p>
        </p:txBody>
      </p:sp>
    </p:spTree>
    <p:extLst>
      <p:ext uri="{BB962C8B-B14F-4D97-AF65-F5344CB8AC3E}">
        <p14:creationId xmlns:p14="http://schemas.microsoft.com/office/powerpoint/2010/main" val="2352041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51384" y="413792"/>
            <a:ext cx="9937104" cy="1143000"/>
          </a:xfrm>
        </p:spPr>
        <p:txBody>
          <a:bodyPr/>
          <a:lstStyle/>
          <a:p>
            <a:r>
              <a:rPr lang="en-US" sz="4000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Hvordan</a:t>
            </a:r>
            <a:r>
              <a:rPr lang="en-US" sz="4000" b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vurdere</a:t>
            </a:r>
            <a:r>
              <a:rPr lang="en-US" sz="4000" b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liv?</a:t>
            </a:r>
            <a:endParaRPr lang="en-US" sz="4000" b="1" noProof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FC84D-1E7E-43DD-99FA-3967CF0040EB}"/>
              </a:ext>
            </a:extLst>
          </p:cNvPr>
          <p:cNvSpPr txBox="1"/>
          <p:nvPr/>
        </p:nvSpPr>
        <p:spPr>
          <a:xfrm>
            <a:off x="551384" y="1977801"/>
            <a:ext cx="110172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Hvordan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vurdere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hvor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godt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eller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dårlig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et liv er?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Ikke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så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enkelt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trekke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det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dårlige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det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gode</a:t>
            </a:r>
            <a:endParaRPr lang="en-US" altLang="nb-NO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nb-NO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Andre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faktorer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viktige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å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vurdere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livskvalitet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Rekkefølgen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på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godt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vondt</a:t>
            </a:r>
            <a:endParaRPr lang="en-US" altLang="nb-NO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Intensiteten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det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gode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det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vonde</a:t>
            </a:r>
            <a:endParaRPr lang="en-US" altLang="nb-NO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Livets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lengde</a:t>
            </a:r>
            <a:endParaRPr lang="en-US" altLang="nb-NO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viss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terskel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av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dårlige</a:t>
            </a:r>
            <a:r>
              <a:rPr lang="en-US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opplevelser</a:t>
            </a:r>
            <a:endParaRPr lang="en-US" altLang="nb-NO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24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0FC84D-1E7E-43DD-99FA-3967CF0040EB}"/>
              </a:ext>
            </a:extLst>
          </p:cNvPr>
          <p:cNvSpPr txBox="1"/>
          <p:nvPr/>
        </p:nvSpPr>
        <p:spPr>
          <a:xfrm>
            <a:off x="263352" y="2032386"/>
            <a:ext cx="1166529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Benatar</a:t>
            </a:r>
            <a:r>
              <a:rPr lang="nb-NO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bruker psykologisk forskning til å argumentere for sin tese:</a:t>
            </a:r>
          </a:p>
          <a:p>
            <a:pPr marL="457200" indent="-457200">
              <a:buFont typeface="Arial"/>
              <a:buChar char="•"/>
            </a:pPr>
            <a:endParaRPr lang="nb-NO" altLang="nb-NO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nb-NO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Pollyanna-prinsippet, en optimistisk tendens</a:t>
            </a:r>
          </a:p>
          <a:p>
            <a:pPr marL="1428750" lvl="2" indent="-514350">
              <a:buFont typeface="Arial"/>
              <a:buChar char="•"/>
            </a:pPr>
            <a:r>
              <a:rPr lang="nb-NO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Selektive minner og optimistiske projeksjoner</a:t>
            </a:r>
          </a:p>
          <a:p>
            <a:pPr marL="971550" lvl="1" indent="-514350">
              <a:buFont typeface="+mj-lt"/>
              <a:buAutoNum type="arabicPeriod"/>
            </a:pPr>
            <a:r>
              <a:rPr lang="nb-NO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Tilpassing</a:t>
            </a:r>
          </a:p>
          <a:p>
            <a:pPr marL="1428750" lvl="2" indent="-514350">
              <a:buFont typeface="Arial"/>
              <a:buChar char="•"/>
            </a:pPr>
            <a:r>
              <a:rPr lang="nb-NO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Mennesker er gode til å tilpasse seg nye omstendigheter</a:t>
            </a:r>
          </a:p>
          <a:p>
            <a:pPr marL="971550" lvl="1" indent="-514350">
              <a:buFont typeface="+mj-lt"/>
              <a:buAutoNum type="arabicPeriod"/>
            </a:pPr>
            <a:r>
              <a:rPr lang="nb-NO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Implisitt sammenligning med andre</a:t>
            </a:r>
          </a:p>
          <a:p>
            <a:pPr marL="1428750" lvl="2" indent="-514350">
              <a:buFont typeface="Arial"/>
              <a:buChar char="•"/>
            </a:pPr>
            <a:r>
              <a:rPr lang="nb-NO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Egenvurdering reflekterer disse </a:t>
            </a:r>
          </a:p>
          <a:p>
            <a:pPr marL="1428750" lvl="2" indent="-514350">
              <a:buFont typeface="Arial"/>
              <a:buChar char="•"/>
            </a:pPr>
            <a:endParaRPr lang="nb-NO" altLang="nb-NO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nb-NO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«Pollyanna-isme» er viktigst og den egenskapen som alltid trekker i en optimistisk retning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623392" y="845840"/>
            <a:ext cx="1008112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Egenvurderinger</a:t>
            </a:r>
            <a:r>
              <a:rPr lang="en-US" sz="4000" b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 </a:t>
            </a:r>
            <a:r>
              <a:rPr lang="en-US" sz="4000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livskvalitet</a:t>
            </a:r>
            <a:r>
              <a:rPr lang="en-US" sz="4000" b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en-US" sz="4000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upålitelige</a:t>
            </a:r>
            <a:endParaRPr lang="en-US" sz="4000" b="1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097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23392" y="917848"/>
            <a:ext cx="10513168" cy="1143000"/>
          </a:xfrm>
        </p:spPr>
        <p:txBody>
          <a:bodyPr/>
          <a:lstStyle/>
          <a:p>
            <a:r>
              <a:rPr lang="en-US" sz="4000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Egenvurderinger</a:t>
            </a:r>
            <a:r>
              <a:rPr lang="en-US" sz="4000" b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av </a:t>
            </a:r>
            <a:r>
              <a:rPr lang="en-US" sz="4000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livskvalitet</a:t>
            </a:r>
            <a:r>
              <a:rPr lang="en-US" sz="4000" b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er </a:t>
            </a:r>
            <a:r>
              <a:rPr lang="en-US" sz="4000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upålitelige</a:t>
            </a:r>
            <a:endParaRPr lang="en-US" sz="4000" b="1" noProof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FC84D-1E7E-43DD-99FA-3967CF0040EB}"/>
              </a:ext>
            </a:extLst>
          </p:cNvPr>
          <p:cNvSpPr txBox="1"/>
          <p:nvPr/>
        </p:nvSpPr>
        <p:spPr>
          <a:xfrm>
            <a:off x="551384" y="1977801"/>
            <a:ext cx="110172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nb-NO" altLang="nb-NO" sz="2800"/>
          </a:p>
          <a:p>
            <a:r>
              <a:rPr lang="nb-NO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 fleste liv er så dårlige at det ville vært bedre for oss ikke å bli til.</a:t>
            </a:r>
          </a:p>
          <a:p>
            <a:endParaRPr lang="nb-NO" altLang="nb-NO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nb-NO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Men de fleste er uenig i at livene deres er dårligere og at det ville vært bedre ikke å være født.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nb-NO" altLang="nb-NO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nb-NO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Hvordan kan folk ta feil om sine egne liv? Er ikke førstepersonsperspektivet bedre egnet til å vurdere livskvalitet? </a:t>
            </a:r>
          </a:p>
        </p:txBody>
      </p:sp>
    </p:spTree>
    <p:extLst>
      <p:ext uri="{BB962C8B-B14F-4D97-AF65-F5344CB8AC3E}">
        <p14:creationId xmlns:p14="http://schemas.microsoft.com/office/powerpoint/2010/main" val="3055180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07368" y="413792"/>
            <a:ext cx="10081120" cy="1143000"/>
          </a:xfrm>
        </p:spPr>
        <p:txBody>
          <a:bodyPr/>
          <a:lstStyle/>
          <a:p>
            <a:r>
              <a:rPr lang="en-US" sz="4000" b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 </a:t>
            </a:r>
            <a:r>
              <a:rPr lang="en-US" sz="4000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teorier</a:t>
            </a:r>
            <a:r>
              <a:rPr lang="en-US" sz="4000" b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om </a:t>
            </a:r>
            <a:r>
              <a:rPr lang="en-US" sz="4000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verdi</a:t>
            </a:r>
            <a:endParaRPr lang="en-US" sz="4000" b="1" noProof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FC84D-1E7E-43DD-99FA-3967CF0040EB}"/>
              </a:ext>
            </a:extLst>
          </p:cNvPr>
          <p:cNvSpPr txBox="1"/>
          <p:nvPr/>
        </p:nvSpPr>
        <p:spPr>
          <a:xfrm>
            <a:off x="551384" y="1700808"/>
            <a:ext cx="11017224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Hedonistiske</a:t>
            </a:r>
            <a:r>
              <a:rPr lang="nb-NO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teorier </a:t>
            </a:r>
            <a:r>
              <a:rPr 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vurderer liv på bakgrunn av nytelse og smerte.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b-NO" sz="28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Begjærstilfredsstillelsesteorier </a:t>
            </a:r>
            <a:r>
              <a:rPr 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vurderer liv på bakgrunn av hvorvidt begjær </a:t>
            </a:r>
            <a:r>
              <a:rPr 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tilfredstilles</a:t>
            </a:r>
            <a:r>
              <a:rPr 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eller skuffes.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b-NO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b-NO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Objektiv liste-</a:t>
            </a:r>
            <a:r>
              <a:rPr lang="nb-NO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teorier</a:t>
            </a:r>
            <a:r>
              <a:rPr 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vurderer liv på bakgrunn av hvorvidt de inneholder ulike objektive goder og skader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b-NO" altLang="nb-NO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nb-NO" altLang="nb-NO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Benatar</a:t>
            </a:r>
            <a:r>
              <a:rPr lang="nb-NO" alt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argumenterer for at uansett hvilken teori vi benytter, blir vurderingen at menneskeliv er mer dårlige enn gode.</a:t>
            </a:r>
          </a:p>
        </p:txBody>
      </p:sp>
    </p:spTree>
    <p:extLst>
      <p:ext uri="{BB962C8B-B14F-4D97-AF65-F5344CB8AC3E}">
        <p14:creationId xmlns:p14="http://schemas.microsoft.com/office/powerpoint/2010/main" val="4131839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47528" y="413792"/>
            <a:ext cx="8640960" cy="1143000"/>
          </a:xfrm>
        </p:spPr>
        <p:txBody>
          <a:bodyPr/>
          <a:lstStyle/>
          <a:p>
            <a:r>
              <a:rPr lang="en-US" sz="4000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Objektivt</a:t>
            </a:r>
            <a:r>
              <a:rPr lang="en-US" sz="4000" b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versus </a:t>
            </a:r>
            <a:r>
              <a:rPr lang="en-US" sz="4000" b="1" err="1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subjektivt</a:t>
            </a:r>
            <a:endParaRPr lang="en-US" sz="4000" b="1" noProof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FC84D-1E7E-43DD-99FA-3967CF0040EB}"/>
              </a:ext>
            </a:extLst>
          </p:cNvPr>
          <p:cNvSpPr txBox="1"/>
          <p:nvPr/>
        </p:nvSpPr>
        <p:spPr>
          <a:xfrm>
            <a:off x="551384" y="1700808"/>
            <a:ext cx="11377264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nb-NO" sz="2800" dirty="0"/>
          </a:p>
          <a:p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Muliggjør alle tre verditeoriene et skille mellom </a:t>
            </a:r>
          </a:p>
          <a:p>
            <a:pPr marL="971550" lvl="1" indent="-514350">
              <a:buFont typeface="+mj-lt"/>
              <a:buAutoNum type="arabicPeriod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Hvor godt en persons liv faktisk er?</a:t>
            </a:r>
          </a:p>
          <a:p>
            <a:pPr marL="971550" lvl="1" indent="-514350">
              <a:buFont typeface="+mj-lt"/>
              <a:buAutoNum type="arabicPeriod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Hvor godt det antas </a:t>
            </a:r>
            <a:r>
              <a:rPr lang="nb-NO" sz="2800">
                <a:latin typeface="Times New Roman" panose="02020603050405020304" pitchFamily="18" charset="0"/>
                <a:cs typeface="Times New Roman" panose="02020603050405020304" pitchFamily="18" charset="0"/>
              </a:rPr>
              <a:t>å være?</a:t>
            </a: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 det objektive perspektivet er menneskelivet virkelig dårlig</a:t>
            </a:r>
          </a:p>
          <a:p>
            <a:pPr marL="514350" indent="-514350">
              <a:buFont typeface="Arial"/>
              <a:buChar char="•"/>
            </a:pPr>
            <a:endParaRPr lang="nb-NO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Arial"/>
              <a:buChar char="•"/>
            </a:pPr>
            <a:r>
              <a:rPr lang="nb-NO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Tenk på all lidelse i verden som skyldes naturkatastrofer, sult, sykdom, krig, mord, overgrep, osv.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b-NO" altLang="nb-NO" sz="1000" dirty="0"/>
          </a:p>
        </p:txBody>
      </p:sp>
    </p:spTree>
    <p:extLst>
      <p:ext uri="{BB962C8B-B14F-4D97-AF65-F5344CB8AC3E}">
        <p14:creationId xmlns:p14="http://schemas.microsoft.com/office/powerpoint/2010/main" val="7789698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63b6811-b0a4-4b2a-b932-72c4c970c5d2}" enabled="0" method="" siteId="{463b6811-b0a4-4b2a-b932-72c4c970c5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60</TotalTime>
  <Words>840</Words>
  <Application>Microsoft Macintosh PowerPoint</Application>
  <PresentationFormat>Widescreen</PresentationFormat>
  <Paragraphs>140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Gothic</vt:lpstr>
      <vt:lpstr>Times New Roman</vt:lpstr>
      <vt:lpstr>Wingdings 3</vt:lpstr>
      <vt:lpstr>Ion</vt:lpstr>
      <vt:lpstr>Oversikt</vt:lpstr>
      <vt:lpstr>Konsekvensialisme</vt:lpstr>
      <vt:lpstr>Utilitarisme</vt:lpstr>
      <vt:lpstr>Utilitarisme</vt:lpstr>
      <vt:lpstr>Noen trekk ved nytteprinsippet (GHP)</vt:lpstr>
      <vt:lpstr>Utilitarisme</vt:lpstr>
      <vt:lpstr>Regel-utilitarisme</vt:lpstr>
      <vt:lpstr>John Stuart Mill, Utilitarisme</vt:lpstr>
      <vt:lpstr>Utilitarisme som en radikal teori</vt:lpstr>
      <vt:lpstr>Styrker</vt:lpstr>
      <vt:lpstr>David Benatar</vt:lpstr>
      <vt:lpstr>Hvordan vurdere liv?</vt:lpstr>
      <vt:lpstr>PowerPoint Presentation</vt:lpstr>
      <vt:lpstr>Egenvurderinger av livskvalitet er upålitelige</vt:lpstr>
      <vt:lpstr>Tre teorier om verdi</vt:lpstr>
      <vt:lpstr>Objektivt versus subjektivt</vt:lpstr>
    </vt:vector>
  </TitlesOfParts>
  <Company>N&amp;N NHS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Dr R Temple</dc:creator>
  <cp:lastModifiedBy>Panagiotis Dimas</cp:lastModifiedBy>
  <cp:revision>2</cp:revision>
  <cp:lastPrinted>2022-10-20T10:27:37Z</cp:lastPrinted>
  <dcterms:created xsi:type="dcterms:W3CDTF">2006-10-17T12:53:18Z</dcterms:created>
  <dcterms:modified xsi:type="dcterms:W3CDTF">2024-03-04T08:08:23Z</dcterms:modified>
</cp:coreProperties>
</file>